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10"/>
  </p:notesMasterIdLst>
  <p:sldIdLst>
    <p:sldId id="256" r:id="rId2"/>
    <p:sldId id="263" r:id="rId3"/>
    <p:sldId id="278" r:id="rId4"/>
    <p:sldId id="279" r:id="rId5"/>
    <p:sldId id="284" r:id="rId6"/>
    <p:sldId id="280" r:id="rId7"/>
    <p:sldId id="283" r:id="rId8"/>
    <p:sldId id="285" r:id="rId9"/>
  </p:sldIdLst>
  <p:sldSz cx="9906000" cy="6858000" type="A4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HY견고딕" panose="02030600000101010101" pitchFamily="18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F5F6F8"/>
    <a:srgbClr val="DFE2E7"/>
    <a:srgbClr val="DDE0E5"/>
    <a:srgbClr val="F4F5F9"/>
    <a:srgbClr val="E1E6F0"/>
    <a:srgbClr val="779FE0"/>
    <a:srgbClr val="EDF1FA"/>
    <a:srgbClr val="F4F6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2.svg"/><Relationship Id="rId7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hyperlink" Target="department-workflow-demo-ai-match.mp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330495" y="6092035"/>
            <a:ext cx="9409457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+mn-ea"/>
              </a:rPr>
              <a:t>        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273691-F70E-4DA3-8FC4-27B912BBBBB3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FF74794-DBB2-42EC-9656-063B13795A7D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화살표: 오른쪽 53">
              <a:extLst>
                <a:ext uri="{FF2B5EF4-FFF2-40B4-BE49-F238E27FC236}">
                  <a16:creationId xmlns:a16="http://schemas.microsoft.com/office/drawing/2014/main" id="{8CA3DC86-BB4D-45F2-B178-FE7EBBAA57FA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325500" y="6101535"/>
            <a:ext cx="9354428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시도를 통한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21341" y="4986728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25200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30194" y="4986728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25200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24568" y="4986728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25200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41747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41747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41747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90005" y="1495099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221262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효과를 정량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40">
                <a:latin typeface="+mn-ea"/>
              </a:rPr>
              <a:t>3</a:t>
            </a:r>
            <a:r>
              <a:rPr lang="ko-KR" altLang="en-US" sz="1300" spc="-40">
                <a:latin typeface="+mn-ea"/>
              </a:rPr>
              <a:t>라운드에 걸쳐 정답률 단계적 개선 </a:t>
            </a:r>
            <a:r>
              <a:rPr lang="en-US" altLang="ko-KR" sz="1300" spc="-40">
                <a:latin typeface="+mn-ea"/>
              </a:rPr>
              <a:t>(37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58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68%)</a:t>
            </a:r>
            <a:endParaRPr lang="ko-KR" altLang="en-US" sz="13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33441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32082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38602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0" y="5717419"/>
            <a:ext cx="7875945" cy="309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r>
              <a:rPr lang="ko-KR" altLang="en-US" sz="1400" b="1" i="0">
                <a:solidFill>
                  <a:srgbClr val="0000FF"/>
                </a:solidFill>
                <a:effectLst/>
                <a:latin typeface="+mn-ea"/>
              </a:rPr>
              <a:t>→ 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GPT-5.6 Luna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최종 채택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 </a:t>
            </a:r>
            <a:endParaRPr lang="ko-KR" altLang="en-US" sz="14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21341" y="6095089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33561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30194" y="6095089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33561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24568" y="6095089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33561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50108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50108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50108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0" y="4616693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</p:spTree>
    <p:extLst>
      <p:ext uri="{BB962C8B-B14F-4D97-AF65-F5344CB8AC3E}">
        <p14:creationId xmlns:p14="http://schemas.microsoft.com/office/powerpoint/2010/main" val="351439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CC28CB5-907B-4120-880F-3660FB678EFB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943D869-5358-4D27-9A94-87B5A2C78238}"/>
              </a:ext>
            </a:extLst>
          </p:cNvPr>
          <p:cNvSpPr/>
          <p:nvPr/>
        </p:nvSpPr>
        <p:spPr>
          <a:xfrm>
            <a:off x="4038944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DA343C2-02F9-42BB-8EA6-D67F002A5940}"/>
              </a:ext>
            </a:extLst>
          </p:cNvPr>
          <p:cNvSpPr/>
          <p:nvPr/>
        </p:nvSpPr>
        <p:spPr>
          <a:xfrm>
            <a:off x="4038944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8F001927-5608-4DBC-8389-B6A9094EEA16}"/>
              </a:ext>
            </a:extLst>
          </p:cNvPr>
          <p:cNvSpPr/>
          <p:nvPr/>
        </p:nvSpPr>
        <p:spPr>
          <a:xfrm>
            <a:off x="4038945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83A2BC-4328-4272-82C3-B4A5C9F9970E}"/>
              </a:ext>
            </a:extLst>
          </p:cNvPr>
          <p:cNvSpPr txBox="1"/>
          <p:nvPr/>
        </p:nvSpPr>
        <p:spPr>
          <a:xfrm>
            <a:off x="5706192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1DC0D7F-5A31-4E6A-AB58-9E20E3E91662}"/>
              </a:ext>
            </a:extLst>
          </p:cNvPr>
          <p:cNvSpPr txBox="1"/>
          <p:nvPr/>
        </p:nvSpPr>
        <p:spPr>
          <a:xfrm>
            <a:off x="5706192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584D38E-4743-4F37-B30F-64172E01FE93}"/>
              </a:ext>
            </a:extLst>
          </p:cNvPr>
          <p:cNvSpPr txBox="1"/>
          <p:nvPr/>
        </p:nvSpPr>
        <p:spPr>
          <a:xfrm>
            <a:off x="5706192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71" name="그래픽 70" descr="갈매기형 화살표 단색으로 채워진">
            <a:extLst>
              <a:ext uri="{FF2B5EF4-FFF2-40B4-BE49-F238E27FC236}">
                <a16:creationId xmlns:a16="http://schemas.microsoft.com/office/drawing/2014/main" id="{08CAECC0-493E-4723-8AD6-FFB1001D0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86232" y="1587729"/>
            <a:ext cx="362623" cy="624548"/>
          </a:xfrm>
          <a:prstGeom prst="rect">
            <a:avLst/>
          </a:prstGeom>
        </p:spPr>
      </p:pic>
      <p:pic>
        <p:nvPicPr>
          <p:cNvPr id="72" name="그래픽 71" descr="갈매기형 화살표 단색으로 채워진">
            <a:extLst>
              <a:ext uri="{FF2B5EF4-FFF2-40B4-BE49-F238E27FC236}">
                <a16:creationId xmlns:a16="http://schemas.microsoft.com/office/drawing/2014/main" id="{2AF6BB0C-15B8-48FF-8293-F55D72FC9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86232" y="2415046"/>
            <a:ext cx="362623" cy="624548"/>
          </a:xfrm>
          <a:prstGeom prst="rect">
            <a:avLst/>
          </a:prstGeom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A7655E6-B33F-4A2A-B957-02E84C779102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577E5FDF-B88F-4216-B188-37AAB9895F7D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3F3A396-CC23-4AFA-A0A5-CD35B7CBF035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D8BA2C-A35C-4F65-891C-4C1B1E5B03CB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7207ED-69D2-4A0A-BC7F-F6C3D9F6EB17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F2E896-EBCC-4DB2-B936-A0FF5DEB967B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CE1525-77A6-4E8A-8DB1-EC5DDEEDC650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6434F15-AC3A-468F-99C9-0415F081BC12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7D9776C-E8E7-48FD-B43B-3C0951C4E976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92" name="모서리가 둥근 직사각형 320">
              <a:extLst>
                <a:ext uri="{FF2B5EF4-FFF2-40B4-BE49-F238E27FC236}">
                  <a16:creationId xmlns:a16="http://schemas.microsoft.com/office/drawing/2014/main" id="{954BF770-ACB8-46E0-AA25-5E82CF5CE0EA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3" name="그림 92" descr="7.png">
              <a:extLst>
                <a:ext uri="{FF2B5EF4-FFF2-40B4-BE49-F238E27FC236}">
                  <a16:creationId xmlns:a16="http://schemas.microsoft.com/office/drawing/2014/main" id="{74C40B4D-1920-4199-963C-159DB063B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90C8372-2F8A-4431-B4A1-B704349C54E3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D42D3539-15C5-4E3F-87B4-B630600E8E02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96" name="모서리가 둥근 직사각형 320">
              <a:extLst>
                <a:ext uri="{FF2B5EF4-FFF2-40B4-BE49-F238E27FC236}">
                  <a16:creationId xmlns:a16="http://schemas.microsoft.com/office/drawing/2014/main" id="{F3D166EC-C8CA-4438-A464-9910551AFD4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7" name="그림 96" descr="7.png">
              <a:extLst>
                <a:ext uri="{FF2B5EF4-FFF2-40B4-BE49-F238E27FC236}">
                  <a16:creationId xmlns:a16="http://schemas.microsoft.com/office/drawing/2014/main" id="{71033BDD-9DCA-4127-84BE-3F7A34580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7D2C8062-78B3-4096-9B25-047931054714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372FC36-B2F1-43D8-841B-81CC15D534F5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410E9026-F6FF-4700-8407-CAC9DFA00865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44DB6583-F864-42D2-9238-F352D74CAE21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1544691C-D0C7-4472-AC42-BD5A0936C964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4A2944-3104-4311-B74C-BDD4B8754BC6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A2629B0-3B37-401E-AF2D-0B8143B5CE53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BB87AE7-C48A-4892-9F6B-0468470AD798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B7A764B-FA80-43D4-AEB5-986699BC661F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63252D1-394D-47E6-B655-CF81BD69F60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E93A99E-24B0-4F29-A68B-17E59027D199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99FA020-9707-4970-BCA1-E0CCB382D4A2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D538F00-B4E3-47CF-AE5C-35B15C14DFE5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9A59CDD-A314-43D7-826C-F80CB3097BC2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112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59B55848-6326-4A74-864A-7DDC4F1FD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113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6FE27514-E797-471C-A874-12F7A22F8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114" name="그래픽 113" descr="전자 메일 단색으로 채워진">
            <a:extLst>
              <a:ext uri="{FF2B5EF4-FFF2-40B4-BE49-F238E27FC236}">
                <a16:creationId xmlns:a16="http://schemas.microsoft.com/office/drawing/2014/main" id="{5C4CFB68-319B-4074-A7AE-CCFBFC1CC7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  <p:pic>
        <p:nvPicPr>
          <p:cNvPr id="115" name="그림 114">
            <a:hlinkClick r:id="rId9" action="ppaction://hlinkfile"/>
            <a:extLst>
              <a:ext uri="{FF2B5EF4-FFF2-40B4-BE49-F238E27FC236}">
                <a16:creationId xmlns:a16="http://schemas.microsoft.com/office/drawing/2014/main" id="{B272E263-4696-4EAE-9F1A-1A0873FEEE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61" y="1158001"/>
            <a:ext cx="3401618" cy="254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Python </a:t>
            </a:r>
            <a:r>
              <a:rPr lang="ko-KR" altLang="en-US" sz="1400" spc="-40">
                <a:latin typeface="+mn-ea"/>
              </a:rPr>
              <a:t>기초</a:t>
            </a:r>
            <a:r>
              <a:rPr lang="en-US" altLang="ko-KR" sz="1400" spc="-40">
                <a:latin typeface="+mn-ea"/>
              </a:rPr>
              <a:t>, VS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Code,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GitHub, LangChain, RAG </a:t>
            </a:r>
            <a:r>
              <a:rPr lang="ko-KR" altLang="en-US" sz="1400" spc="-40">
                <a:latin typeface="+mn-ea"/>
              </a:rPr>
              <a:t>등</a:t>
            </a:r>
            <a:endParaRPr lang="en-US" altLang="ko-KR" sz="1400" spc="-4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 spc="-40">
                <a:latin typeface="+mn-ea"/>
              </a:rPr>
              <a:t>  </a:t>
            </a:r>
            <a:r>
              <a:rPr lang="ko-KR" altLang="en-US" sz="1400" spc="-40">
                <a:latin typeface="+mn-ea"/>
              </a:rPr>
              <a:t>새로운 개념 학습</a:t>
            </a: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→ 실제 웹 서비스 구현에 활용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 골든셋 평가로 주관부서 매칭 정확도 </a:t>
            </a:r>
            <a:r>
              <a:rPr lang="en-US" altLang="ko-KR" sz="1400" spc="-40">
                <a:latin typeface="+mn-ea"/>
              </a:rPr>
              <a:t>79</a:t>
            </a:r>
            <a:r>
              <a:rPr lang="ko-KR" altLang="en-US" sz="1400" spc="-40">
                <a:latin typeface="+mn-ea"/>
              </a:rPr>
              <a:t>→</a:t>
            </a:r>
            <a:r>
              <a:rPr lang="en-US" altLang="ko-KR" sz="1400" spc="-40">
                <a:latin typeface="+mn-ea"/>
              </a:rPr>
              <a:t>95% </a:t>
            </a:r>
            <a:r>
              <a:rPr lang="ko-KR" altLang="en-US" sz="1400" spc="-40">
                <a:latin typeface="+mn-ea"/>
              </a:rPr>
              <a:t>개선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LangSmith</a:t>
            </a:r>
            <a:r>
              <a:rPr lang="ko-KR" altLang="en-US" sz="1400" spc="-40">
                <a:latin typeface="+mn-ea"/>
              </a:rPr>
              <a:t> 트레이싱</a:t>
            </a:r>
            <a:r>
              <a:rPr lang="en-US" altLang="ko-KR" sz="1400" spc="-40">
                <a:latin typeface="+mn-ea"/>
              </a:rPr>
              <a:t>·</a:t>
            </a:r>
            <a:r>
              <a:rPr lang="ko-KR" altLang="en-US" sz="1400" spc="-40">
                <a:latin typeface="+mn-ea"/>
              </a:rPr>
              <a:t>자동 채점 시스템 구축 </a:t>
            </a:r>
            <a:endParaRPr lang="en-US" altLang="ko-KR" sz="1400" spc="-4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5" y="1878502"/>
            <a:ext cx="521969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임베딩 유사도만으로 애매한 경계 사례 보완 </a:t>
            </a:r>
            <a:r>
              <a:rPr lang="en-US" altLang="ko-KR" sz="1400" spc="-40">
                <a:latin typeface="+mn-ea"/>
              </a:rPr>
              <a:t>(Reranking)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향상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12613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서비스를 움직이는 기술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01491" y="1897117"/>
            <a:ext cx="2957789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53D6825E-24DE-4FAD-A016-71C0614FAA26}"/>
              </a:ext>
            </a:extLst>
          </p:cNvPr>
          <p:cNvSpPr>
            <a:spLocks noGrp="1"/>
          </p:cNvSpPr>
          <p:nvPr/>
        </p:nvSpPr>
        <p:spPr>
          <a:xfrm>
            <a:off x="3455302" y="1897117"/>
            <a:ext cx="2957789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5FE3290-77E4-48A5-B8D7-B73927E4DE92}"/>
              </a:ext>
            </a:extLst>
          </p:cNvPr>
          <p:cNvSpPr>
            <a:spLocks noGrp="1"/>
          </p:cNvSpPr>
          <p:nvPr/>
        </p:nvSpPr>
        <p:spPr>
          <a:xfrm>
            <a:off x="6590310" y="1897117"/>
            <a:ext cx="2957789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A620DBB-EFCB-4F92-AA76-89B7BAF59B6C}"/>
              </a:ext>
            </a:extLst>
          </p:cNvPr>
          <p:cNvSpPr>
            <a:spLocks noGrp="1"/>
          </p:cNvSpPr>
          <p:nvPr/>
        </p:nvSpPr>
        <p:spPr>
          <a:xfrm>
            <a:off x="301491" y="4293958"/>
            <a:ext cx="2957789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5BE00B6-0C96-443B-810B-AAD414CBBD65}"/>
              </a:ext>
            </a:extLst>
          </p:cNvPr>
          <p:cNvSpPr>
            <a:spLocks noGrp="1"/>
          </p:cNvSpPr>
          <p:nvPr/>
        </p:nvSpPr>
        <p:spPr>
          <a:xfrm>
            <a:off x="3455302" y="4293958"/>
            <a:ext cx="2957789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995B696-ACFD-4781-8AFD-946FE4DD649D}"/>
              </a:ext>
            </a:extLst>
          </p:cNvPr>
          <p:cNvSpPr>
            <a:spLocks noGrp="1"/>
          </p:cNvSpPr>
          <p:nvPr/>
        </p:nvSpPr>
        <p:spPr>
          <a:xfrm>
            <a:off x="6590310" y="4293958"/>
            <a:ext cx="2957789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7BCA31-1083-4868-AB2E-E33DC45B396A}"/>
              </a:ext>
            </a:extLst>
          </p:cNvPr>
          <p:cNvGrpSpPr/>
          <p:nvPr/>
        </p:nvGrpSpPr>
        <p:grpSpPr>
          <a:xfrm>
            <a:off x="301491" y="899849"/>
            <a:ext cx="2097024" cy="859536"/>
            <a:chOff x="436418" y="1076496"/>
            <a:chExt cx="2097024" cy="859536"/>
          </a:xfrm>
        </p:grpSpPr>
        <p:sp>
          <p:nvSpPr>
            <p:cNvPr id="59" name="Rounded Rectangle 43">
              <a:extLst>
                <a:ext uri="{FF2B5EF4-FFF2-40B4-BE49-F238E27FC236}">
                  <a16:creationId xmlns:a16="http://schemas.microsoft.com/office/drawing/2014/main" id="{996F7484-581E-4BBF-817C-50E10F835049}"/>
                </a:ext>
              </a:extLst>
            </p:cNvPr>
            <p:cNvSpPr/>
            <p:nvPr/>
          </p:nvSpPr>
          <p:spPr>
            <a:xfrm>
              <a:off x="436418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2EF195-B856-451C-876C-B2B2396A227F}"/>
                </a:ext>
              </a:extLst>
            </p:cNvPr>
            <p:cNvSpPr txBox="1"/>
            <p:nvPr/>
          </p:nvSpPr>
          <p:spPr>
            <a:xfrm>
              <a:off x="601010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🔍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질문 입력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EBF4BE-BB55-4594-A2FC-BDDB35435C90}"/>
                </a:ext>
              </a:extLst>
            </p:cNvPr>
            <p:cNvSpPr txBox="1"/>
            <p:nvPr/>
          </p:nvSpPr>
          <p:spPr>
            <a:xfrm>
              <a:off x="601010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0">
                  <a:solidFill>
                    <a:srgbClr val="6B7280"/>
                  </a:solidFill>
                  <a:latin typeface="+mn-ea"/>
                </a:rPr>
                <a:t>업무 상황 자연어 입력</a:t>
              </a:r>
              <a:endParaRPr sz="1200" b="0">
                <a:solidFill>
                  <a:srgbClr val="6B7280"/>
                </a:solidFill>
                <a:latin typeface="+mn-ea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FA33DF7-0CE6-4061-A974-4EC09107C85E}"/>
              </a:ext>
            </a:extLst>
          </p:cNvPr>
          <p:cNvSpPr txBox="1"/>
          <p:nvPr/>
        </p:nvSpPr>
        <p:spPr>
          <a:xfrm>
            <a:off x="2439923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F4AFCF0-0572-47D7-96C0-56A67E12F342}"/>
              </a:ext>
            </a:extLst>
          </p:cNvPr>
          <p:cNvGrpSpPr/>
          <p:nvPr/>
        </p:nvGrpSpPr>
        <p:grpSpPr>
          <a:xfrm>
            <a:off x="2693046" y="899849"/>
            <a:ext cx="2097024" cy="859536"/>
            <a:chOff x="2734610" y="1076496"/>
            <a:chExt cx="2097024" cy="859536"/>
          </a:xfrm>
        </p:grpSpPr>
        <p:sp>
          <p:nvSpPr>
            <p:cNvPr id="66" name="Rounded Rectangle 47">
              <a:extLst>
                <a:ext uri="{FF2B5EF4-FFF2-40B4-BE49-F238E27FC236}">
                  <a16:creationId xmlns:a16="http://schemas.microsoft.com/office/drawing/2014/main" id="{DFF7462E-22C3-465B-BD8C-A7149A940B61}"/>
                </a:ext>
              </a:extLst>
            </p:cNvPr>
            <p:cNvSpPr/>
            <p:nvPr/>
          </p:nvSpPr>
          <p:spPr>
            <a:xfrm>
              <a:off x="2734610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C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1A1475-CDB3-4063-BD45-5549C9CDBE81}"/>
                </a:ext>
              </a:extLst>
            </p:cNvPr>
            <p:cNvSpPr txBox="1"/>
            <p:nvPr/>
          </p:nvSpPr>
          <p:spPr>
            <a:xfrm>
              <a:off x="2899202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📄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문서 검색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F636FE9-9972-4B85-98BB-BE28D8FF830B}"/>
                </a:ext>
              </a:extLst>
            </p:cNvPr>
            <p:cNvSpPr txBox="1"/>
            <p:nvPr/>
          </p:nvSpPr>
          <p:spPr>
            <a:xfrm>
              <a:off x="2899202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관련 규정 · 지침 탐색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D1CBAAD-7333-48B0-A6A6-E03764EB92B1}"/>
              </a:ext>
            </a:extLst>
          </p:cNvPr>
          <p:cNvSpPr txBox="1"/>
          <p:nvPr/>
        </p:nvSpPr>
        <p:spPr>
          <a:xfrm>
            <a:off x="4831634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DD803AB-E323-41F4-9A08-8C300E0C81CD}"/>
              </a:ext>
            </a:extLst>
          </p:cNvPr>
          <p:cNvGrpSpPr/>
          <p:nvPr/>
        </p:nvGrpSpPr>
        <p:grpSpPr>
          <a:xfrm>
            <a:off x="5063975" y="899849"/>
            <a:ext cx="2097024" cy="859536"/>
            <a:chOff x="5032802" y="1076496"/>
            <a:chExt cx="2097024" cy="859536"/>
          </a:xfrm>
        </p:grpSpPr>
        <p:sp>
          <p:nvSpPr>
            <p:cNvPr id="71" name="Rounded Rectangle 51">
              <a:extLst>
                <a:ext uri="{FF2B5EF4-FFF2-40B4-BE49-F238E27FC236}">
                  <a16:creationId xmlns:a16="http://schemas.microsoft.com/office/drawing/2014/main" id="{C71BF696-5EC6-4D25-820B-373DAD1344CC}"/>
                </a:ext>
              </a:extLst>
            </p:cNvPr>
            <p:cNvSpPr/>
            <p:nvPr/>
          </p:nvSpPr>
          <p:spPr>
            <a:xfrm>
              <a:off x="5032802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E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B591218-5193-408A-B896-E1E3E89F7C27}"/>
                </a:ext>
              </a:extLst>
            </p:cNvPr>
            <p:cNvSpPr txBox="1"/>
            <p:nvPr/>
          </p:nvSpPr>
          <p:spPr>
            <a:xfrm>
              <a:off x="5197394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💬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답변 정리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A8374F3-2CEF-4178-BE4D-3AC77DE3D521}"/>
                </a:ext>
              </a:extLst>
            </p:cNvPr>
            <p:cNvSpPr txBox="1"/>
            <p:nvPr/>
          </p:nvSpPr>
          <p:spPr>
            <a:xfrm>
              <a:off x="5197394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절차와 담당부서 안내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BDA301-2686-4BA5-84A5-734CD9533801}"/>
              </a:ext>
            </a:extLst>
          </p:cNvPr>
          <p:cNvSpPr txBox="1"/>
          <p:nvPr/>
        </p:nvSpPr>
        <p:spPr>
          <a:xfrm>
            <a:off x="7192172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F5C8F40-E42C-4223-9F16-7D070BCB4568}"/>
              </a:ext>
            </a:extLst>
          </p:cNvPr>
          <p:cNvGrpSpPr/>
          <p:nvPr/>
        </p:nvGrpSpPr>
        <p:grpSpPr>
          <a:xfrm>
            <a:off x="7451075" y="899849"/>
            <a:ext cx="2097024" cy="859536"/>
            <a:chOff x="7330994" y="1076496"/>
            <a:chExt cx="2097024" cy="859536"/>
          </a:xfrm>
        </p:grpSpPr>
        <p:sp>
          <p:nvSpPr>
            <p:cNvPr id="81" name="Rounded Rectangle 55">
              <a:extLst>
                <a:ext uri="{FF2B5EF4-FFF2-40B4-BE49-F238E27FC236}">
                  <a16:creationId xmlns:a16="http://schemas.microsoft.com/office/drawing/2014/main" id="{73C7B102-EDCA-4808-8BFF-8EE3C8E62523}"/>
                </a:ext>
              </a:extLst>
            </p:cNvPr>
            <p:cNvSpPr/>
            <p:nvPr/>
          </p:nvSpPr>
          <p:spPr>
            <a:xfrm>
              <a:off x="7330994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FF1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75A4594-9A26-41FA-A3DD-9E4F0FEC9167}"/>
                </a:ext>
              </a:extLst>
            </p:cNvPr>
            <p:cNvSpPr txBox="1"/>
            <p:nvPr/>
          </p:nvSpPr>
          <p:spPr>
            <a:xfrm>
              <a:off x="7495586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📧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협업 요청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8892051-C222-480F-B292-B0CEB153B102}"/>
                </a:ext>
              </a:extLst>
            </p:cNvPr>
            <p:cNvSpPr txBox="1"/>
            <p:nvPr/>
          </p:nvSpPr>
          <p:spPr>
            <a:xfrm>
              <a:off x="7495586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메일 초안 자동 작성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447926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1227</Words>
  <Application>Microsoft Office PowerPoint</Application>
  <DocSecurity>0</DocSecurity>
  <PresentationFormat>A4 용지(210x297mm)</PresentationFormat>
  <Paragraphs>211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267</cp:revision>
  <dcterms:created xsi:type="dcterms:W3CDTF">2026-09-04T08:20:33Z</dcterms:created>
  <dcterms:modified xsi:type="dcterms:W3CDTF">2026-09-12T15:49:47Z</dcterms:modified>
</cp:coreProperties>
</file>