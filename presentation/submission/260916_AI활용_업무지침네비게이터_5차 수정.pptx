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9"/>
  </p:notesMasterIdLst>
  <p:sldIdLst>
    <p:sldId id="256" r:id="rId2"/>
    <p:sldId id="263" r:id="rId3"/>
    <p:sldId id="278" r:id="rId4"/>
    <p:sldId id="279" r:id="rId5"/>
    <p:sldId id="284" r:id="rId6"/>
    <p:sldId id="280" r:id="rId7"/>
    <p:sldId id="285" r:id="rId8"/>
  </p:sldIdLst>
  <p:sldSz cx="9906000" cy="6858000" type="A4"/>
  <p:notesSz cx="6858000" cy="9144000"/>
  <p:embeddedFontLst>
    <p:embeddedFont>
      <p:font typeface="Calibri" panose="020F0502020204030204" pitchFamily="34" charset="0"/>
      <p:regular r:id="rId10"/>
      <p:bold r:id="rId11"/>
      <p:italic r:id="rId12"/>
      <p:boldItalic r:id="rId13"/>
    </p:embeddedFont>
    <p:embeddedFont>
      <p:font typeface="Calibri Light" panose="020F0302020204030204" pitchFamily="34" charset="0"/>
      <p:regular r:id="rId14"/>
      <p:italic r:id="rId15"/>
    </p:embeddedFont>
    <p:embeddedFont>
      <p:font typeface="HY견고딕" panose="02030600000101010101" pitchFamily="18" charset="-127"/>
      <p:regular r:id="rId16"/>
    </p:embeddedFont>
    <p:embeddedFont>
      <p:font typeface="맑은 고딕" panose="020B0503020000020004" pitchFamily="50" charset="-127"/>
      <p:regular r:id="rId17"/>
      <p:bold r:id="rId18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F6F7"/>
    <a:srgbClr val="F5F6F8"/>
    <a:srgbClr val="DFE2E7"/>
    <a:srgbClr val="DDE0E5"/>
    <a:srgbClr val="F4F5F9"/>
    <a:srgbClr val="E1E6F0"/>
    <a:srgbClr val="779FE0"/>
    <a:srgbClr val="EDF1FA"/>
    <a:srgbClr val="F4F6F8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7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2726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svg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png"/><Relationship Id="rId9" Type="http://schemas.openxmlformats.org/officeDocument/2006/relationships/image" Target="../media/image2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image" Target="../media/image22.svg"/><Relationship Id="rId7" Type="http://schemas.openxmlformats.org/officeDocument/2006/relationships/image" Target="../media/image31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image" Target="../media/image33.png"/><Relationship Id="rId4" Type="http://schemas.openxmlformats.org/officeDocument/2006/relationships/image" Target="../media/image4.png"/><Relationship Id="rId9" Type="http://schemas.openxmlformats.org/officeDocument/2006/relationships/hyperlink" Target="department-workflow-demo-ai-match.mp4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52560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31339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38419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62546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  키워드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유형 분석              절차</a:t>
            </a:r>
            <a:r>
              <a:rPr lang="en-US" altLang="ko-KR" sz="1400" b="1"/>
              <a:t>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62546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1305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491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76431" y="5167171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73622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5256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330495" y="6092035"/>
            <a:ext cx="9409457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  <a:latin typeface="+mn-ea"/>
              </a:rPr>
              <a:t>        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699726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072446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27540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79919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87705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 필요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27541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946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DB273691-F70E-4DA3-8FC4-27B912BBBBB3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1FF74794-DBB2-42EC-9656-063B13795A7D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화살표: 오른쪽 53">
              <a:extLst>
                <a:ext uri="{FF2B5EF4-FFF2-40B4-BE49-F238E27FC236}">
                  <a16:creationId xmlns:a16="http://schemas.microsoft.com/office/drawing/2014/main" id="{8CA3DC86-BB4D-45F2-B178-FE7EBBAA57FA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171628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325500" y="6101535"/>
            <a:ext cx="9354428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ctr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     정성적 검증에서 정답 데이터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·RAGAS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정량 평가로 발전 → 검색 품질 개선 및 반복 검증 체계 확보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기반에서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RAGAS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평가까지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개발 과정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F7BC28A-8B0A-4781-A61B-331967B0BBBD}"/>
              </a:ext>
            </a:extLst>
          </p:cNvPr>
          <p:cNvSpPr/>
          <p:nvPr/>
        </p:nvSpPr>
        <p:spPr>
          <a:xfrm>
            <a:off x="279093" y="1848909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39871CD-9C0F-406B-AADC-C37FA842222B}"/>
              </a:ext>
            </a:extLst>
          </p:cNvPr>
          <p:cNvSpPr/>
          <p:nvPr/>
        </p:nvSpPr>
        <p:spPr>
          <a:xfrm>
            <a:off x="279093" y="1848907"/>
            <a:ext cx="2237155" cy="53228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100">
                <a:solidFill>
                  <a:schemeClr val="tx1"/>
                </a:solidFill>
                <a:latin typeface="+mn-ea"/>
              </a:rPr>
              <a:t>① 범위 및 대표부서 선정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C69ECFE-782A-40A2-9BA9-888C46599EE9}"/>
              </a:ext>
            </a:extLst>
          </p:cNvPr>
          <p:cNvSpPr/>
          <p:nvPr/>
        </p:nvSpPr>
        <p:spPr>
          <a:xfrm>
            <a:off x="2642487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910A5D-2A7F-45DA-9187-7C5766E52393}"/>
              </a:ext>
            </a:extLst>
          </p:cNvPr>
          <p:cNvSpPr/>
          <p:nvPr/>
        </p:nvSpPr>
        <p:spPr>
          <a:xfrm>
            <a:off x="2642487" y="1846298"/>
            <a:ext cx="2237155" cy="53228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② 검증 데이터 확보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699BC76-A765-4B9A-89E0-AD0291BC01F0}"/>
              </a:ext>
            </a:extLst>
          </p:cNvPr>
          <p:cNvSpPr/>
          <p:nvPr/>
        </p:nvSpPr>
        <p:spPr>
          <a:xfrm>
            <a:off x="5005881" y="1846300"/>
            <a:ext cx="2237155" cy="154265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451CED7-4E43-48BE-9EDB-E3F402E72EE1}"/>
              </a:ext>
            </a:extLst>
          </p:cNvPr>
          <p:cNvSpPr/>
          <p:nvPr/>
        </p:nvSpPr>
        <p:spPr>
          <a:xfrm>
            <a:off x="5005881" y="1846298"/>
            <a:ext cx="2237155" cy="5322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③ 대표 질의 선정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9DDBDF5-E08E-457F-A863-9A7872E1953C}"/>
              </a:ext>
            </a:extLst>
          </p:cNvPr>
          <p:cNvSpPr/>
          <p:nvPr/>
        </p:nvSpPr>
        <p:spPr>
          <a:xfrm>
            <a:off x="7369275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E45B53C-1156-4964-83BB-AB1AAC3ED977}"/>
              </a:ext>
            </a:extLst>
          </p:cNvPr>
          <p:cNvSpPr/>
          <p:nvPr/>
        </p:nvSpPr>
        <p:spPr>
          <a:xfrm>
            <a:off x="7369275" y="1846298"/>
            <a:ext cx="2237155" cy="53228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④ 정확성 검토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및 보완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사규</a:t>
            </a:r>
            <a:r>
              <a:rPr lang="en-US" altLang="ko-KR" sz="1300"/>
              <a:t>, </a:t>
            </a:r>
            <a:r>
              <a:rPr lang="ko-KR" altLang="en-US" sz="1300"/>
              <a:t>정책</a:t>
            </a:r>
            <a:r>
              <a:rPr lang="en-US" altLang="ko-KR" sz="1300"/>
              <a:t> </a:t>
            </a:r>
            <a:r>
              <a:rPr lang="ko-KR" altLang="en-US" sz="1300"/>
              <a:t>문서 </a:t>
            </a:r>
            <a:r>
              <a:rPr lang="en-US" altLang="ko-KR" sz="1300"/>
              <a:t>3,450</a:t>
            </a:r>
            <a:r>
              <a:rPr lang="ko-KR" altLang="en-US" sz="1300"/>
              <a:t>여개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조직 </a:t>
            </a:r>
            <a:r>
              <a:rPr lang="en-US" altLang="ko-KR" sz="1300"/>
              <a:t>126</a:t>
            </a:r>
            <a:r>
              <a:rPr lang="ko-KR" altLang="en-US" sz="1300"/>
              <a:t>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대표부서 선정 </a:t>
            </a:r>
            <a:r>
              <a:rPr lang="en-US" altLang="ko-KR" sz="1300"/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/>
              <a:t> </a:t>
            </a:r>
            <a:r>
              <a:rPr lang="en-US" altLang="ko-KR" sz="1300"/>
              <a:t>35</a:t>
            </a:r>
            <a:r>
              <a:rPr lang="ko-KR" altLang="en-US" sz="1300"/>
              <a:t>개</a:t>
            </a:r>
            <a:r>
              <a:rPr lang="en-US" altLang="ko-KR" sz="1300"/>
              <a:t>)</a:t>
            </a:r>
            <a:endParaRPr lang="ko-KR" altLang="en-US" sz="13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439977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439977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39977"/>
            <a:ext cx="2363750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투자〮회계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cxnSpLocks/>
          </p:cNvCxnSpPr>
          <p:nvPr/>
        </p:nvCxnSpPr>
        <p:spPr>
          <a:xfrm rot="5400000" flipH="1">
            <a:off x="7296862" y="2219628"/>
            <a:ext cx="18586" cy="2363394"/>
          </a:xfrm>
          <a:prstGeom prst="bentConnector3">
            <a:avLst>
              <a:gd name="adj1" fmla="val -924047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36701" y="3436911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7084B80-B74C-4C08-810A-65D48EE75768}"/>
              </a:ext>
            </a:extLst>
          </p:cNvPr>
          <p:cNvSpPr/>
          <p:nvPr/>
        </p:nvSpPr>
        <p:spPr>
          <a:xfrm>
            <a:off x="278540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0E481D7-F35E-40BC-9D34-8C59C52A6368}"/>
              </a:ext>
            </a:extLst>
          </p:cNvPr>
          <p:cNvSpPr/>
          <p:nvPr/>
        </p:nvSpPr>
        <p:spPr>
          <a:xfrm>
            <a:off x="346519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2F8F77D-5F76-4CB9-A976-17C1B8431A31}"/>
              </a:ext>
            </a:extLst>
          </p:cNvPr>
          <p:cNvSpPr/>
          <p:nvPr/>
        </p:nvSpPr>
        <p:spPr>
          <a:xfrm>
            <a:off x="664087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2AB7FE7-9857-4180-8A8D-F2593EB0252B}"/>
              </a:ext>
            </a:extLst>
          </p:cNvPr>
          <p:cNvCxnSpPr>
            <a:cxnSpLocks/>
          </p:cNvCxnSpPr>
          <p:nvPr/>
        </p:nvCxnSpPr>
        <p:spPr>
          <a:xfrm>
            <a:off x="418603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70489A1-A9CE-4284-A951-808A02CAF920}"/>
              </a:ext>
            </a:extLst>
          </p:cNvPr>
          <p:cNvCxnSpPr>
            <a:cxnSpLocks/>
          </p:cNvCxnSpPr>
          <p:nvPr/>
        </p:nvCxnSpPr>
        <p:spPr>
          <a:xfrm>
            <a:off x="360525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AD09C5-3FF6-40FB-992F-5FF47231E8E6}"/>
              </a:ext>
            </a:extLst>
          </p:cNvPr>
          <p:cNvCxnSpPr>
            <a:cxnSpLocks/>
          </p:cNvCxnSpPr>
          <p:nvPr/>
        </p:nvCxnSpPr>
        <p:spPr>
          <a:xfrm>
            <a:off x="678093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18A1409-4FAA-4684-B91E-7BC9030361B0}"/>
              </a:ext>
            </a:extLst>
          </p:cNvPr>
          <p:cNvSpPr txBox="1"/>
          <p:nvPr/>
        </p:nvSpPr>
        <p:spPr>
          <a:xfrm>
            <a:off x="541991" y="427655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일단 </a:t>
            </a:r>
            <a:r>
              <a:rPr lang="ko-KR" altLang="en-US" sz="1500" b="1">
                <a:solidFill>
                  <a:srgbClr val="0000FF"/>
                </a:solidFill>
              </a:rPr>
              <a:t>동작</a:t>
            </a:r>
            <a:r>
              <a:rPr lang="ko-KR" altLang="en-US" sz="1500" b="1"/>
              <a:t>하게 만들기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AD1CE62-B09A-4942-8724-BD99F5F5D652}"/>
              </a:ext>
            </a:extLst>
          </p:cNvPr>
          <p:cNvSpPr/>
          <p:nvPr/>
        </p:nvSpPr>
        <p:spPr>
          <a:xfrm>
            <a:off x="278540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1~2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D50405-FE7C-48A4-8D57-6DA743923DE1}"/>
              </a:ext>
            </a:extLst>
          </p:cNvPr>
          <p:cNvSpPr txBox="1"/>
          <p:nvPr/>
        </p:nvSpPr>
        <p:spPr>
          <a:xfrm>
            <a:off x="278540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질문의 </a:t>
            </a:r>
            <a:r>
              <a:rPr lang="ko-KR" altLang="en-US" sz="1300" b="1">
                <a:solidFill>
                  <a:srgbClr val="0000FF"/>
                </a:solidFill>
              </a:rPr>
              <a:t>키워드</a:t>
            </a:r>
            <a:r>
              <a:rPr lang="en-US" altLang="ko-KR" sz="1300"/>
              <a:t>, </a:t>
            </a:r>
            <a:r>
              <a:rPr lang="ko-KR" altLang="en-US" sz="1300"/>
              <a:t>조건 분석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사전에 정의한 규칙 기반 부서</a:t>
            </a:r>
            <a:r>
              <a:rPr lang="en-US" altLang="ko-KR" sz="1300"/>
              <a:t> </a:t>
            </a:r>
            <a:r>
              <a:rPr lang="ko-KR" altLang="en-US" sz="1300"/>
              <a:t>탐색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규칙에 설정된 추천 결과와 사유 제공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FFDD4A2-0B1D-4364-A72B-046E84ED795D}"/>
              </a:ext>
            </a:extLst>
          </p:cNvPr>
          <p:cNvSpPr txBox="1"/>
          <p:nvPr/>
        </p:nvSpPr>
        <p:spPr>
          <a:xfrm>
            <a:off x="3475479" y="4276554"/>
            <a:ext cx="2975177" cy="3355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>
                <a:latin typeface="+mn-ea"/>
              </a:rPr>
              <a:t>의미 기반 </a:t>
            </a:r>
            <a:r>
              <a:rPr lang="en-US" altLang="ko-KR" sz="1500" b="1">
                <a:solidFill>
                  <a:srgbClr val="0000FF"/>
                </a:solidFill>
                <a:latin typeface="+mn-ea"/>
              </a:rPr>
              <a:t>RAG </a:t>
            </a:r>
            <a:r>
              <a:rPr lang="ko-KR" altLang="en-US" sz="1500" b="1">
                <a:solidFill>
                  <a:srgbClr val="0000FF"/>
                </a:solidFill>
                <a:latin typeface="+mn-ea"/>
              </a:rPr>
              <a:t>적용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B47F781-9C02-49D6-B353-D2D75C834CC9}"/>
              </a:ext>
            </a:extLst>
          </p:cNvPr>
          <p:cNvSpPr/>
          <p:nvPr/>
        </p:nvSpPr>
        <p:spPr>
          <a:xfrm>
            <a:off x="3465194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2~3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3C3A94-281E-4546-BCD0-9C717D1DBCA3}"/>
              </a:ext>
            </a:extLst>
          </p:cNvPr>
          <p:cNvSpPr txBox="1"/>
          <p:nvPr/>
        </p:nvSpPr>
        <p:spPr>
          <a:xfrm>
            <a:off x="3475478" y="4738902"/>
            <a:ext cx="3027903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Embedding </a:t>
            </a:r>
            <a:r>
              <a:rPr lang="ko-KR" altLang="en-US" sz="1300">
                <a:latin typeface="+mn-ea"/>
              </a:rPr>
              <a:t>기반 </a:t>
            </a:r>
            <a:r>
              <a:rPr lang="ko-KR" altLang="en-US" sz="1300" b="1">
                <a:solidFill>
                  <a:srgbClr val="0000FF"/>
                </a:solidFill>
                <a:latin typeface="+mn-ea"/>
              </a:rPr>
              <a:t>의미</a:t>
            </a:r>
            <a:r>
              <a:rPr lang="ko-KR" altLang="en-US" sz="1300">
                <a:latin typeface="+mn-ea"/>
              </a:rPr>
              <a:t> 검색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Metadata </a:t>
            </a:r>
            <a:r>
              <a:rPr lang="ko-KR" altLang="en-US" sz="1300" spc="-40">
                <a:latin typeface="+mn-ea"/>
              </a:rPr>
              <a:t>활용 부서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문서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출처 필터링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검색 근거 바탕 추천 이유 제시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0C0494-F9D5-4E04-A2DA-9FC6B4334384}"/>
              </a:ext>
            </a:extLst>
          </p:cNvPr>
          <p:cNvSpPr txBox="1"/>
          <p:nvPr/>
        </p:nvSpPr>
        <p:spPr>
          <a:xfrm>
            <a:off x="6578898" y="4276554"/>
            <a:ext cx="3133345" cy="323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b="1" spc="-40">
                <a:latin typeface="+mn-ea"/>
              </a:rPr>
              <a:t>RAGAS </a:t>
            </a:r>
            <a:r>
              <a:rPr lang="ko-KR" altLang="en-US" sz="1500" b="1" spc="-40">
                <a:latin typeface="+mn-ea"/>
              </a:rPr>
              <a:t>활용 </a:t>
            </a:r>
            <a:r>
              <a:rPr lang="ko-KR" altLang="en-US" sz="1500" b="1" spc="-40">
                <a:solidFill>
                  <a:srgbClr val="0000FF"/>
                </a:solidFill>
                <a:latin typeface="+mn-ea"/>
              </a:rPr>
              <a:t>검색품질 고도화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DC062B4C-208A-4E1B-AD33-7E6C1C36E566}"/>
              </a:ext>
            </a:extLst>
          </p:cNvPr>
          <p:cNvSpPr/>
          <p:nvPr/>
        </p:nvSpPr>
        <p:spPr>
          <a:xfrm>
            <a:off x="6640874" y="3912142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CA5A2D-FD63-4290-A2D2-0482E8F00835}"/>
              </a:ext>
            </a:extLst>
          </p:cNvPr>
          <p:cNvSpPr txBox="1"/>
          <p:nvPr/>
        </p:nvSpPr>
        <p:spPr>
          <a:xfrm>
            <a:off x="6651635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평가용 골든셋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정답지</a:t>
            </a:r>
            <a:r>
              <a:rPr lang="en-US" altLang="ko-KR" sz="1300">
                <a:latin typeface="+mn-ea"/>
              </a:rPr>
              <a:t>)</a:t>
            </a:r>
            <a:r>
              <a:rPr lang="ko-KR" altLang="en-US" sz="1300">
                <a:latin typeface="+mn-ea"/>
              </a:rPr>
              <a:t> 생성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kern="0">
                <a:latin typeface="+mn-ea"/>
              </a:rPr>
              <a:t>LangSmith</a:t>
            </a:r>
            <a:r>
              <a:rPr lang="ko-KR" altLang="en-US" sz="1300">
                <a:latin typeface="+mn-ea"/>
              </a:rPr>
              <a:t>로 채점 자동화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채점결과 반영 추가 문제점 개선</a:t>
            </a:r>
          </a:p>
        </p:txBody>
      </p:sp>
      <p:sp>
        <p:nvSpPr>
          <p:cNvPr id="80" name="이등변 삼각형 79">
            <a:extLst>
              <a:ext uri="{FF2B5EF4-FFF2-40B4-BE49-F238E27FC236}">
                <a16:creationId xmlns:a16="http://schemas.microsoft.com/office/drawing/2014/main" id="{9B55912F-4B67-4B5C-835C-47C2FEEF12FD}"/>
              </a:ext>
            </a:extLst>
          </p:cNvPr>
          <p:cNvSpPr/>
          <p:nvPr/>
        </p:nvSpPr>
        <p:spPr>
          <a:xfrm rot="5400000">
            <a:off x="3281622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이등변 삼각형 80">
            <a:extLst>
              <a:ext uri="{FF2B5EF4-FFF2-40B4-BE49-F238E27FC236}">
                <a16:creationId xmlns:a16="http://schemas.microsoft.com/office/drawing/2014/main" id="{EBDFF46A-7DE0-4236-9D84-39C5232600A4}"/>
              </a:ext>
            </a:extLst>
          </p:cNvPr>
          <p:cNvSpPr/>
          <p:nvPr/>
        </p:nvSpPr>
        <p:spPr>
          <a:xfrm rot="5400000">
            <a:off x="6468171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145DA41-BC38-4528-BF35-80A7EC9C7771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16FF509C-8177-4F2F-9D93-F5312620F65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화살표: 오른쪽 83">
              <a:extLst>
                <a:ext uri="{FF2B5EF4-FFF2-40B4-BE49-F238E27FC236}">
                  <a16:creationId xmlns:a16="http://schemas.microsoft.com/office/drawing/2014/main" id="{9A89337C-753D-4F4A-89D4-87DE20AD0384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2589068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시도를 통한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신규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23985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23985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23985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112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10">
            <a:extLst>
              <a:ext uri="{FF2B5EF4-FFF2-40B4-BE49-F238E27FC236}">
                <a16:creationId xmlns:a16="http://schemas.microsoft.com/office/drawing/2014/main" id="{22591E7D-BAF5-475C-94CC-AFCA136B26C8}"/>
              </a:ext>
            </a:extLst>
          </p:cNvPr>
          <p:cNvSpPr/>
          <p:nvPr/>
        </p:nvSpPr>
        <p:spPr>
          <a:xfrm>
            <a:off x="351453" y="1306107"/>
            <a:ext cx="4535223" cy="2582693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91" name="Shape 10">
            <a:extLst>
              <a:ext uri="{FF2B5EF4-FFF2-40B4-BE49-F238E27FC236}">
                <a16:creationId xmlns:a16="http://schemas.microsoft.com/office/drawing/2014/main" id="{77EBBBFD-D2F1-4392-809F-F0195F6E44BA}"/>
              </a:ext>
            </a:extLst>
          </p:cNvPr>
          <p:cNvSpPr/>
          <p:nvPr/>
        </p:nvSpPr>
        <p:spPr>
          <a:xfrm>
            <a:off x="5083914" y="1306107"/>
            <a:ext cx="4535223" cy="2582693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4.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RAGAS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적용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+ </a:t>
            </a:r>
            <a:r>
              <a:rPr lang="en-US" altLang="ko-KR" sz="2000" b="1">
                <a:latin typeface="+mn-ea"/>
              </a:rPr>
              <a:t>LangSmith </a:t>
            </a:r>
            <a:r>
              <a:rPr lang="ko-KR" altLang="en-US" sz="2000" b="1">
                <a:latin typeface="+mn-ea"/>
              </a:rPr>
              <a:t>기반 자동 평가 도입과 검색 품질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(4/6)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6621341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630194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3624568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6621341" y="4986728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68%</a:t>
            </a:r>
            <a:endParaRPr lang="ko-KR" altLang="en-US" b="1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7392159" y="5025200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종합 정답률 상승 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630194" y="4986728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79%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1447713" y="5025200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향상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3624568" y="4986728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89%</a:t>
            </a:r>
            <a:endParaRPr lang="ko-KR" altLang="en-US" b="1"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4395269" y="5025200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대폭 개선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4395269" y="5341747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45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89%, F1 score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측정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1489277" y="5341747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63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79%,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일치율로 측정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7392159" y="5341747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19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건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자동 채점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, 37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 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68%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4003465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점수 격차 기준 판정 도입으로 주관부서 매칭 및 협업부서 판단 정확도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종합 정답률 개선 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4040384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9020792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RAGAS </a:t>
            </a:r>
            <a:r>
              <a:rPr lang="ko-KR" altLang="en-US" sz="1400" b="1">
                <a:latin typeface="+mn-ea"/>
              </a:rPr>
              <a:t>평가 기준을 적용하고</a:t>
            </a:r>
            <a:r>
              <a:rPr lang="en-US" altLang="ko-KR" sz="1400" b="1">
                <a:latin typeface="+mn-ea"/>
              </a:rPr>
              <a:t>, LangSmith</a:t>
            </a:r>
            <a:r>
              <a:rPr lang="ko-KR" altLang="en-US" sz="1400" b="1">
                <a:latin typeface="+mn-ea"/>
              </a:rPr>
              <a:t>로 전체 실행 과정과 채점 결과를 자동 관리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6" name="그림 5">
            <a:extLst>
              <a:ext uri="{FF2B5EF4-FFF2-40B4-BE49-F238E27FC236}">
                <a16:creationId xmlns:a16="http://schemas.microsoft.com/office/drawing/2014/main" id="{652B555B-12D7-43F1-9863-D55660601EF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" b="-7835"/>
          <a:stretch/>
        </p:blipFill>
        <p:spPr>
          <a:xfrm>
            <a:off x="390005" y="1495099"/>
            <a:ext cx="4441768" cy="2446498"/>
          </a:xfrm>
          <a:prstGeom prst="rect">
            <a:avLst/>
          </a:prstGeom>
        </p:spPr>
      </p:pic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C1FA852-ED91-4F3E-B886-6380C80049D8}"/>
              </a:ext>
            </a:extLst>
          </p:cNvPr>
          <p:cNvSpPr/>
          <p:nvPr/>
        </p:nvSpPr>
        <p:spPr>
          <a:xfrm>
            <a:off x="351453" y="1148234"/>
            <a:ext cx="4534956" cy="307315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spc="-30">
                <a:latin typeface="+mn-ea"/>
              </a:rPr>
              <a:t>LangSmith</a:t>
            </a:r>
            <a:r>
              <a:rPr lang="ko-KR" altLang="en-US" sz="1500" b="1" spc="-30">
                <a:latin typeface="+mn-ea"/>
              </a:rPr>
              <a:t>로 질문→검색→답변 과정 트레이싱</a:t>
            </a:r>
            <a:endParaRPr lang="ko-KR" altLang="en-US" sz="1500" b="1" spc="-3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B672848-9232-48EB-84F0-A2D7E7FC53E4}"/>
              </a:ext>
            </a:extLst>
          </p:cNvPr>
          <p:cNvSpPr txBox="1"/>
          <p:nvPr/>
        </p:nvSpPr>
        <p:spPr>
          <a:xfrm>
            <a:off x="5481206" y="1509840"/>
            <a:ext cx="4270333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기존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판단을 먼저 확인하고 보완하던 로직을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부서 간 유사도 점수 격차 기반 판정으로 정밀화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9B9AAB53-0B27-4520-97FA-828CD93836DC}"/>
              </a:ext>
            </a:extLst>
          </p:cNvPr>
          <p:cNvSpPr/>
          <p:nvPr/>
        </p:nvSpPr>
        <p:spPr>
          <a:xfrm>
            <a:off x="5084181" y="1148234"/>
            <a:ext cx="4534956" cy="31569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30">
                <a:latin typeface="+mn-ea"/>
              </a:rPr>
              <a:t>핵심 개선 포인트</a:t>
            </a:r>
            <a:endParaRPr lang="ko-KR" altLang="en-US" sz="1500" b="1" spc="-3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FF6387-7555-4BF0-9DD1-E09D88E6A124}"/>
              </a:ext>
            </a:extLst>
          </p:cNvPr>
          <p:cNvSpPr txBox="1"/>
          <p:nvPr/>
        </p:nvSpPr>
        <p:spPr>
          <a:xfrm>
            <a:off x="5481206" y="2269442"/>
            <a:ext cx="389139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과다 포함 문제 개선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4900A9D-240F-436D-89BF-AE73FC002740}"/>
              </a:ext>
            </a:extLst>
          </p:cNvPr>
          <p:cNvSpPr txBox="1"/>
          <p:nvPr/>
        </p:nvSpPr>
        <p:spPr>
          <a:xfrm>
            <a:off x="5481206" y="2767467"/>
            <a:ext cx="405760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금액 비교 </a:t>
            </a:r>
            <a:r>
              <a:rPr lang="en-US" altLang="ko-KR" sz="1300" spc="-40">
                <a:latin typeface="+mn-ea"/>
              </a:rPr>
              <a:t>: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판단에서 직접 코드 계산으로 수정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E2ABFA0-B640-4B8D-91A7-CD720C8B254A}"/>
              </a:ext>
            </a:extLst>
          </p:cNvPr>
          <p:cNvSpPr txBox="1"/>
          <p:nvPr/>
        </p:nvSpPr>
        <p:spPr>
          <a:xfrm>
            <a:off x="5481206" y="3235224"/>
            <a:ext cx="4221262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반복 재평가로 개선 효과를 정량 확인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en-US" altLang="ko-KR" sz="1300" spc="-40">
                <a:latin typeface="+mn-ea"/>
              </a:rPr>
              <a:t>3</a:t>
            </a:r>
            <a:r>
              <a:rPr lang="ko-KR" altLang="en-US" sz="1300" spc="-40">
                <a:latin typeface="+mn-ea"/>
              </a:rPr>
              <a:t>라운드에 걸쳐 정답률 단계적 개선 </a:t>
            </a:r>
            <a:r>
              <a:rPr lang="en-US" altLang="ko-KR" sz="1300" spc="-40">
                <a:latin typeface="+mn-ea"/>
              </a:rPr>
              <a:t>(37</a:t>
            </a:r>
            <a:r>
              <a:rPr lang="ko-KR" altLang="en-US" sz="1300" spc="-40">
                <a:latin typeface="+mn-ea"/>
              </a:rPr>
              <a:t>→</a:t>
            </a:r>
            <a:r>
              <a:rPr lang="en-US" altLang="ko-KR" sz="1300" spc="-40">
                <a:latin typeface="+mn-ea"/>
              </a:rPr>
              <a:t>58</a:t>
            </a:r>
            <a:r>
              <a:rPr lang="ko-KR" altLang="en-US" sz="1300" spc="-40">
                <a:latin typeface="+mn-ea"/>
              </a:rPr>
              <a:t>→</a:t>
            </a:r>
            <a:r>
              <a:rPr lang="en-US" altLang="ko-KR" sz="1300" spc="-40">
                <a:latin typeface="+mn-ea"/>
              </a:rPr>
              <a:t>68%)</a:t>
            </a:r>
            <a:endParaRPr lang="ko-KR" altLang="en-US" sz="1300" spc="-40">
              <a:latin typeface="+mn-ea"/>
            </a:endParaRPr>
          </a:p>
        </p:txBody>
      </p:sp>
      <p:sp>
        <p:nvSpPr>
          <p:cNvPr id="83" name="Shape 13">
            <a:extLst>
              <a:ext uri="{FF2B5EF4-FFF2-40B4-BE49-F238E27FC236}">
                <a16:creationId xmlns:a16="http://schemas.microsoft.com/office/drawing/2014/main" id="{43B3D376-C513-46D1-9C26-F6D7752A13E3}"/>
              </a:ext>
            </a:extLst>
          </p:cNvPr>
          <p:cNvSpPr/>
          <p:nvPr/>
        </p:nvSpPr>
        <p:spPr>
          <a:xfrm>
            <a:off x="5142201" y="2139561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2" name="Shape 13">
            <a:extLst>
              <a:ext uri="{FF2B5EF4-FFF2-40B4-BE49-F238E27FC236}">
                <a16:creationId xmlns:a16="http://schemas.microsoft.com/office/drawing/2014/main" id="{51DCD47B-4DFF-40D8-B95D-6FB1EC923583}"/>
              </a:ext>
            </a:extLst>
          </p:cNvPr>
          <p:cNvSpPr/>
          <p:nvPr/>
        </p:nvSpPr>
        <p:spPr>
          <a:xfrm>
            <a:off x="5142201" y="2666037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3" name="Shape 13">
            <a:extLst>
              <a:ext uri="{FF2B5EF4-FFF2-40B4-BE49-F238E27FC236}">
                <a16:creationId xmlns:a16="http://schemas.microsoft.com/office/drawing/2014/main" id="{9941CAED-E556-4C11-8F86-414A92C0FA47}"/>
              </a:ext>
            </a:extLst>
          </p:cNvPr>
          <p:cNvSpPr/>
          <p:nvPr/>
        </p:nvSpPr>
        <p:spPr>
          <a:xfrm>
            <a:off x="5142201" y="3161340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625F4FE-8A54-4D58-9822-FCE06239A855}"/>
              </a:ext>
            </a:extLst>
          </p:cNvPr>
          <p:cNvGrpSpPr/>
          <p:nvPr/>
        </p:nvGrpSpPr>
        <p:grpSpPr>
          <a:xfrm>
            <a:off x="5167245" y="1657206"/>
            <a:ext cx="302999" cy="292608"/>
            <a:chOff x="5104899" y="1637275"/>
            <a:chExt cx="302999" cy="292608"/>
          </a:xfrm>
        </p:grpSpPr>
        <p:sp>
          <p:nvSpPr>
            <p:cNvPr id="94" name="Shape 30">
              <a:extLst>
                <a:ext uri="{FF2B5EF4-FFF2-40B4-BE49-F238E27FC236}">
                  <a16:creationId xmlns:a16="http://schemas.microsoft.com/office/drawing/2014/main" id="{CD81A531-94E3-4523-997E-14DD3635E491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5" name="Text 31">
              <a:extLst>
                <a:ext uri="{FF2B5EF4-FFF2-40B4-BE49-F238E27FC236}">
                  <a16:creationId xmlns:a16="http://schemas.microsoft.com/office/drawing/2014/main" id="{92B37005-93DC-4E2A-BE51-A581879D47A5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①</a:t>
              </a:r>
              <a:endParaRPr lang="en-US" sz="1100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7244287C-C3BD-435E-B1A5-C00D3FC74BA6}"/>
              </a:ext>
            </a:extLst>
          </p:cNvPr>
          <p:cNvGrpSpPr/>
          <p:nvPr/>
        </p:nvGrpSpPr>
        <p:grpSpPr>
          <a:xfrm>
            <a:off x="5167245" y="2281009"/>
            <a:ext cx="292608" cy="299016"/>
            <a:chOff x="5136072" y="2166708"/>
            <a:chExt cx="292608" cy="299016"/>
          </a:xfrm>
        </p:grpSpPr>
        <p:sp>
          <p:nvSpPr>
            <p:cNvPr id="97" name="Shape 37">
              <a:extLst>
                <a:ext uri="{FF2B5EF4-FFF2-40B4-BE49-F238E27FC236}">
                  <a16:creationId xmlns:a16="http://schemas.microsoft.com/office/drawing/2014/main" id="{1B148B0F-10A7-4F4E-8A58-BC82DB48E4BD}"/>
                </a:ext>
              </a:extLst>
            </p:cNvPr>
            <p:cNvSpPr/>
            <p:nvPr/>
          </p:nvSpPr>
          <p:spPr>
            <a:xfrm>
              <a:off x="5136072" y="2166708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8" name="Text 38">
              <a:extLst>
                <a:ext uri="{FF2B5EF4-FFF2-40B4-BE49-F238E27FC236}">
                  <a16:creationId xmlns:a16="http://schemas.microsoft.com/office/drawing/2014/main" id="{C2E0313E-BD3A-4030-92D2-32CA044D15B8}"/>
                </a:ext>
              </a:extLst>
            </p:cNvPr>
            <p:cNvSpPr txBox="1"/>
            <p:nvPr/>
          </p:nvSpPr>
          <p:spPr>
            <a:xfrm>
              <a:off x="5136072" y="2173116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②</a:t>
              </a:r>
              <a:endParaRPr lang="en-US" sz="1100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9D93BA-3E5C-4002-ACDD-7BEA859B8BB1}"/>
              </a:ext>
            </a:extLst>
          </p:cNvPr>
          <p:cNvGrpSpPr/>
          <p:nvPr/>
        </p:nvGrpSpPr>
        <p:grpSpPr>
          <a:xfrm>
            <a:off x="5167245" y="2779240"/>
            <a:ext cx="292608" cy="292608"/>
            <a:chOff x="5169505" y="2581811"/>
            <a:chExt cx="292608" cy="292608"/>
          </a:xfrm>
        </p:grpSpPr>
        <p:sp>
          <p:nvSpPr>
            <p:cNvPr id="99" name="Shape 44">
              <a:extLst>
                <a:ext uri="{FF2B5EF4-FFF2-40B4-BE49-F238E27FC236}">
                  <a16:creationId xmlns:a16="http://schemas.microsoft.com/office/drawing/2014/main" id="{77E93DDA-3659-417A-AA88-5CC2EF9C9722}"/>
                </a:ext>
              </a:extLst>
            </p:cNvPr>
            <p:cNvSpPr/>
            <p:nvPr/>
          </p:nvSpPr>
          <p:spPr>
            <a:xfrm>
              <a:off x="5169505" y="2581811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45">
              <a:extLst>
                <a:ext uri="{FF2B5EF4-FFF2-40B4-BE49-F238E27FC236}">
                  <a16:creationId xmlns:a16="http://schemas.microsoft.com/office/drawing/2014/main" id="{1B11820E-2590-4B03-BCD9-CD2AFC647CDC}"/>
                </a:ext>
              </a:extLst>
            </p:cNvPr>
            <p:cNvSpPr txBox="1"/>
            <p:nvPr/>
          </p:nvSpPr>
          <p:spPr>
            <a:xfrm>
              <a:off x="5169505" y="2581811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③</a:t>
              </a:r>
              <a:endParaRPr lang="en-US" sz="1100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1B0BF19-3E8E-425D-A7F3-CC7FF5E35BD2}"/>
              </a:ext>
            </a:extLst>
          </p:cNvPr>
          <p:cNvGrpSpPr/>
          <p:nvPr/>
        </p:nvGrpSpPr>
        <p:grpSpPr>
          <a:xfrm>
            <a:off x="5167245" y="3382448"/>
            <a:ext cx="292608" cy="292608"/>
            <a:chOff x="5138700" y="3133064"/>
            <a:chExt cx="292608" cy="292608"/>
          </a:xfrm>
        </p:grpSpPr>
        <p:sp>
          <p:nvSpPr>
            <p:cNvPr id="102" name="Shape 51">
              <a:extLst>
                <a:ext uri="{FF2B5EF4-FFF2-40B4-BE49-F238E27FC236}">
                  <a16:creationId xmlns:a16="http://schemas.microsoft.com/office/drawing/2014/main" id="{B511D697-374B-459E-A7D8-8DAB1E6E896A}"/>
                </a:ext>
              </a:extLst>
            </p:cNvPr>
            <p:cNvSpPr/>
            <p:nvPr/>
          </p:nvSpPr>
          <p:spPr>
            <a:xfrm>
              <a:off x="5138700" y="3133064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52">
              <a:extLst>
                <a:ext uri="{FF2B5EF4-FFF2-40B4-BE49-F238E27FC236}">
                  <a16:creationId xmlns:a16="http://schemas.microsoft.com/office/drawing/2014/main" id="{650677A3-60D1-4616-A467-94C0107E73F4}"/>
                </a:ext>
              </a:extLst>
            </p:cNvPr>
            <p:cNvSpPr txBox="1"/>
            <p:nvPr/>
          </p:nvSpPr>
          <p:spPr>
            <a:xfrm>
              <a:off x="5138700" y="3133064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④</a:t>
              </a:r>
              <a:endParaRPr lang="en-US" sz="1100" dirty="0"/>
            </a:p>
          </p:txBody>
        </p:sp>
      </p:grpSp>
      <p:sp>
        <p:nvSpPr>
          <p:cNvPr id="106" name="Shape 42">
            <a:extLst>
              <a:ext uri="{FF2B5EF4-FFF2-40B4-BE49-F238E27FC236}">
                <a16:creationId xmlns:a16="http://schemas.microsoft.com/office/drawing/2014/main" id="{AC315E1C-02E3-484C-84B2-8A3F76AEDD56}"/>
              </a:ext>
            </a:extLst>
          </p:cNvPr>
          <p:cNvSpPr/>
          <p:nvPr/>
        </p:nvSpPr>
        <p:spPr>
          <a:xfrm>
            <a:off x="400396" y="5733441"/>
            <a:ext cx="707535" cy="276999"/>
          </a:xfrm>
          <a:prstGeom prst="roundRect">
            <a:avLst>
              <a:gd name="adj" fmla="val 6579"/>
            </a:avLst>
          </a:prstGeom>
          <a:solidFill>
            <a:srgbClr val="EEF2FB"/>
          </a:solidFill>
          <a:ln w="15875">
            <a:solidFill>
              <a:srgbClr val="F5F6F7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2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sp>
        <p:nvSpPr>
          <p:cNvPr id="107" name="Shape 28">
            <a:extLst>
              <a:ext uri="{FF2B5EF4-FFF2-40B4-BE49-F238E27FC236}">
                <a16:creationId xmlns:a16="http://schemas.microsoft.com/office/drawing/2014/main" id="{0CFB4321-FE9B-4AAD-9EF6-52376E8AACEE}"/>
              </a:ext>
            </a:extLst>
          </p:cNvPr>
          <p:cNvSpPr/>
          <p:nvPr/>
        </p:nvSpPr>
        <p:spPr>
          <a:xfrm>
            <a:off x="400396" y="4632082"/>
            <a:ext cx="707535" cy="276999"/>
          </a:xfrm>
          <a:prstGeom prst="roundRect">
            <a:avLst>
              <a:gd name="adj" fmla="val 6579"/>
            </a:avLst>
          </a:prstGeom>
          <a:solidFill>
            <a:srgbClr val="F9FAFB"/>
          </a:solidFill>
          <a:ln w="12700">
            <a:solidFill>
              <a:srgbClr val="E1E6F0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1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9CF1A2E-1375-47D1-B83A-B95CC2923E08}"/>
              </a:ext>
            </a:extLst>
          </p:cNvPr>
          <p:cNvCxnSpPr/>
          <p:nvPr/>
        </p:nvCxnSpPr>
        <p:spPr>
          <a:xfrm>
            <a:off x="500611" y="4938602"/>
            <a:ext cx="0" cy="7476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45540B-BDCA-4D49-8046-4282C800EB23}"/>
              </a:ext>
            </a:extLst>
          </p:cNvPr>
          <p:cNvSpPr txBox="1"/>
          <p:nvPr/>
        </p:nvSpPr>
        <p:spPr>
          <a:xfrm>
            <a:off x="1193870" y="5717419"/>
            <a:ext cx="7875945" cy="309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latin typeface="+mn-ea"/>
              </a:rPr>
              <a:t>모델 교체 성능 실험 </a:t>
            </a:r>
            <a:r>
              <a:rPr lang="en-US" altLang="ko-KR" sz="1400">
                <a:latin typeface="+mn-ea"/>
              </a:rPr>
              <a:t>(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gpt-4o-mini </a:t>
            </a:r>
            <a:r>
              <a:rPr lang="ko-KR" altLang="en-US" sz="1400" b="0" i="0">
                <a:solidFill>
                  <a:srgbClr val="1A1A1A"/>
                </a:solidFill>
                <a:effectLst/>
                <a:latin typeface="+mn-ea"/>
              </a:rPr>
              <a:t>→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 GPT-5.6 Luna) </a:t>
            </a:r>
            <a:r>
              <a:rPr lang="ko-KR" altLang="en-US" sz="1400" b="1" i="0">
                <a:solidFill>
                  <a:srgbClr val="0000FF"/>
                </a:solidFill>
                <a:effectLst/>
                <a:latin typeface="+mn-ea"/>
              </a:rPr>
              <a:t>→ 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GPT-5.6 Luna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최종 채택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 </a:t>
            </a:r>
            <a:endParaRPr lang="ko-KR" altLang="en-US" sz="1400" b="1">
              <a:solidFill>
                <a:srgbClr val="0000FF"/>
              </a:solidFill>
              <a:latin typeface="+mn-ea"/>
            </a:endParaRP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20C8211-3D31-46E6-82E2-C5EFC19C1B26}"/>
              </a:ext>
            </a:extLst>
          </p:cNvPr>
          <p:cNvSpPr>
            <a:spLocks noGrp="1"/>
          </p:cNvSpPr>
          <p:nvPr/>
        </p:nvSpPr>
        <p:spPr>
          <a:xfrm>
            <a:off x="6621341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088DAAA8-9DC5-4548-8047-C9B3703B54A9}"/>
              </a:ext>
            </a:extLst>
          </p:cNvPr>
          <p:cNvSpPr>
            <a:spLocks noGrp="1"/>
          </p:cNvSpPr>
          <p:nvPr/>
        </p:nvSpPr>
        <p:spPr>
          <a:xfrm>
            <a:off x="630194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4F5F9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84B7389D-3461-44C3-B2CA-DE323DAC97B3}"/>
              </a:ext>
            </a:extLst>
          </p:cNvPr>
          <p:cNvSpPr>
            <a:spLocks noGrp="1"/>
          </p:cNvSpPr>
          <p:nvPr/>
        </p:nvSpPr>
        <p:spPr>
          <a:xfrm>
            <a:off x="3624568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5F6F8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5D3001-8037-48DC-9746-440618D449FD}"/>
              </a:ext>
            </a:extLst>
          </p:cNvPr>
          <p:cNvSpPr txBox="1"/>
          <p:nvPr/>
        </p:nvSpPr>
        <p:spPr>
          <a:xfrm>
            <a:off x="6621341" y="6095089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배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7BB6A8-827D-4EDC-AE6B-565E6BEBFDB2}"/>
              </a:ext>
            </a:extLst>
          </p:cNvPr>
          <p:cNvSpPr txBox="1"/>
          <p:nvPr/>
        </p:nvSpPr>
        <p:spPr>
          <a:xfrm>
            <a:off x="7399086" y="6133561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응답속도 증가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88ED905-E046-44DE-9BDA-0006DD8D3C5D}"/>
              </a:ext>
            </a:extLst>
          </p:cNvPr>
          <p:cNvSpPr txBox="1"/>
          <p:nvPr/>
        </p:nvSpPr>
        <p:spPr>
          <a:xfrm>
            <a:off x="630194" y="6095089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95%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AFDB677-106A-4343-962D-6C91C9884C51}"/>
              </a:ext>
            </a:extLst>
          </p:cNvPr>
          <p:cNvSpPr txBox="1"/>
          <p:nvPr/>
        </p:nvSpPr>
        <p:spPr>
          <a:xfrm>
            <a:off x="1444249" y="6133561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정확도 추가 향상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BE40E45-98C2-4793-8AC8-477FC71108C5}"/>
              </a:ext>
            </a:extLst>
          </p:cNvPr>
          <p:cNvSpPr txBox="1"/>
          <p:nvPr/>
        </p:nvSpPr>
        <p:spPr>
          <a:xfrm>
            <a:off x="3624568" y="6095089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82%</a:t>
            </a:r>
            <a:endParaRPr lang="ko-KR" altLang="en-US" b="1">
              <a:latin typeface="+mn-ea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EA2E87-4185-45FC-A668-E8AC01F88D80}"/>
              </a:ext>
            </a:extLst>
          </p:cNvPr>
          <p:cNvSpPr txBox="1"/>
          <p:nvPr/>
        </p:nvSpPr>
        <p:spPr>
          <a:xfrm>
            <a:off x="4402196" y="6133561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소폭 감소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83B3707-0892-4A08-A7FB-6485BE76E4F4}"/>
              </a:ext>
            </a:extLst>
          </p:cNvPr>
          <p:cNvSpPr txBox="1"/>
          <p:nvPr/>
        </p:nvSpPr>
        <p:spPr>
          <a:xfrm>
            <a:off x="4402196" y="6450108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82%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BBE5666-1965-47CC-B8D8-0BF7ECE02400}"/>
              </a:ext>
            </a:extLst>
          </p:cNvPr>
          <p:cNvSpPr txBox="1"/>
          <p:nvPr/>
        </p:nvSpPr>
        <p:spPr>
          <a:xfrm>
            <a:off x="1485813" y="6450108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95%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C6FC901-95A0-44B7-B609-F3A9F3CFDA35}"/>
              </a:ext>
            </a:extLst>
          </p:cNvPr>
          <p:cNvSpPr txBox="1"/>
          <p:nvPr/>
        </p:nvSpPr>
        <p:spPr>
          <a:xfrm>
            <a:off x="7399086" y="6450108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정답률은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68%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동일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F83686-E8B4-4E25-B19C-27817329F608}"/>
              </a:ext>
            </a:extLst>
          </p:cNvPr>
          <p:cNvSpPr txBox="1"/>
          <p:nvPr/>
        </p:nvSpPr>
        <p:spPr>
          <a:xfrm>
            <a:off x="1193870" y="4616693"/>
            <a:ext cx="49512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atin typeface="+mn-ea"/>
              </a:rPr>
              <a:t>RAGAS·LangSmith </a:t>
            </a:r>
            <a:r>
              <a:rPr lang="ko-KR" altLang="en-US" sz="1400">
                <a:latin typeface="+mn-ea"/>
              </a:rPr>
              <a:t>기반 평가 및 검색 로직 개선</a:t>
            </a:r>
          </a:p>
        </p:txBody>
      </p:sp>
    </p:spTree>
    <p:extLst>
      <p:ext uri="{BB962C8B-B14F-4D97-AF65-F5344CB8AC3E}">
        <p14:creationId xmlns:p14="http://schemas.microsoft.com/office/powerpoint/2010/main" val="35143932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038944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038944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절차</a:t>
            </a:r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038945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706192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706192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706192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86232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86232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384992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3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384992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384992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/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실제 이메일 수신 여부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04523"/>
            <a:ext cx="225395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/>
              <a:t>메일 발송 로그</a:t>
            </a:r>
            <a:r>
              <a:rPr lang="en-US" altLang="ko-KR" sz="1300"/>
              <a:t>·</a:t>
            </a:r>
            <a:r>
              <a:rPr lang="ko-KR" altLang="en-US" sz="1300"/>
              <a:t>수신함 캡처 </a:t>
            </a:r>
            <a:endParaRPr lang="en-US" altLang="ko-KR" sz="1300"/>
          </a:p>
          <a:p>
            <a:pPr algn="ctr"/>
            <a:r>
              <a:rPr lang="ko-KR" altLang="en-US" sz="1300"/>
              <a:t>정상 동작 검증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081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410813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10/10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36883" y="5975887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532725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3/10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648327" y="5937415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6.0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273554" y="5975887"/>
            <a:ext cx="23588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요청부터 이메일 초안 작성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273554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4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 spc="-80">
                <a:solidFill>
                  <a:srgbClr val="0F64C0"/>
                </a:solidFill>
              </a:rPr>
              <a:t>/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17188" y="4753390"/>
            <a:ext cx="320492" cy="320492"/>
          </a:xfrm>
          <a:prstGeom prst="rect">
            <a:avLst/>
          </a:prstGeom>
        </p:spPr>
      </p:pic>
      <p:pic>
        <p:nvPicPr>
          <p:cNvPr id="51" name="그림 50">
            <a:hlinkClick r:id="rId9" action="ppaction://hlinkfile"/>
            <a:extLst>
              <a:ext uri="{FF2B5EF4-FFF2-40B4-BE49-F238E27FC236}">
                <a16:creationId xmlns:a16="http://schemas.microsoft.com/office/drawing/2014/main" id="{AEE86CA0-2D91-494D-AA7D-58705289DE6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7561" y="1158001"/>
            <a:ext cx="3401618" cy="2548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015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970534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08052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(6/6)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06233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09925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833356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478495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품질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478495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478495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982366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486518"/>
            <a:ext cx="295980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50">
                <a:latin typeface="+mn-ea"/>
              </a:rPr>
              <a:t>핵심 기능 검증</a:t>
            </a:r>
            <a:r>
              <a:rPr lang="en-US" altLang="ko-KR" sz="1300" spc="-50">
                <a:latin typeface="+mn-ea"/>
              </a:rPr>
              <a:t>, </a:t>
            </a:r>
            <a:r>
              <a:rPr lang="ko-KR" altLang="en-US" sz="1300" spc="-50">
                <a:latin typeface="+mn-ea"/>
              </a:rPr>
              <a:t>서버 확인 절차 등 </a:t>
            </a:r>
            <a:endParaRPr lang="en-US" altLang="ko-KR" sz="1300" spc="-50">
              <a:latin typeface="+mn-ea"/>
            </a:endParaRPr>
          </a:p>
          <a:p>
            <a:r>
              <a:rPr lang="ko-KR" altLang="en-US" sz="1300" spc="-50">
                <a:latin typeface="+mn-ea"/>
              </a:rPr>
              <a:t>안전장치 보완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982366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982366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15347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14458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21991" y="1878502"/>
            <a:ext cx="4568663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Python </a:t>
            </a:r>
            <a:r>
              <a:rPr lang="ko-KR" altLang="en-US" sz="1400" spc="-40">
                <a:latin typeface="+mn-ea"/>
              </a:rPr>
              <a:t>기초</a:t>
            </a:r>
            <a:r>
              <a:rPr lang="en-US" altLang="ko-KR" sz="1400" spc="-40">
                <a:latin typeface="+mn-ea"/>
              </a:rPr>
              <a:t>, VS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Code,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GitHub, LangChain, RAG </a:t>
            </a:r>
            <a:r>
              <a:rPr lang="ko-KR" altLang="en-US" sz="1400" spc="-40">
                <a:latin typeface="+mn-ea"/>
              </a:rPr>
              <a:t>등</a:t>
            </a:r>
            <a:endParaRPr lang="en-US" altLang="ko-KR" sz="1400" spc="-4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400" spc="-40">
                <a:latin typeface="+mn-ea"/>
              </a:rPr>
              <a:t>  </a:t>
            </a:r>
            <a:r>
              <a:rPr lang="ko-KR" altLang="en-US" sz="1400" spc="-40">
                <a:latin typeface="+mn-ea"/>
              </a:rPr>
              <a:t>새로운 개념 학습</a:t>
            </a: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→ 실제 웹 서비스 구현에 활용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 골든셋 평가로 주관부서 매칭 정확도 </a:t>
            </a:r>
            <a:r>
              <a:rPr lang="en-US" altLang="ko-KR" sz="1400" spc="-40">
                <a:latin typeface="+mn-ea"/>
              </a:rPr>
              <a:t>79</a:t>
            </a:r>
            <a:r>
              <a:rPr lang="ko-KR" altLang="en-US" sz="1400" spc="-40">
                <a:latin typeface="+mn-ea"/>
              </a:rPr>
              <a:t>→</a:t>
            </a:r>
            <a:r>
              <a:rPr lang="en-US" altLang="ko-KR" sz="1400" spc="-40">
                <a:latin typeface="+mn-ea"/>
              </a:rPr>
              <a:t>95% </a:t>
            </a:r>
            <a:r>
              <a:rPr lang="ko-KR" altLang="en-US" sz="1400" spc="-40">
                <a:latin typeface="+mn-ea"/>
              </a:rPr>
              <a:t>개선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LangSmith</a:t>
            </a:r>
            <a:r>
              <a:rPr lang="ko-KR" altLang="en-US" sz="1400" spc="-40">
                <a:latin typeface="+mn-ea"/>
              </a:rPr>
              <a:t> 트레이싱</a:t>
            </a:r>
            <a:r>
              <a:rPr lang="en-US" altLang="ko-KR" sz="1400" spc="-40">
                <a:latin typeface="+mn-ea"/>
              </a:rPr>
              <a:t>·</a:t>
            </a:r>
            <a:r>
              <a:rPr lang="ko-KR" altLang="en-US" sz="1400" spc="-40">
                <a:latin typeface="+mn-ea"/>
              </a:rPr>
              <a:t>자동 채점 시스템 구축 </a:t>
            </a:r>
            <a:endParaRPr lang="en-US" altLang="ko-KR" sz="1400" spc="-4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15345" y="1878502"/>
            <a:ext cx="5219699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회사 지침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규정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프로세스 데이터 추가 확보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실제 업무 데이터로 다양한 상황 검증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임베딩 유사도만으로 애매한 경계 사례 보완 </a:t>
            </a:r>
            <a:r>
              <a:rPr lang="en-US" altLang="ko-KR" sz="1400" spc="-40">
                <a:latin typeface="+mn-ea"/>
              </a:rPr>
              <a:t>(Reranking)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현업 사용자 의견을 반영한 서비스 향상</a:t>
            </a:r>
            <a:endParaRPr lang="en-US" altLang="ko-KR" sz="140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662058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62947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</p:spTree>
    <p:extLst>
      <p:ext uri="{BB962C8B-B14F-4D97-AF65-F5344CB8AC3E}">
        <p14:creationId xmlns:p14="http://schemas.microsoft.com/office/powerpoint/2010/main" val="3935725679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1377</TotalTime>
  <Words>1195</Words>
  <Application>Microsoft Office PowerPoint</Application>
  <DocSecurity>0</DocSecurity>
  <PresentationFormat>A4 용지(210x297mm)</PresentationFormat>
  <Paragraphs>200</Paragraphs>
  <Slides>7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4" baseType="lpstr">
      <vt:lpstr>HY견고딕</vt:lpstr>
      <vt:lpstr>맑은 고딕</vt:lpstr>
      <vt:lpstr>Calibri Light</vt:lpstr>
      <vt:lpstr>Arial</vt:lpstr>
      <vt:lpstr>Calibri</vt:lpstr>
      <vt:lpstr>Wingdings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270</cp:revision>
  <dcterms:created xsi:type="dcterms:W3CDTF">2026-09-04T08:20:33Z</dcterms:created>
  <dcterms:modified xsi:type="dcterms:W3CDTF">2026-09-12T16:10:25Z</dcterms:modified>
</cp:coreProperties>
</file>