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9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7953E7-6F79-4584-A170-1EE178228B77}"/>
              </a:ext>
            </a:extLst>
          </p:cNvPr>
          <p:cNvGrpSpPr/>
          <p:nvPr/>
        </p:nvGrpSpPr>
        <p:grpSpPr>
          <a:xfrm>
            <a:off x="353354" y="1148234"/>
            <a:ext cx="4667625" cy="2740566"/>
            <a:chOff x="5083914" y="1148234"/>
            <a:chExt cx="4667625" cy="2740566"/>
          </a:xfrm>
        </p:grpSpPr>
        <p:sp>
          <p:nvSpPr>
            <p:cNvPr id="91" name="Shape 10">
              <a:extLst>
                <a:ext uri="{FF2B5EF4-FFF2-40B4-BE49-F238E27FC236}">
                  <a16:creationId xmlns:a16="http://schemas.microsoft.com/office/drawing/2014/main" id="{77EBBBFD-D2F1-4392-809F-F0195F6E44BA}"/>
                </a:ext>
              </a:extLst>
            </p:cNvPr>
            <p:cNvSpPr/>
            <p:nvPr/>
          </p:nvSpPr>
          <p:spPr>
            <a:xfrm>
              <a:off x="5083914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B672848-9232-48EB-84F0-A2D7E7FC53E4}"/>
                </a:ext>
              </a:extLst>
            </p:cNvPr>
            <p:cNvSpPr txBox="1"/>
            <p:nvPr/>
          </p:nvSpPr>
          <p:spPr>
            <a:xfrm>
              <a:off x="5481206" y="1509840"/>
              <a:ext cx="4270333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기존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판단을 먼저 확인하고 보완하던 로직을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부서 간 유사도 점수 격차 기반 판정으로 정밀화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9B9AAB53-0B27-4520-97FA-828CD93836DC}"/>
                </a:ext>
              </a:extLst>
            </p:cNvPr>
            <p:cNvSpPr/>
            <p:nvPr/>
          </p:nvSpPr>
          <p:spPr>
            <a:xfrm>
              <a:off x="5084181" y="1148234"/>
              <a:ext cx="4534956" cy="315690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30">
                  <a:latin typeface="+mn-ea"/>
                </a:rPr>
                <a:t>핵심 개선 포인트</a:t>
              </a:r>
              <a:endParaRPr lang="ko-KR" altLang="en-US" sz="1500" b="1" spc="-3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DFF6387-7555-4BF0-9DD1-E09D88E6A124}"/>
                </a:ext>
              </a:extLst>
            </p:cNvPr>
            <p:cNvSpPr txBox="1"/>
            <p:nvPr/>
          </p:nvSpPr>
          <p:spPr>
            <a:xfrm>
              <a:off x="5481206" y="2278539"/>
              <a:ext cx="3891395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300" spc="-40">
                  <a:latin typeface="+mn-ea"/>
                </a:rPr>
                <a:t>협업부서 과다 포함 문제 개선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4900A9D-240F-436D-89BF-AE73FC002740}"/>
                </a:ext>
              </a:extLst>
            </p:cNvPr>
            <p:cNvSpPr txBox="1"/>
            <p:nvPr/>
          </p:nvSpPr>
          <p:spPr>
            <a:xfrm>
              <a:off x="5481206" y="2773463"/>
              <a:ext cx="405760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금액 비교 </a:t>
              </a:r>
              <a:r>
                <a:rPr lang="en-US" altLang="ko-KR" sz="1300" spc="-40">
                  <a:latin typeface="+mn-ea"/>
                </a:rPr>
                <a:t>:</a:t>
              </a:r>
              <a:r>
                <a:rPr lang="ko-KR" altLang="en-US" sz="1300" spc="-40">
                  <a:latin typeface="+mn-ea"/>
                </a:rPr>
                <a:t>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판단에서 직접 코드 계산으로 수정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E2ABFA0-B640-4B8D-91A7-CD720C8B254A}"/>
                </a:ext>
              </a:extLst>
            </p:cNvPr>
            <p:cNvSpPr txBox="1"/>
            <p:nvPr/>
          </p:nvSpPr>
          <p:spPr>
            <a:xfrm>
              <a:off x="5481206" y="3235224"/>
              <a:ext cx="4070426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반복 재평가로 개선 효과 정량적 확인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en-US" altLang="ko-KR" sz="1300" spc="-80">
                  <a:latin typeface="+mn-ea"/>
                </a:rPr>
                <a:t>3</a:t>
              </a:r>
              <a:r>
                <a:rPr lang="ko-KR" altLang="en-US" sz="1300" spc="-80">
                  <a:latin typeface="+mn-ea"/>
                </a:rPr>
                <a:t>라운드에 걸쳐 정답률 단계적 개선 </a:t>
              </a:r>
              <a:r>
                <a:rPr lang="en-US" altLang="ko-KR" sz="1300" spc="-80">
                  <a:latin typeface="+mn-ea"/>
                </a:rPr>
                <a:t>(37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58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68%)</a:t>
              </a:r>
              <a:endParaRPr lang="ko-KR" altLang="en-US" sz="1300" spc="-80">
                <a:latin typeface="+mn-ea"/>
              </a:endParaRPr>
            </a:p>
          </p:txBody>
        </p:sp>
        <p:sp>
          <p:nvSpPr>
            <p:cNvPr id="83" name="Shape 13">
              <a:extLst>
                <a:ext uri="{FF2B5EF4-FFF2-40B4-BE49-F238E27FC236}">
                  <a16:creationId xmlns:a16="http://schemas.microsoft.com/office/drawing/2014/main" id="{43B3D376-C513-46D1-9C26-F6D7752A13E3}"/>
                </a:ext>
              </a:extLst>
            </p:cNvPr>
            <p:cNvSpPr/>
            <p:nvPr/>
          </p:nvSpPr>
          <p:spPr>
            <a:xfrm>
              <a:off x="5142201" y="2139561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2" name="Shape 13">
              <a:extLst>
                <a:ext uri="{FF2B5EF4-FFF2-40B4-BE49-F238E27FC236}">
                  <a16:creationId xmlns:a16="http://schemas.microsoft.com/office/drawing/2014/main" id="{51DCD47B-4DFF-40D8-B95D-6FB1EC923583}"/>
                </a:ext>
              </a:extLst>
            </p:cNvPr>
            <p:cNvSpPr/>
            <p:nvPr/>
          </p:nvSpPr>
          <p:spPr>
            <a:xfrm>
              <a:off x="5142201" y="2666037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3" name="Shape 13">
              <a:extLst>
                <a:ext uri="{FF2B5EF4-FFF2-40B4-BE49-F238E27FC236}">
                  <a16:creationId xmlns:a16="http://schemas.microsoft.com/office/drawing/2014/main" id="{9941CAED-E556-4C11-8F86-414A92C0FA47}"/>
                </a:ext>
              </a:extLst>
            </p:cNvPr>
            <p:cNvSpPr/>
            <p:nvPr/>
          </p:nvSpPr>
          <p:spPr>
            <a:xfrm>
              <a:off x="5142201" y="3161340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625F4FE-8A54-4D58-9822-FCE06239A855}"/>
                </a:ext>
              </a:extLst>
            </p:cNvPr>
            <p:cNvGrpSpPr/>
            <p:nvPr/>
          </p:nvGrpSpPr>
          <p:grpSpPr>
            <a:xfrm>
              <a:off x="5167245" y="1635405"/>
              <a:ext cx="302999" cy="292608"/>
              <a:chOff x="5104899" y="1637275"/>
              <a:chExt cx="302999" cy="292608"/>
            </a:xfrm>
          </p:grpSpPr>
          <p:sp>
            <p:nvSpPr>
              <p:cNvPr id="94" name="Shape 30">
                <a:extLst>
                  <a:ext uri="{FF2B5EF4-FFF2-40B4-BE49-F238E27FC236}">
                    <a16:creationId xmlns:a16="http://schemas.microsoft.com/office/drawing/2014/main" id="{CD81A531-94E3-4523-997E-14DD3635E491}"/>
                  </a:ext>
                </a:extLst>
              </p:cNvPr>
              <p:cNvSpPr/>
              <p:nvPr/>
            </p:nvSpPr>
            <p:spPr>
              <a:xfrm>
                <a:off x="5115290" y="1637275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5" name="Text 31">
                <a:extLst>
                  <a:ext uri="{FF2B5EF4-FFF2-40B4-BE49-F238E27FC236}">
                    <a16:creationId xmlns:a16="http://schemas.microsoft.com/office/drawing/2014/main" id="{92B37005-93DC-4E2A-BE51-A581879D47A5}"/>
                  </a:ext>
                </a:extLst>
              </p:cNvPr>
              <p:cNvSpPr txBox="1"/>
              <p:nvPr/>
            </p:nvSpPr>
            <p:spPr>
              <a:xfrm>
                <a:off x="5104899" y="1637275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1</a:t>
                </a:r>
                <a:endParaRPr lang="en-US" sz="1100" dirty="0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244287C-C3BD-435E-B1A5-C00D3FC74BA6}"/>
                </a:ext>
              </a:extLst>
            </p:cNvPr>
            <p:cNvGrpSpPr/>
            <p:nvPr/>
          </p:nvGrpSpPr>
          <p:grpSpPr>
            <a:xfrm>
              <a:off x="5172440" y="2275225"/>
              <a:ext cx="292608" cy="299016"/>
              <a:chOff x="5136072" y="2166708"/>
              <a:chExt cx="292608" cy="299016"/>
            </a:xfrm>
          </p:grpSpPr>
          <p:sp>
            <p:nvSpPr>
              <p:cNvPr id="97" name="Shape 37">
                <a:extLst>
                  <a:ext uri="{FF2B5EF4-FFF2-40B4-BE49-F238E27FC236}">
                    <a16:creationId xmlns:a16="http://schemas.microsoft.com/office/drawing/2014/main" id="{1B148B0F-10A7-4F4E-8A58-BC82DB48E4BD}"/>
                  </a:ext>
                </a:extLst>
              </p:cNvPr>
              <p:cNvSpPr/>
              <p:nvPr/>
            </p:nvSpPr>
            <p:spPr>
              <a:xfrm>
                <a:off x="5136072" y="2166708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8" name="Text 38">
                <a:extLst>
                  <a:ext uri="{FF2B5EF4-FFF2-40B4-BE49-F238E27FC236}">
                    <a16:creationId xmlns:a16="http://schemas.microsoft.com/office/drawing/2014/main" id="{C2E0313E-BD3A-4030-92D2-32CA044D15B8}"/>
                  </a:ext>
                </a:extLst>
              </p:cNvPr>
              <p:cNvSpPr txBox="1"/>
              <p:nvPr/>
            </p:nvSpPr>
            <p:spPr>
              <a:xfrm>
                <a:off x="5136072" y="2173116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2</a:t>
                </a:r>
                <a:endParaRPr lang="en-US" sz="1100" dirty="0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69D93BA-3E5C-4002-ACDD-7BEA859B8BB1}"/>
                </a:ext>
              </a:extLst>
            </p:cNvPr>
            <p:cNvGrpSpPr/>
            <p:nvPr/>
          </p:nvGrpSpPr>
          <p:grpSpPr>
            <a:xfrm>
              <a:off x="5172440" y="2773353"/>
              <a:ext cx="292608" cy="292608"/>
              <a:chOff x="5169505" y="2581811"/>
              <a:chExt cx="292608" cy="292608"/>
            </a:xfrm>
          </p:grpSpPr>
          <p:sp>
            <p:nvSpPr>
              <p:cNvPr id="99" name="Shape 44">
                <a:extLst>
                  <a:ext uri="{FF2B5EF4-FFF2-40B4-BE49-F238E27FC236}">
                    <a16:creationId xmlns:a16="http://schemas.microsoft.com/office/drawing/2014/main" id="{77E93DDA-3659-417A-AA88-5CC2EF9C9722}"/>
                  </a:ext>
                </a:extLst>
              </p:cNvPr>
              <p:cNvSpPr/>
              <p:nvPr/>
            </p:nvSpPr>
            <p:spPr>
              <a:xfrm>
                <a:off x="5169505" y="2581811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0" name="Text 45">
                <a:extLst>
                  <a:ext uri="{FF2B5EF4-FFF2-40B4-BE49-F238E27FC236}">
                    <a16:creationId xmlns:a16="http://schemas.microsoft.com/office/drawing/2014/main" id="{1B11820E-2590-4B03-BCD9-CD2AFC647CDC}"/>
                  </a:ext>
                </a:extLst>
              </p:cNvPr>
              <p:cNvSpPr txBox="1"/>
              <p:nvPr/>
            </p:nvSpPr>
            <p:spPr>
              <a:xfrm>
                <a:off x="5169505" y="2581811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3</a:t>
                </a:r>
                <a:endParaRPr lang="en-US" sz="1100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1B0BF19-3E8E-425D-A7F3-CC7FF5E35BD2}"/>
                </a:ext>
              </a:extLst>
            </p:cNvPr>
            <p:cNvGrpSpPr/>
            <p:nvPr/>
          </p:nvGrpSpPr>
          <p:grpSpPr>
            <a:xfrm>
              <a:off x="5172440" y="3360789"/>
              <a:ext cx="292608" cy="292608"/>
              <a:chOff x="5138700" y="3133064"/>
              <a:chExt cx="292608" cy="292608"/>
            </a:xfrm>
          </p:grpSpPr>
          <p:sp>
            <p:nvSpPr>
              <p:cNvPr id="102" name="Shape 51">
                <a:extLst>
                  <a:ext uri="{FF2B5EF4-FFF2-40B4-BE49-F238E27FC236}">
                    <a16:creationId xmlns:a16="http://schemas.microsoft.com/office/drawing/2014/main" id="{B511D697-374B-459E-A7D8-8DAB1E6E896A}"/>
                  </a:ext>
                </a:extLst>
              </p:cNvPr>
              <p:cNvSpPr/>
              <p:nvPr/>
            </p:nvSpPr>
            <p:spPr>
              <a:xfrm>
                <a:off x="5138700" y="3133064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3" name="Text 52">
                <a:extLst>
                  <a:ext uri="{FF2B5EF4-FFF2-40B4-BE49-F238E27FC236}">
                    <a16:creationId xmlns:a16="http://schemas.microsoft.com/office/drawing/2014/main" id="{650677A3-60D1-4616-A467-94C0107E73F4}"/>
                  </a:ext>
                </a:extLst>
              </p:cNvPr>
              <p:cNvSpPr txBox="1"/>
              <p:nvPr/>
            </p:nvSpPr>
            <p:spPr>
              <a:xfrm>
                <a:off x="5138700" y="3133064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4</a:t>
                </a:r>
                <a:endParaRPr lang="en-US" sz="1100" dirty="0"/>
              </a:p>
            </p:txBody>
          </p:sp>
        </p:grp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5A3DDC95-2A12-4E49-9088-F184AAF0B7B6}"/>
              </a:ext>
            </a:extLst>
          </p:cNvPr>
          <p:cNvGrpSpPr/>
          <p:nvPr/>
        </p:nvGrpSpPr>
        <p:grpSpPr>
          <a:xfrm>
            <a:off x="5033223" y="1148234"/>
            <a:ext cx="4535223" cy="2788065"/>
            <a:chOff x="351453" y="1148234"/>
            <a:chExt cx="4535223" cy="2788065"/>
          </a:xfrm>
        </p:grpSpPr>
        <p:sp>
          <p:nvSpPr>
            <p:cNvPr id="65" name="Shape 10">
              <a:extLst>
                <a:ext uri="{FF2B5EF4-FFF2-40B4-BE49-F238E27FC236}">
                  <a16:creationId xmlns:a16="http://schemas.microsoft.com/office/drawing/2014/main" id="{22591E7D-BAF5-475C-94CC-AFCA136B26C8}"/>
                </a:ext>
              </a:extLst>
            </p:cNvPr>
            <p:cNvSpPr/>
            <p:nvPr/>
          </p:nvSpPr>
          <p:spPr>
            <a:xfrm>
              <a:off x="351453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0C020AD-6E54-46E0-97B0-59A01BE40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8361" y="1459854"/>
              <a:ext cx="4445565" cy="2254216"/>
            </a:xfrm>
            <a:prstGeom prst="rect">
              <a:avLst/>
            </a:prstGeom>
          </p:spPr>
        </p:pic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8C1FA852-ED91-4F3E-B886-6380C80049D8}"/>
                </a:ext>
              </a:extLst>
            </p:cNvPr>
            <p:cNvSpPr/>
            <p:nvPr/>
          </p:nvSpPr>
          <p:spPr>
            <a:xfrm>
              <a:off x="351453" y="1148234"/>
              <a:ext cx="4534956" cy="30731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500" b="1" spc="-30">
                  <a:latin typeface="+mn-ea"/>
                </a:rPr>
                <a:t>LangSmith</a:t>
              </a:r>
              <a:r>
                <a:rPr lang="ko-KR" altLang="en-US" sz="1500" b="1" spc="-30">
                  <a:latin typeface="+mn-ea"/>
                </a:rPr>
                <a:t>로 자동 채점된 테스트셋 평가 결과</a:t>
              </a:r>
              <a:r>
                <a:rPr lang="en-US" altLang="ko-KR" sz="1500" b="1" spc="-30">
                  <a:latin typeface="+mn-ea"/>
                </a:rPr>
                <a:t>*</a:t>
              </a:r>
              <a:endParaRPr lang="ko-KR" altLang="en-US" sz="1500" b="1" spc="-3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1399A8-F879-4FEC-9DFB-1D11467EC11B}"/>
                </a:ext>
              </a:extLst>
            </p:cNvPr>
            <p:cNvSpPr txBox="1"/>
            <p:nvPr/>
          </p:nvSpPr>
          <p:spPr>
            <a:xfrm>
              <a:off x="2566555" y="3674689"/>
              <a:ext cx="22865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>
                  <a:latin typeface="+mn-ea"/>
                </a:rPr>
                <a:t>* </a:t>
              </a:r>
              <a:r>
                <a:rPr lang="ko-KR" altLang="en-US" sz="1100">
                  <a:latin typeface="+mn-ea"/>
                </a:rPr>
                <a:t>테스트셋 </a:t>
              </a:r>
              <a:r>
                <a:rPr lang="en-US" altLang="ko-KR" sz="1100">
                  <a:latin typeface="+mn-ea"/>
                </a:rPr>
                <a:t>19</a:t>
              </a:r>
              <a:r>
                <a:rPr lang="ko-KR" altLang="en-US" sz="1100">
                  <a:latin typeface="+mn-ea"/>
                </a:rPr>
                <a:t>건 기준</a:t>
              </a: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879A11C-BFE7-4663-8070-C7683062E7FC}"/>
                </a:ext>
              </a:extLst>
            </p:cNvPr>
            <p:cNvGrpSpPr/>
            <p:nvPr/>
          </p:nvGrpSpPr>
          <p:grpSpPr>
            <a:xfrm>
              <a:off x="1065233" y="2172115"/>
              <a:ext cx="3820041" cy="551408"/>
              <a:chOff x="-3319430" y="2677076"/>
              <a:chExt cx="3820041" cy="55140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034B27B-D7F7-49BF-8CF1-7AA52843A412}"/>
                  </a:ext>
                </a:extLst>
              </p:cNvPr>
              <p:cNvSpPr/>
              <p:nvPr/>
            </p:nvSpPr>
            <p:spPr>
              <a:xfrm>
                <a:off x="-3319430" y="2677076"/>
                <a:ext cx="3820041" cy="551408"/>
              </a:xfrm>
              <a:prstGeom prst="roundRect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2414B01-EA20-4F93-BFED-40DAB6411F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254283" y="2706981"/>
                <a:ext cx="3711262" cy="487624"/>
              </a:xfrm>
              <a:prstGeom prst="rect">
                <a:avLst/>
              </a:prstGeom>
              <a:noFill/>
              <a:ln w="19050">
                <a:noFill/>
              </a:ln>
            </p:spPr>
          </p:pic>
        </p:grp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3369A65-3330-4382-810B-16F512116A9D}"/>
                </a:ext>
              </a:extLst>
            </p:cNvPr>
            <p:cNvSpPr/>
            <p:nvPr/>
          </p:nvSpPr>
          <p:spPr>
            <a:xfrm>
              <a:off x="3278007" y="1601231"/>
              <a:ext cx="1597664" cy="169741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80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품질을 높이기 위한 기법 추가 적용 </a:t>
            </a:r>
            <a:r>
              <a:rPr lang="en-US" altLang="ko-KR" sz="1300" spc="-40">
                <a:latin typeface="+mn-ea"/>
              </a:rPr>
              <a:t>(Reranking, HyDE)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</TotalTime>
  <Words>1321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맑은 고딕</vt:lpstr>
      <vt:lpstr>Calibri Light</vt:lpstr>
      <vt:lpstr>Arial</vt:lpstr>
      <vt:lpstr>Calibri</vt:lpstr>
      <vt:lpstr>Wingdings</vt:lpstr>
      <vt:lpstr>HY견고딕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310</cp:revision>
  <dcterms:created xsi:type="dcterms:W3CDTF">2026-09-04T08:20:33Z</dcterms:created>
  <dcterms:modified xsi:type="dcterms:W3CDTF">2026-09-15T01:59:35Z</dcterms:modified>
</cp:coreProperties>
</file>