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50" r:id="rId1"/>
  </p:sldMasterIdLst>
  <p:notesMasterIdLst>
    <p:notesMasterId r:id="rId9"/>
  </p:notesMasterIdLst>
  <p:sldIdLst>
    <p:sldId id="256" r:id="rId2"/>
    <p:sldId id="284" r:id="rId3"/>
    <p:sldId id="285" r:id="rId4"/>
    <p:sldId id="279" r:id="rId5"/>
    <p:sldId id="282" r:id="rId6"/>
    <p:sldId id="280" r:id="rId7"/>
    <p:sldId id="283" r:id="rId8"/>
  </p:sldIdLst>
  <p:sldSz cx="9906000" cy="6858000" type="A4"/>
  <p:notesSz cx="6858000" cy="9144000"/>
  <p:embeddedFontLst>
    <p:embeddedFont>
      <p:font typeface="Calibri" panose="020F0502020204030204" pitchFamily="34" charset="0"/>
      <p:regular r:id="rId10"/>
      <p:bold r:id="rId11"/>
      <p:italic r:id="rId12"/>
      <p:boldItalic r:id="rId13"/>
    </p:embeddedFont>
    <p:embeddedFont>
      <p:font typeface="Calibri Light" panose="020F0302020204030204" pitchFamily="34" charset="0"/>
      <p:regular r:id="rId14"/>
      <p:italic r:id="rId15"/>
    </p:embeddedFont>
    <p:embeddedFont>
      <p:font typeface="HY견고딕" panose="02030600000101010101" pitchFamily="18" charset="-127"/>
      <p:regular r:id="rId16"/>
    </p:embeddedFont>
    <p:embeddedFont>
      <p:font typeface="맑은 고딕" panose="020B0503020000020004" pitchFamily="50" charset="-127"/>
      <p:regular r:id="rId17"/>
      <p:bold r:id="rId18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5F6F7"/>
    <a:srgbClr val="F5F6F8"/>
    <a:srgbClr val="DFE2E7"/>
    <a:srgbClr val="DDE0E5"/>
    <a:srgbClr val="F4F5F9"/>
    <a:srgbClr val="E1E6F0"/>
    <a:srgbClr val="779FE0"/>
    <a:srgbClr val="EDF1FA"/>
    <a:srgbClr val="F4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1327" autoAdjust="0"/>
  </p:normalViewPr>
  <p:slideViewPr>
    <p:cSldViewPr snapToGrid="0">
      <p:cViewPr varScale="1">
        <p:scale>
          <a:sx n="74" d="100"/>
          <a:sy n="74" d="100"/>
        </p:scale>
        <p:origin x="1464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4.fntdata"/><Relationship Id="rId18" Type="http://schemas.openxmlformats.org/officeDocument/2006/relationships/font" Target="fonts/font9.fntdata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font" Target="fonts/font3.fntdata"/><Relationship Id="rId17" Type="http://schemas.openxmlformats.org/officeDocument/2006/relationships/font" Target="fonts/font8.fntdata"/><Relationship Id="rId2" Type="http://schemas.openxmlformats.org/officeDocument/2006/relationships/slide" Target="slides/slide1.xml"/><Relationship Id="rId16" Type="http://schemas.openxmlformats.org/officeDocument/2006/relationships/font" Target="fonts/font7.fntdata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font" Target="fonts/font6.fntdata"/><Relationship Id="rId10" Type="http://schemas.openxmlformats.org/officeDocument/2006/relationships/font" Target="fonts/font1.fntdata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font" Target="fonts/font5.fntdata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869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72777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852726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2609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50282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25447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014394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37435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110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973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51221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10552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38080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01167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C0F0B2-DC44-4D7F-B9BC-23EB46679998}" type="datetimeFigureOut">
              <a:rPr lang="ko-KR" altLang="en-US" smtClean="0"/>
              <a:t>2026-09-13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F5F6E0-E4C1-4D32-8605-C37E4FBD9F94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7" name="Picture 1" descr="PPT-A3.jpg">
            <a:extLst>
              <a:ext uri="{FF2B5EF4-FFF2-40B4-BE49-F238E27FC236}">
                <a16:creationId xmlns:a16="http://schemas.microsoft.com/office/drawing/2014/main" id="{DE8B8C1A-8256-4308-B61E-14996DBA522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88495"/>
          <a:stretch/>
        </p:blipFill>
        <p:spPr>
          <a:xfrm>
            <a:off x="0" y="0"/>
            <a:ext cx="9906000" cy="6189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6320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11" Type="http://schemas.openxmlformats.org/officeDocument/2006/relationships/image" Target="../media/image12.svg"/><Relationship Id="rId5" Type="http://schemas.openxmlformats.org/officeDocument/2006/relationships/image" Target="../media/image6.sv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svg"/><Relationship Id="rId14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image" Target="../media/image4.png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17.svg"/><Relationship Id="rId4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2.svg"/><Relationship Id="rId7" Type="http://schemas.openxmlformats.org/officeDocument/2006/relationships/image" Target="../media/image2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png"/><Relationship Id="rId9" Type="http://schemas.openxmlformats.org/officeDocument/2006/relationships/image" Target="../media/image27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svg"/><Relationship Id="rId3" Type="http://schemas.openxmlformats.org/officeDocument/2006/relationships/image" Target="../media/image22.svg"/><Relationship Id="rId7" Type="http://schemas.openxmlformats.org/officeDocument/2006/relationships/image" Target="../media/image31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29.png"/><Relationship Id="rId10" Type="http://schemas.openxmlformats.org/officeDocument/2006/relationships/image" Target="../media/image33.png"/><Relationship Id="rId4" Type="http://schemas.openxmlformats.org/officeDocument/2006/relationships/image" Target="../media/image4.png"/><Relationship Id="rId9" Type="http://schemas.openxmlformats.org/officeDocument/2006/relationships/hyperlink" Target="department-workflow-demo-ai-match.mp4" TargetMode="Externa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3F7457-F4CC-44F8-B8E5-ABFFB72D5E8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4" name="Picture 1" descr="01.jpg">
            <a:extLst>
              <a:ext uri="{FF2B5EF4-FFF2-40B4-BE49-F238E27FC236}">
                <a16:creationId xmlns:a16="http://schemas.microsoft.com/office/drawing/2014/main" id="{132316C5-A493-4055-91A0-050D22AA5C9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906001" cy="6858000"/>
          </a:xfrm>
          <a:prstGeom prst="rect">
            <a:avLst/>
          </a:prstGeom>
        </p:spPr>
      </p:pic>
      <p:pic>
        <p:nvPicPr>
          <p:cNvPr id="5" name="Picture 2" descr="https://menu.mt.co.kr/moneyweek/thumb/2023/02/24/06/2023022414024538009_1.jpg">
            <a:extLst>
              <a:ext uri="{FF2B5EF4-FFF2-40B4-BE49-F238E27FC236}">
                <a16:creationId xmlns:a16="http://schemas.microsoft.com/office/drawing/2014/main" id="{D10E8ADE-AC02-4C77-A4D3-25F246A9A8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02542" y="206132"/>
            <a:ext cx="1054351" cy="4188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3">
            <a:extLst>
              <a:ext uri="{FF2B5EF4-FFF2-40B4-BE49-F238E27FC236}">
                <a16:creationId xmlns:a16="http://schemas.microsoft.com/office/drawing/2014/main" id="{268A812F-28C0-44F1-9199-2D205E7BAD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3357" y="5533834"/>
            <a:ext cx="1404000" cy="3488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’26. </a:t>
            </a:r>
            <a:r>
              <a:rPr lang="en-US" altLang="ko-KR" sz="2000" b="1" dirty="0">
                <a:solidFill>
                  <a:prstClr val="black"/>
                </a:solidFill>
                <a:latin typeface="맑은 고딕" pitchFamily="50" charset="-127"/>
                <a:ea typeface="맑은 고딕" pitchFamily="50" charset="-127"/>
              </a:rPr>
              <a:t>9</a:t>
            </a:r>
            <a:r>
              <a:rPr kumimoji="0" lang="en-US" altLang="ko-KR" sz="20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. 16.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7" name="Rectangle 4">
            <a:extLst>
              <a:ext uri="{FF2B5EF4-FFF2-40B4-BE49-F238E27FC236}">
                <a16:creationId xmlns:a16="http://schemas.microsoft.com/office/drawing/2014/main" id="{BCD8B51F-1031-48AA-8217-E73F0CBD4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4883" y="6064424"/>
            <a:ext cx="4580949" cy="35182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0" marR="0" lvl="0" indent="0" algn="ctr" defTabSz="914400" rtl="0" eaLnBrk="0" fontAlgn="auto" latinLnBrk="0" hangingPunct="0">
              <a:lnSpc>
                <a:spcPts val="1965"/>
              </a:lnSpc>
              <a:spcBef>
                <a:spcPts val="491"/>
              </a:spcBef>
              <a:spcAft>
                <a:spcPts val="0"/>
              </a:spcAft>
              <a:buClr>
                <a:srgbClr val="003399"/>
              </a:buClr>
              <a:buSzTx/>
              <a:buFontTx/>
              <a:buNone/>
              <a:tabLst/>
              <a:defRPr/>
            </a:pPr>
            <a:r>
              <a:rPr kumimoji="0" lang="ko-KR" altLang="en-US" sz="2400" b="1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itchFamily="50" charset="-127"/>
                <a:ea typeface="맑은 고딕" pitchFamily="50" charset="-127"/>
                <a:cs typeface="+mn-cs"/>
              </a:rPr>
              <a:t>포스코퓨처엠 송다혜</a:t>
            </a:r>
            <a:endParaRPr kumimoji="0" lang="ko-KR" alt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itchFamily="50" charset="-127"/>
              <a:ea typeface="맑은 고딕" pitchFamily="50" charset="-127"/>
              <a:cs typeface="+mn-cs"/>
            </a:endParaRPr>
          </a:p>
        </p:txBody>
      </p:sp>
      <p:sp>
        <p:nvSpPr>
          <p:cNvPr id="12" name="Text Box 9">
            <a:extLst>
              <a:ext uri="{FF2B5EF4-FFF2-40B4-BE49-F238E27FC236}">
                <a16:creationId xmlns:a16="http://schemas.microsoft.com/office/drawing/2014/main" id="{EAFC9585-92B4-4636-A7E1-4FF2DBA9485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-2133" y="2171601"/>
            <a:ext cx="9908133" cy="138919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5738" tIns="75738" rIns="75738" bIns="75738">
            <a:spAutoFit/>
            <a:scene3d>
              <a:camera prst="orthographicFront"/>
              <a:lightRig rig="threePt" dir="t"/>
            </a:scene3d>
            <a:sp3d extrusionH="57150">
              <a:bevelT w="38100" h="38100"/>
            </a:sp3d>
          </a:bodyPr>
          <a:lstStyle/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업무 상황을 입력하면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,</a:t>
            </a:r>
          </a:p>
          <a:p>
            <a:pPr fontAlgn="base">
              <a:spcBef>
                <a:spcPct val="0"/>
              </a:spcBef>
              <a:spcAft>
                <a:spcPts val="1000"/>
              </a:spcAft>
              <a:defRPr/>
            </a:pP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      </a:t>
            </a:r>
            <a:r>
              <a:rPr lang="ko-KR" altLang="en-US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필요한 절차와 협업 부서를 안내합니다</a:t>
            </a:r>
            <a:r>
              <a:rPr lang="en-US" altLang="ko-KR" sz="3600" b="1" kern="0" spc="-100">
                <a:solidFill>
                  <a:prstClr val="black"/>
                </a:solidFill>
                <a:latin typeface="HY견고딕" panose="02030600000101010101" pitchFamily="18" charset="-127"/>
                <a:ea typeface="HY견고딕" panose="02030600000101010101" pitchFamily="18" charset="-127"/>
              </a:rPr>
              <a:t>.</a:t>
            </a:r>
            <a:endParaRPr lang="en-US" altLang="ko-KR" sz="3600" b="1" kern="0" spc="-100" dirty="0">
              <a:solidFill>
                <a:prstClr val="black"/>
              </a:solidFill>
              <a:latin typeface="HY견고딕" panose="02030600000101010101" pitchFamily="18" charset="-127"/>
              <a:ea typeface="HY견고딕" panose="02030600000101010101" pitchFamily="18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CAF36BC-9235-4E18-B840-B5F6E3DF61ED}"/>
              </a:ext>
            </a:extLst>
          </p:cNvPr>
          <p:cNvSpPr txBox="1"/>
          <p:nvPr/>
        </p:nvSpPr>
        <p:spPr>
          <a:xfrm>
            <a:off x="823961" y="1782172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>
                <a:latin typeface="+mn-ea"/>
              </a:rPr>
              <a:t>[</a:t>
            </a:r>
            <a:r>
              <a:rPr lang="ko-KR" altLang="en-US">
                <a:latin typeface="+mn-ea"/>
              </a:rPr>
              <a:t>업무 지침 네비게이터</a:t>
            </a:r>
            <a:r>
              <a:rPr lang="en-US" altLang="ko-KR">
                <a:latin typeface="+mn-ea"/>
              </a:rPr>
              <a:t>]</a:t>
            </a:r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631832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70BA70C2-B07D-4FB2-8044-D17828F175C1}"/>
              </a:ext>
            </a:extLst>
          </p:cNvPr>
          <p:cNvSpPr>
            <a:spLocks noGrp="1"/>
          </p:cNvSpPr>
          <p:nvPr/>
        </p:nvSpPr>
        <p:spPr>
          <a:xfrm>
            <a:off x="7252560" y="5147722"/>
            <a:ext cx="2386148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내용 확인</a:t>
            </a:r>
            <a:r>
              <a:rPr lang="en-US" altLang="ko-KR" sz="1400" b="1"/>
              <a:t>, </a:t>
            </a:r>
            <a:r>
              <a:rPr lang="ko-KR" altLang="en-US" sz="1400" b="1"/>
              <a:t>업무 처리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입력만으로 필요 절차와 지침을 한 번에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『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지침 네비게이터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』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18989D12-EF7E-4B26-A8A4-47703D404C10}"/>
              </a:ext>
            </a:extLst>
          </p:cNvPr>
          <p:cNvSpPr/>
          <p:nvPr/>
        </p:nvSpPr>
        <p:spPr>
          <a:xfrm>
            <a:off x="556286" y="709192"/>
            <a:ext cx="7886103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검토 배경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누구나 필요한 업무 프로세스를 쉽게 이해하고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, </a:t>
            </a:r>
            <a:r>
              <a:rPr kumimoji="0" lang="ko-KR" altLang="en-US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안정적으로 이행할 수 있는 지원 필요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26A7927B-1FC5-4002-88D0-9247A5AECD7B}"/>
              </a:ext>
            </a:extLst>
          </p:cNvPr>
          <p:cNvGrpSpPr/>
          <p:nvPr/>
        </p:nvGrpSpPr>
        <p:grpSpPr>
          <a:xfrm>
            <a:off x="310399" y="819181"/>
            <a:ext cx="194324" cy="180020"/>
            <a:chOff x="416496" y="3577457"/>
            <a:chExt cx="194324" cy="180020"/>
          </a:xfrm>
        </p:grpSpPr>
        <p:sp>
          <p:nvSpPr>
            <p:cNvPr id="9" name="모서리가 둥근 직사각형 320">
              <a:extLst>
                <a:ext uri="{FF2B5EF4-FFF2-40B4-BE49-F238E27FC236}">
                  <a16:creationId xmlns:a16="http://schemas.microsoft.com/office/drawing/2014/main" id="{64991931-304B-4A79-8ABF-F87172C315C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10" name="그림 9" descr="7.png">
              <a:extLst>
                <a:ext uri="{FF2B5EF4-FFF2-40B4-BE49-F238E27FC236}">
                  <a16:creationId xmlns:a16="http://schemas.microsoft.com/office/drawing/2014/main" id="{0EFF1F02-3E3B-4082-8B1A-A822DE53A21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B656DA0D-7D8A-4307-854A-0B0967B6A766}"/>
              </a:ext>
            </a:extLst>
          </p:cNvPr>
          <p:cNvSpPr/>
          <p:nvPr/>
        </p:nvSpPr>
        <p:spPr>
          <a:xfrm>
            <a:off x="556286" y="4300007"/>
            <a:ext cx="9218275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추진 방향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</a:t>
            </a:r>
            <a:r>
              <a:rPr kumimoji="0" lang="en-US" altLang="ko-KR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 </a:t>
            </a:r>
            <a:r>
              <a:rPr lang="ko-KR" altLang="en-US" sz="1400">
                <a:latin typeface="+mn-ea"/>
              </a:rPr>
              <a:t>담당자의 경험과 개별 탐색 방식에서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업무별 처리 절차와 지침을 한 번에 안내하는 방식으로 전환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1A108875-0952-48E3-AB80-BF0F0F01D762}"/>
              </a:ext>
            </a:extLst>
          </p:cNvPr>
          <p:cNvGrpSpPr/>
          <p:nvPr/>
        </p:nvGrpSpPr>
        <p:grpSpPr>
          <a:xfrm>
            <a:off x="310399" y="4409996"/>
            <a:ext cx="194324" cy="180020"/>
            <a:chOff x="416496" y="3577457"/>
            <a:chExt cx="194324" cy="180020"/>
          </a:xfrm>
        </p:grpSpPr>
        <p:sp>
          <p:nvSpPr>
            <p:cNvPr id="20" name="모서리가 둥근 직사각형 320">
              <a:extLst>
                <a:ext uri="{FF2B5EF4-FFF2-40B4-BE49-F238E27FC236}">
                  <a16:creationId xmlns:a16="http://schemas.microsoft.com/office/drawing/2014/main" id="{C8058689-94E4-446F-AA2A-B4307B03BD15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21" name="그림 20" descr="7.png">
              <a:extLst>
                <a:ext uri="{FF2B5EF4-FFF2-40B4-BE49-F238E27FC236}">
                  <a16:creationId xmlns:a16="http://schemas.microsoft.com/office/drawing/2014/main" id="{79B5018E-A44B-4CB4-A228-3DB8F42FC5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F2049F6D-52F7-4288-9113-D28B84A81059}"/>
              </a:ext>
            </a:extLst>
          </p:cNvPr>
          <p:cNvSpPr>
            <a:spLocks noGrp="1"/>
          </p:cNvSpPr>
          <p:nvPr/>
        </p:nvSpPr>
        <p:spPr>
          <a:xfrm>
            <a:off x="431339" y="5147722"/>
            <a:ext cx="2252113" cy="478467"/>
          </a:xfrm>
          <a:prstGeom prst="roundRect">
            <a:avLst>
              <a:gd name="adj" fmla="val 19218"/>
            </a:avLst>
          </a:prstGeom>
          <a:solidFill>
            <a:schemeClr val="bg1">
              <a:lumMod val="95000"/>
            </a:schemeClr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pPr algn="ctr"/>
            <a:r>
              <a:rPr lang="ko-KR" altLang="en-US" sz="1400" b="1"/>
              <a:t>            업무 입력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43B59CCF-E875-4AEA-AAD6-272EB49A1CBF}"/>
              </a:ext>
            </a:extLst>
          </p:cNvPr>
          <p:cNvSpPr/>
          <p:nvPr/>
        </p:nvSpPr>
        <p:spPr>
          <a:xfrm>
            <a:off x="438419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4BBD58B2-2387-4964-99E8-F34766B9469C}"/>
              </a:ext>
            </a:extLst>
          </p:cNvPr>
          <p:cNvSpPr>
            <a:spLocks noGrp="1"/>
          </p:cNvSpPr>
          <p:nvPr/>
        </p:nvSpPr>
        <p:spPr>
          <a:xfrm>
            <a:off x="2862546" y="5147722"/>
            <a:ext cx="4192537" cy="478467"/>
          </a:xfrm>
          <a:prstGeom prst="roundRect">
            <a:avLst>
              <a:gd name="adj" fmla="val 15236"/>
            </a:avLst>
          </a:prstGeom>
          <a:solidFill>
            <a:srgbClr val="F1ECF8"/>
          </a:solidFill>
          <a:ln w="9525">
            <a:solidFill>
              <a:srgbClr val="E4DAF0"/>
            </a:solidFill>
            <a:prstDash val="solid"/>
          </a:ln>
        </p:spPr>
        <p:txBody>
          <a:bodyPr anchor="ctr" anchorCtr="0"/>
          <a:lstStyle/>
          <a:p>
            <a:r>
              <a:rPr lang="ko-KR" altLang="en-US" sz="1400" b="1"/>
              <a:t>               키워드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유형 분석              절차</a:t>
            </a:r>
            <a:r>
              <a:rPr lang="en-US" altLang="ko-KR" sz="1400" b="1"/>
              <a:t> </a:t>
            </a:r>
            <a:r>
              <a:rPr lang="ko-KR" altLang="en-US" sz="1400" b="1">
                <a:latin typeface="맑은 고딕" panose="020B0503020000020004" pitchFamily="50" charset="-127"/>
                <a:ea typeface="맑은 고딕" panose="020B0503020000020004" pitchFamily="50" charset="-127"/>
              </a:rPr>
              <a:t>〮 </a:t>
            </a:r>
            <a:r>
              <a:rPr lang="ko-KR" altLang="en-US" sz="1400" b="1"/>
              <a:t>지침 안내                   </a:t>
            </a:r>
            <a:r>
              <a:rPr lang="en-US" altLang="ko-KR" sz="1400" b="1"/>
              <a:t> </a:t>
            </a:r>
            <a:endParaRPr lang="ko-KR" altLang="en-US" sz="1400" b="1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EC5240A7-1ADF-4299-96E9-D69490812910}"/>
              </a:ext>
            </a:extLst>
          </p:cNvPr>
          <p:cNvSpPr/>
          <p:nvPr/>
        </p:nvSpPr>
        <p:spPr>
          <a:xfrm>
            <a:off x="2862546" y="4971163"/>
            <a:ext cx="647700" cy="22860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/>
              <a:t>서비스</a:t>
            </a:r>
          </a:p>
        </p:txBody>
      </p:sp>
      <p:pic>
        <p:nvPicPr>
          <p:cNvPr id="5" name="그래픽 4" descr="아이디어를 가진 사람 단색으로 채워진">
            <a:extLst>
              <a:ext uri="{FF2B5EF4-FFF2-40B4-BE49-F238E27FC236}">
                <a16:creationId xmlns:a16="http://schemas.microsoft.com/office/drawing/2014/main" id="{603765C0-89CB-44A9-A623-57C762AFB6A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01305" y="5175960"/>
            <a:ext cx="525332" cy="443544"/>
          </a:xfrm>
          <a:prstGeom prst="rect">
            <a:avLst/>
          </a:prstGeom>
        </p:spPr>
      </p:pic>
      <p:pic>
        <p:nvPicPr>
          <p:cNvPr id="24" name="그래픽 23" descr="사용자 단색으로 채워진">
            <a:extLst>
              <a:ext uri="{FF2B5EF4-FFF2-40B4-BE49-F238E27FC236}">
                <a16:creationId xmlns:a16="http://schemas.microsoft.com/office/drawing/2014/main" id="{7C222A63-90C8-4CC3-A48C-632244EF6FB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63491" y="5101671"/>
            <a:ext cx="597557" cy="597557"/>
          </a:xfrm>
          <a:prstGeom prst="rect">
            <a:avLst/>
          </a:prstGeom>
        </p:spPr>
      </p:pic>
      <p:pic>
        <p:nvPicPr>
          <p:cNvPr id="29" name="그래픽 28" descr="갈매기형 화살표 단색으로 채워진">
            <a:extLst>
              <a:ext uri="{FF2B5EF4-FFF2-40B4-BE49-F238E27FC236}">
                <a16:creationId xmlns:a16="http://schemas.microsoft.com/office/drawing/2014/main" id="{AB8D90E4-C1C8-41F3-BEBC-5093CF686F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076431" y="5167171"/>
            <a:ext cx="425550" cy="425550"/>
          </a:xfrm>
          <a:prstGeom prst="rect">
            <a:avLst/>
          </a:prstGeom>
        </p:spPr>
      </p:pic>
      <p:pic>
        <p:nvPicPr>
          <p:cNvPr id="31" name="그래픽 30" descr="클라우드 컴퓨팅 단색으로 채워진">
            <a:extLst>
              <a:ext uri="{FF2B5EF4-FFF2-40B4-BE49-F238E27FC236}">
                <a16:creationId xmlns:a16="http://schemas.microsoft.com/office/drawing/2014/main" id="{A9EBA402-CA77-49DE-9FC9-B6F93C20927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2973622" y="5196056"/>
            <a:ext cx="425550" cy="425550"/>
          </a:xfrm>
          <a:prstGeom prst="rect">
            <a:avLst/>
          </a:prstGeom>
        </p:spPr>
      </p:pic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405EFF4C-9138-4C0F-8DE4-9B72063D888C}"/>
              </a:ext>
            </a:extLst>
          </p:cNvPr>
          <p:cNvSpPr/>
          <p:nvPr/>
        </p:nvSpPr>
        <p:spPr>
          <a:xfrm>
            <a:off x="7252560" y="4971163"/>
            <a:ext cx="647700" cy="228600"/>
          </a:xfrm>
          <a:prstGeom prst="roundRect">
            <a:avLst/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ko-KR" altLang="en-US" sz="1200" b="1">
                <a:solidFill>
                  <a:schemeClr val="tx1"/>
                </a:solidFill>
              </a:rPr>
              <a:t>사용자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A65F65E2-5821-4B06-A2A3-09E6B588F80E}"/>
              </a:ext>
            </a:extLst>
          </p:cNvPr>
          <p:cNvSpPr/>
          <p:nvPr/>
        </p:nvSpPr>
        <p:spPr>
          <a:xfrm>
            <a:off x="330495" y="6092035"/>
            <a:ext cx="9409457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  <a:latin typeface="+mn-ea"/>
              </a:rPr>
              <a:t>        필요한 지침을 빠르게 찾아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시작부터 완료까지 정확하게 업무를 처리하도록 체계적으로 지원</a:t>
            </a:r>
          </a:p>
        </p:txBody>
      </p:sp>
      <p:sp>
        <p:nvSpPr>
          <p:cNvPr id="62" name="사각형: 둥근 모서리 61">
            <a:extLst>
              <a:ext uri="{FF2B5EF4-FFF2-40B4-BE49-F238E27FC236}">
                <a16:creationId xmlns:a16="http://schemas.microsoft.com/office/drawing/2014/main" id="{BFB32620-BF19-4B11-B076-46885445DCD3}"/>
              </a:ext>
            </a:extLst>
          </p:cNvPr>
          <p:cNvSpPr>
            <a:spLocks noGrp="1"/>
          </p:cNvSpPr>
          <p:nvPr/>
        </p:nvSpPr>
        <p:spPr>
          <a:xfrm>
            <a:off x="330495" y="4817740"/>
            <a:ext cx="9409457" cy="999163"/>
          </a:xfrm>
          <a:prstGeom prst="roundRect">
            <a:avLst>
              <a:gd name="adj" fmla="val 5139"/>
            </a:avLst>
          </a:prstGeom>
          <a:noFill/>
          <a:ln w="12700">
            <a:solidFill>
              <a:schemeClr val="bg1">
                <a:lumMod val="75000"/>
              </a:schemeClr>
            </a:solidFill>
            <a:prstDash val="solid"/>
          </a:ln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64" name="이등변 삼각형 63">
            <a:extLst>
              <a:ext uri="{FF2B5EF4-FFF2-40B4-BE49-F238E27FC236}">
                <a16:creationId xmlns:a16="http://schemas.microsoft.com/office/drawing/2014/main" id="{CBE0F7A1-7FBC-4044-82C1-997A319E3071}"/>
              </a:ext>
            </a:extLst>
          </p:cNvPr>
          <p:cNvSpPr/>
          <p:nvPr/>
        </p:nvSpPr>
        <p:spPr>
          <a:xfrm rot="5400000">
            <a:off x="2699726" y="5328339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이등변 삼각형 64">
            <a:extLst>
              <a:ext uri="{FF2B5EF4-FFF2-40B4-BE49-F238E27FC236}">
                <a16:creationId xmlns:a16="http://schemas.microsoft.com/office/drawing/2014/main" id="{2EDC7E73-7337-42B2-928F-D70EB47D31EC}"/>
              </a:ext>
            </a:extLst>
          </p:cNvPr>
          <p:cNvSpPr/>
          <p:nvPr/>
        </p:nvSpPr>
        <p:spPr>
          <a:xfrm rot="5400000">
            <a:off x="7072446" y="5330017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D30FD96-B91F-4CF6-97C0-E4128ECEA73A}"/>
              </a:ext>
            </a:extLst>
          </p:cNvPr>
          <p:cNvSpPr/>
          <p:nvPr/>
        </p:nvSpPr>
        <p:spPr>
          <a:xfrm>
            <a:off x="330495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5" name="사각형: 둥근 모서리 44">
            <a:extLst>
              <a:ext uri="{FF2B5EF4-FFF2-40B4-BE49-F238E27FC236}">
                <a16:creationId xmlns:a16="http://schemas.microsoft.com/office/drawing/2014/main" id="{D1C99C70-2C60-484C-89CD-FC823E3E9CFE}"/>
              </a:ext>
            </a:extLst>
          </p:cNvPr>
          <p:cNvSpPr/>
          <p:nvPr/>
        </p:nvSpPr>
        <p:spPr>
          <a:xfrm>
            <a:off x="3527540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6" name="사각형: 둥근 모서리 45">
            <a:extLst>
              <a:ext uri="{FF2B5EF4-FFF2-40B4-BE49-F238E27FC236}">
                <a16:creationId xmlns:a16="http://schemas.microsoft.com/office/drawing/2014/main" id="{12465051-9ABA-4C7D-A1B9-A3D705ADEC72}"/>
              </a:ext>
            </a:extLst>
          </p:cNvPr>
          <p:cNvSpPr/>
          <p:nvPr/>
        </p:nvSpPr>
        <p:spPr>
          <a:xfrm>
            <a:off x="6713611" y="1217806"/>
            <a:ext cx="2985462" cy="2881439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FA75749-6157-40BB-A74E-394D6C347B77}"/>
              </a:ext>
            </a:extLst>
          </p:cNvPr>
          <p:cNvSpPr txBox="1"/>
          <p:nvPr/>
        </p:nvSpPr>
        <p:spPr>
          <a:xfrm>
            <a:off x="562773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회사 업무</a:t>
            </a: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3336D8E1-00F3-4635-8A14-6290ADD2EACF}"/>
              </a:ext>
            </a:extLst>
          </p:cNvPr>
          <p:cNvCxnSpPr>
            <a:cxnSpLocks/>
          </p:cNvCxnSpPr>
          <p:nvPr/>
        </p:nvCxnSpPr>
        <p:spPr>
          <a:xfrm>
            <a:off x="470559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6EBBEF99-4056-4026-9C0A-5F83DA10A174}"/>
              </a:ext>
            </a:extLst>
          </p:cNvPr>
          <p:cNvSpPr txBox="1"/>
          <p:nvPr/>
        </p:nvSpPr>
        <p:spPr>
          <a:xfrm>
            <a:off x="3779919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문제점</a:t>
            </a:r>
          </a:p>
        </p:txBody>
      </p:sp>
      <p:cxnSp>
        <p:nvCxnSpPr>
          <p:cNvPr id="52" name="직선 연결선 51">
            <a:extLst>
              <a:ext uri="{FF2B5EF4-FFF2-40B4-BE49-F238E27FC236}">
                <a16:creationId xmlns:a16="http://schemas.microsoft.com/office/drawing/2014/main" id="{6F79F0D2-2158-4094-8A1A-0BCE7B519E87}"/>
              </a:ext>
            </a:extLst>
          </p:cNvPr>
          <p:cNvCxnSpPr>
            <a:cxnSpLocks/>
          </p:cNvCxnSpPr>
          <p:nvPr/>
        </p:nvCxnSpPr>
        <p:spPr>
          <a:xfrm>
            <a:off x="3687705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C584307B-0BB5-4521-B4EE-F153D3B5F5AE}"/>
              </a:ext>
            </a:extLst>
          </p:cNvPr>
          <p:cNvSpPr txBox="1"/>
          <p:nvPr/>
        </p:nvSpPr>
        <p:spPr>
          <a:xfrm>
            <a:off x="6945888" y="133592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개선 방안</a:t>
            </a:r>
          </a:p>
        </p:txBody>
      </p:sp>
      <p:cxnSp>
        <p:nvCxnSpPr>
          <p:cNvPr id="60" name="직선 연결선 59">
            <a:extLst>
              <a:ext uri="{FF2B5EF4-FFF2-40B4-BE49-F238E27FC236}">
                <a16:creationId xmlns:a16="http://schemas.microsoft.com/office/drawing/2014/main" id="{D9796B37-8472-4D2F-A913-646D47B51A80}"/>
              </a:ext>
            </a:extLst>
          </p:cNvPr>
          <p:cNvCxnSpPr>
            <a:cxnSpLocks/>
          </p:cNvCxnSpPr>
          <p:nvPr/>
        </p:nvCxnSpPr>
        <p:spPr>
          <a:xfrm>
            <a:off x="6853674" y="1739203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DFE79726-461E-4F9B-A835-7A3125F4632A}"/>
              </a:ext>
            </a:extLst>
          </p:cNvPr>
          <p:cNvSpPr txBox="1"/>
          <p:nvPr/>
        </p:nvSpPr>
        <p:spPr>
          <a:xfrm>
            <a:off x="349148" y="2995774"/>
            <a:ext cx="2985461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정해진 프로세스와 절차에 따라 처리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담당자가 바뀌어도 필수 절차 준수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일관된 결과물 확보 필요</a:t>
            </a:r>
          </a:p>
        </p:txBody>
      </p:sp>
      <p:pic>
        <p:nvPicPr>
          <p:cNvPr id="13" name="그래픽 12" descr="체크리스트 단색으로 채워진">
            <a:extLst>
              <a:ext uri="{FF2B5EF4-FFF2-40B4-BE49-F238E27FC236}">
                <a16:creationId xmlns:a16="http://schemas.microsoft.com/office/drawing/2014/main" id="{0135F75B-0F42-4B60-AC08-FD2CF59A281B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5519" y="1959127"/>
            <a:ext cx="755703" cy="755703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80CE7C00-4BD4-4C02-BA3C-66110498AE87}"/>
              </a:ext>
            </a:extLst>
          </p:cNvPr>
          <p:cNvSpPr txBox="1"/>
          <p:nvPr/>
        </p:nvSpPr>
        <p:spPr>
          <a:xfrm>
            <a:off x="3527541" y="2995774"/>
            <a:ext cx="3114419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/>
              <a:t>필요한 절차와 지침을 찾는데 시간 소요</a:t>
            </a:r>
            <a:endParaRPr lang="en-US" altLang="ko-KR" sz="1300" spc="-4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 spc="-40"/>
              <a:t> </a:t>
            </a:r>
            <a:r>
              <a:rPr lang="ko-KR" altLang="en-US" sz="1300"/>
              <a:t>담당자마다 처리 방식이 다름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 누락과 편차 발생</a:t>
            </a:r>
          </a:p>
        </p:txBody>
      </p:sp>
      <p:pic>
        <p:nvPicPr>
          <p:cNvPr id="16" name="그래픽 15" descr="물음표 단색으로 채워진">
            <a:extLst>
              <a:ext uri="{FF2B5EF4-FFF2-40B4-BE49-F238E27FC236}">
                <a16:creationId xmlns:a16="http://schemas.microsoft.com/office/drawing/2014/main" id="{37F2DC6D-0D3D-47E1-B656-D277CD7379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946" y="1959127"/>
            <a:ext cx="755703" cy="755703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BFA5A8A9-28C1-465A-8FA8-791A2996B35D}"/>
              </a:ext>
            </a:extLst>
          </p:cNvPr>
          <p:cNvSpPr txBox="1"/>
          <p:nvPr/>
        </p:nvSpPr>
        <p:spPr>
          <a:xfrm>
            <a:off x="6713612" y="2995774"/>
            <a:ext cx="2985461" cy="8207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</a:t>
            </a:r>
            <a:r>
              <a:rPr lang="ko-KR" altLang="en-US" sz="1300" spc="-4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수행하려는 업무를 </a:t>
            </a:r>
            <a:r>
              <a:rPr lang="ko-KR" altLang="en-US" sz="1300"/>
              <a:t>입력하면 </a:t>
            </a:r>
            <a:endParaRPr lang="en-US" altLang="ko-KR" sz="1300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  </a:t>
            </a:r>
            <a:r>
              <a:rPr lang="ko-KR" altLang="en-US" sz="1300" b="1"/>
              <a:t>처리 절차와 지침을 쉽게 안내하는</a:t>
            </a:r>
            <a:endParaRPr lang="en-US" altLang="ko-KR" sz="1300" b="1"/>
          </a:p>
          <a:p>
            <a:pPr>
              <a:spcBef>
                <a:spcPts val="500"/>
              </a:spcBef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 b="1"/>
              <a:t>  </a:t>
            </a:r>
            <a:r>
              <a:rPr lang="ko-KR" altLang="en-US" sz="1300" b="1"/>
              <a:t> </a:t>
            </a:r>
            <a:r>
              <a:rPr lang="en-US" altLang="ko-KR" sz="1300" b="1"/>
              <a:t>『</a:t>
            </a:r>
            <a:r>
              <a:rPr lang="ko-KR" altLang="en-US" sz="1300" b="1"/>
              <a:t>업무 지침 네비게이터</a:t>
            </a:r>
            <a:r>
              <a:rPr lang="en-US" altLang="ko-KR" sz="1300" b="1"/>
              <a:t>』 </a:t>
            </a:r>
            <a:r>
              <a:rPr lang="ko-KR" altLang="en-US" sz="1300" b="1"/>
              <a:t>구축</a:t>
            </a:r>
            <a:endParaRPr lang="ko-KR" altLang="en-US" sz="1300"/>
          </a:p>
        </p:txBody>
      </p:sp>
      <p:pic>
        <p:nvPicPr>
          <p:cNvPr id="34" name="그림 33">
            <a:extLst>
              <a:ext uri="{FF2B5EF4-FFF2-40B4-BE49-F238E27FC236}">
                <a16:creationId xmlns:a16="http://schemas.microsoft.com/office/drawing/2014/main" id="{9D207778-395A-407B-BF36-D2E69C775692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6630" y="1814756"/>
            <a:ext cx="1899424" cy="1068994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84379734-9EBD-4B03-9465-8E1A8B1D887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(1/6)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grpSp>
        <p:nvGrpSpPr>
          <p:cNvPr id="49" name="그룹 48">
            <a:extLst>
              <a:ext uri="{FF2B5EF4-FFF2-40B4-BE49-F238E27FC236}">
                <a16:creationId xmlns:a16="http://schemas.microsoft.com/office/drawing/2014/main" id="{DB273691-F70E-4DA3-8FC4-27B912BBBBB3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53" name="타원 52">
              <a:extLst>
                <a:ext uri="{FF2B5EF4-FFF2-40B4-BE49-F238E27FC236}">
                  <a16:creationId xmlns:a16="http://schemas.microsoft.com/office/drawing/2014/main" id="{1FF74794-DBB2-42EC-9656-063B13795A7D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54" name="화살표: 오른쪽 53">
              <a:extLst>
                <a:ext uri="{FF2B5EF4-FFF2-40B4-BE49-F238E27FC236}">
                  <a16:creationId xmlns:a16="http://schemas.microsoft.com/office/drawing/2014/main" id="{8CA3DC86-BB4D-45F2-B178-FE7EBBAA57FA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597174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직사각형 40">
            <a:extLst>
              <a:ext uri="{FF2B5EF4-FFF2-40B4-BE49-F238E27FC236}">
                <a16:creationId xmlns:a16="http://schemas.microsoft.com/office/drawing/2014/main" id="{5488D8FC-7792-4E02-9677-B9BDAB9C7ACB}"/>
              </a:ext>
            </a:extLst>
          </p:cNvPr>
          <p:cNvSpPr/>
          <p:nvPr/>
        </p:nvSpPr>
        <p:spPr>
          <a:xfrm>
            <a:off x="325500" y="6101535"/>
            <a:ext cx="9354428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108000" rtlCol="0" anchor="ctr" anchorCtr="0"/>
          <a:lstStyle/>
          <a:p>
            <a:pPr algn="ctr"/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       정성적 검증에서 정답 데이터</a:t>
            </a:r>
            <a:r>
              <a:rPr lang="en-US" altLang="ko-KR" sz="1500" b="1" spc="-40">
                <a:solidFill>
                  <a:schemeClr val="tx1"/>
                </a:solidFill>
                <a:latin typeface="+mn-ea"/>
              </a:rPr>
              <a:t>·RAGAS </a:t>
            </a:r>
            <a:r>
              <a:rPr lang="ko-KR" altLang="en-US" sz="1500" b="1" spc="-40">
                <a:solidFill>
                  <a:schemeClr val="tx1"/>
                </a:solidFill>
                <a:latin typeface="+mn-ea"/>
              </a:rPr>
              <a:t>기반 정량 평가로 발전 → 검색 품질 개선 및 반복 검증 체계 확보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규칙 기반에서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RAGAS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평가까지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개발 과정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7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개발 과정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60" name="TextBox 59">
            <a:extLst>
              <a:ext uri="{FF2B5EF4-FFF2-40B4-BE49-F238E27FC236}">
                <a16:creationId xmlns:a16="http://schemas.microsoft.com/office/drawing/2014/main" id="{B8A0DD6D-FD42-4F2D-8B5C-7E3028B3CFB6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(2/6)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1F7BC28A-8B0A-4781-A61B-331967B0BBBD}"/>
              </a:ext>
            </a:extLst>
          </p:cNvPr>
          <p:cNvSpPr/>
          <p:nvPr/>
        </p:nvSpPr>
        <p:spPr>
          <a:xfrm>
            <a:off x="279093" y="1848909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839871CD-9C0F-406B-AADC-C37FA842222B}"/>
              </a:ext>
            </a:extLst>
          </p:cNvPr>
          <p:cNvSpPr/>
          <p:nvPr/>
        </p:nvSpPr>
        <p:spPr>
          <a:xfrm>
            <a:off x="279093" y="1848907"/>
            <a:ext cx="2237155" cy="53228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100">
                <a:solidFill>
                  <a:schemeClr val="tx1"/>
                </a:solidFill>
                <a:latin typeface="+mn-ea"/>
              </a:rPr>
              <a:t>① 범위 및 대표부서 선정</a:t>
            </a:r>
          </a:p>
        </p:txBody>
      </p:sp>
      <p:sp>
        <p:nvSpPr>
          <p:cNvPr id="23" name="사각형: 둥근 모서리 22">
            <a:extLst>
              <a:ext uri="{FF2B5EF4-FFF2-40B4-BE49-F238E27FC236}">
                <a16:creationId xmlns:a16="http://schemas.microsoft.com/office/drawing/2014/main" id="{AC69ECFE-782A-40A2-9BA9-888C46599EE9}"/>
              </a:ext>
            </a:extLst>
          </p:cNvPr>
          <p:cNvSpPr/>
          <p:nvPr/>
        </p:nvSpPr>
        <p:spPr>
          <a:xfrm>
            <a:off x="2642487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사각형: 둥근 모서리 23">
            <a:extLst>
              <a:ext uri="{FF2B5EF4-FFF2-40B4-BE49-F238E27FC236}">
                <a16:creationId xmlns:a16="http://schemas.microsoft.com/office/drawing/2014/main" id="{FF910A5D-2A7F-45DA-9187-7C5766E52393}"/>
              </a:ext>
            </a:extLst>
          </p:cNvPr>
          <p:cNvSpPr/>
          <p:nvPr/>
        </p:nvSpPr>
        <p:spPr>
          <a:xfrm>
            <a:off x="2642487" y="1846298"/>
            <a:ext cx="2237155" cy="532286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② 검증 데이터 확보</a:t>
            </a:r>
          </a:p>
        </p:txBody>
      </p:sp>
      <p:sp>
        <p:nvSpPr>
          <p:cNvPr id="26" name="사각형: 둥근 모서리 25">
            <a:extLst>
              <a:ext uri="{FF2B5EF4-FFF2-40B4-BE49-F238E27FC236}">
                <a16:creationId xmlns:a16="http://schemas.microsoft.com/office/drawing/2014/main" id="{F699BC76-A765-4B9A-89E0-AD0291BC01F0}"/>
              </a:ext>
            </a:extLst>
          </p:cNvPr>
          <p:cNvSpPr/>
          <p:nvPr/>
        </p:nvSpPr>
        <p:spPr>
          <a:xfrm>
            <a:off x="5005881" y="1846300"/>
            <a:ext cx="2237155" cy="154265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사각형: 둥근 모서리 26">
            <a:extLst>
              <a:ext uri="{FF2B5EF4-FFF2-40B4-BE49-F238E27FC236}">
                <a16:creationId xmlns:a16="http://schemas.microsoft.com/office/drawing/2014/main" id="{8451CED7-4E43-48BE-9EDB-E3F402E72EE1}"/>
              </a:ext>
            </a:extLst>
          </p:cNvPr>
          <p:cNvSpPr/>
          <p:nvPr/>
        </p:nvSpPr>
        <p:spPr>
          <a:xfrm>
            <a:off x="5005881" y="1846298"/>
            <a:ext cx="2237155" cy="532286"/>
          </a:xfrm>
          <a:prstGeom prst="round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③ 대표 질의 선정</a:t>
            </a:r>
          </a:p>
        </p:txBody>
      </p:sp>
      <p:sp>
        <p:nvSpPr>
          <p:cNvPr id="28" name="사각형: 둥근 모서리 27">
            <a:extLst>
              <a:ext uri="{FF2B5EF4-FFF2-40B4-BE49-F238E27FC236}">
                <a16:creationId xmlns:a16="http://schemas.microsoft.com/office/drawing/2014/main" id="{49DDBDF5-E08E-457F-A863-9A7872E1953C}"/>
              </a:ext>
            </a:extLst>
          </p:cNvPr>
          <p:cNvSpPr/>
          <p:nvPr/>
        </p:nvSpPr>
        <p:spPr>
          <a:xfrm>
            <a:off x="7369275" y="1846300"/>
            <a:ext cx="2237155" cy="1567394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사각형: 둥근 모서리 28">
            <a:extLst>
              <a:ext uri="{FF2B5EF4-FFF2-40B4-BE49-F238E27FC236}">
                <a16:creationId xmlns:a16="http://schemas.microsoft.com/office/drawing/2014/main" id="{AE45B53C-1156-4964-83BB-AB1AAC3ED977}"/>
              </a:ext>
            </a:extLst>
          </p:cNvPr>
          <p:cNvSpPr/>
          <p:nvPr/>
        </p:nvSpPr>
        <p:spPr>
          <a:xfrm>
            <a:off x="7369275" y="1846298"/>
            <a:ext cx="2237155" cy="532286"/>
          </a:xfrm>
          <a:prstGeom prst="roundRect">
            <a:avLst/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④ 정확성 검토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및 보완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CFEFB37-48A3-4DF0-9B20-FFA75F35D809}"/>
              </a:ext>
            </a:extLst>
          </p:cNvPr>
          <p:cNvSpPr txBox="1"/>
          <p:nvPr/>
        </p:nvSpPr>
        <p:spPr>
          <a:xfrm>
            <a:off x="280255" y="2439977"/>
            <a:ext cx="2351825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사규</a:t>
            </a:r>
            <a:r>
              <a:rPr lang="en-US" altLang="ko-KR" sz="1300"/>
              <a:t>, </a:t>
            </a:r>
            <a:r>
              <a:rPr lang="ko-KR" altLang="en-US" sz="1300"/>
              <a:t>정책</a:t>
            </a:r>
            <a:r>
              <a:rPr lang="en-US" altLang="ko-KR" sz="1300"/>
              <a:t> </a:t>
            </a:r>
            <a:r>
              <a:rPr lang="ko-KR" altLang="en-US" sz="1300"/>
              <a:t>문서 </a:t>
            </a:r>
            <a:r>
              <a:rPr lang="en-US" altLang="ko-KR" sz="1300"/>
              <a:t>3,450</a:t>
            </a:r>
            <a:r>
              <a:rPr lang="ko-KR" altLang="en-US" sz="1300"/>
              <a:t>여개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조직 </a:t>
            </a:r>
            <a:r>
              <a:rPr lang="en-US" altLang="ko-KR" sz="1300"/>
              <a:t>126</a:t>
            </a:r>
            <a:r>
              <a:rPr lang="ko-KR" altLang="en-US" sz="1300"/>
              <a:t>개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대표부서 선정 </a:t>
            </a:r>
            <a:r>
              <a:rPr lang="en-US" altLang="ko-KR" sz="1300"/>
              <a:t>(10 </a:t>
            </a:r>
            <a:r>
              <a:rPr lang="ko-KR" altLang="en-US" sz="1300" spc="-40">
                <a:latin typeface="+mn-ea"/>
              </a:rPr>
              <a:t>→</a:t>
            </a:r>
            <a:r>
              <a:rPr lang="ko-KR" altLang="en-US" sz="1300"/>
              <a:t> </a:t>
            </a:r>
            <a:r>
              <a:rPr lang="en-US" altLang="ko-KR" sz="1300"/>
              <a:t>35</a:t>
            </a:r>
            <a:r>
              <a:rPr lang="ko-KR" altLang="en-US" sz="1300"/>
              <a:t>개</a:t>
            </a:r>
            <a:r>
              <a:rPr lang="en-US" altLang="ko-KR" sz="1300"/>
              <a:t>)</a:t>
            </a:r>
            <a:endParaRPr lang="ko-KR" altLang="en-US" sz="130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98615CA-2557-4029-87F2-2D6D0650B6EE}"/>
              </a:ext>
            </a:extLst>
          </p:cNvPr>
          <p:cNvSpPr txBox="1"/>
          <p:nvPr/>
        </p:nvSpPr>
        <p:spPr>
          <a:xfrm>
            <a:off x="2642487" y="2439977"/>
            <a:ext cx="2416771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업무</a:t>
            </a:r>
            <a:r>
              <a:rPr lang="en-US" altLang="ko-KR" sz="1300"/>
              <a:t> </a:t>
            </a:r>
            <a:r>
              <a:rPr lang="ko-KR" altLang="en-US" sz="1300"/>
              <a:t>절차</a:t>
            </a:r>
            <a:r>
              <a:rPr lang="en-US" altLang="ko-KR" sz="1300"/>
              <a:t>, </a:t>
            </a:r>
            <a:r>
              <a:rPr lang="ko-KR" altLang="en-US" sz="1300"/>
              <a:t>지침</a:t>
            </a:r>
            <a:r>
              <a:rPr lang="en-US" altLang="ko-KR" sz="1300"/>
              <a:t>, </a:t>
            </a:r>
            <a:r>
              <a:rPr lang="ko-KR" altLang="en-US" sz="1300"/>
              <a:t>조직 정보 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en-US" altLang="ko-KR" sz="1300" spc="-100">
                <a:latin typeface="+mn-ea"/>
              </a:rPr>
              <a:t>P-GPT</a:t>
            </a:r>
            <a:r>
              <a:rPr lang="ko-KR" altLang="en-US" sz="1300" spc="-100">
                <a:latin typeface="+mn-ea"/>
              </a:rPr>
              <a:t> 활용 더미 데이터 생성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9FDEEDF-9C10-4DE3-B44E-5E0063B4B8E2}"/>
              </a:ext>
            </a:extLst>
          </p:cNvPr>
          <p:cNvSpPr txBox="1"/>
          <p:nvPr/>
        </p:nvSpPr>
        <p:spPr>
          <a:xfrm>
            <a:off x="5005526" y="2439977"/>
            <a:ext cx="2363750" cy="6206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사용자 중심 대표 질의 검토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 spc="-100">
                <a:latin typeface="+mn-ea"/>
              </a:rPr>
              <a:t>웹서비스 검색 결과 확인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9479621-151D-4A7F-938E-CF58FEE31A01}"/>
              </a:ext>
            </a:extLst>
          </p:cNvPr>
          <p:cNvSpPr txBox="1"/>
          <p:nvPr/>
        </p:nvSpPr>
        <p:spPr>
          <a:xfrm>
            <a:off x="7358884" y="2439977"/>
            <a:ext cx="2363750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질의와 결과 반복 검증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검색 편중 확인 </a:t>
            </a:r>
            <a:endParaRPr lang="en-US" altLang="ko-KR" sz="1300"/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300"/>
              <a:t> </a:t>
            </a:r>
            <a:r>
              <a:rPr lang="ko-KR" altLang="en-US" sz="1300" spc="-40">
                <a:latin typeface="+mn-ea"/>
              </a:rPr>
              <a:t>→ 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투자〮회계</a:t>
            </a:r>
            <a:r>
              <a:rPr lang="en-US" altLang="ko-KR" sz="1300" spc="-40">
                <a:solidFill>
                  <a:srgbClr val="0000FF"/>
                </a:solidFill>
                <a:latin typeface="+mn-ea"/>
              </a:rPr>
              <a:t> 9</a:t>
            </a:r>
            <a:r>
              <a:rPr lang="ko-KR" altLang="en-US" sz="1300" spc="-40">
                <a:solidFill>
                  <a:srgbClr val="0000FF"/>
                </a:solidFill>
                <a:latin typeface="+mn-ea"/>
              </a:rPr>
              <a:t>개부서로 조정</a:t>
            </a:r>
          </a:p>
        </p:txBody>
      </p:sp>
      <p:cxnSp>
        <p:nvCxnSpPr>
          <p:cNvPr id="11" name="연결선: 꺾임 10">
            <a:extLst>
              <a:ext uri="{FF2B5EF4-FFF2-40B4-BE49-F238E27FC236}">
                <a16:creationId xmlns:a16="http://schemas.microsoft.com/office/drawing/2014/main" id="{3A9AF10E-363D-4C5C-8D6C-FC84F0123DD6}"/>
              </a:ext>
            </a:extLst>
          </p:cNvPr>
          <p:cNvCxnSpPr>
            <a:cxnSpLocks/>
          </p:cNvCxnSpPr>
          <p:nvPr/>
        </p:nvCxnSpPr>
        <p:spPr>
          <a:xfrm rot="5400000" flipH="1">
            <a:off x="7296862" y="2219628"/>
            <a:ext cx="18586" cy="2363394"/>
          </a:xfrm>
          <a:prstGeom prst="bentConnector3">
            <a:avLst>
              <a:gd name="adj1" fmla="val -924047"/>
            </a:avLst>
          </a:prstGeom>
          <a:ln w="12700"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2E50DD97-7199-4C37-928C-3DB44A0EE9EF}"/>
              </a:ext>
            </a:extLst>
          </p:cNvPr>
          <p:cNvGrpSpPr/>
          <p:nvPr/>
        </p:nvGrpSpPr>
        <p:grpSpPr>
          <a:xfrm>
            <a:off x="269337" y="1185161"/>
            <a:ext cx="9337093" cy="532286"/>
            <a:chOff x="269337" y="1185161"/>
            <a:chExt cx="9337093" cy="532286"/>
          </a:xfrm>
        </p:grpSpPr>
        <p:sp>
          <p:nvSpPr>
            <p:cNvPr id="66" name="화살표: 오각형 65">
              <a:extLst>
                <a:ext uri="{FF2B5EF4-FFF2-40B4-BE49-F238E27FC236}">
                  <a16:creationId xmlns:a16="http://schemas.microsoft.com/office/drawing/2014/main" id="{795D8661-7EF7-466E-8604-8999B7F5D1D9}"/>
                </a:ext>
              </a:extLst>
            </p:cNvPr>
            <p:cNvSpPr/>
            <p:nvPr/>
          </p:nvSpPr>
          <p:spPr>
            <a:xfrm>
              <a:off x="6868208" y="1185161"/>
              <a:ext cx="2738222" cy="532286"/>
            </a:xfrm>
            <a:prstGeom prst="homePlate">
              <a:avLst/>
            </a:prstGeom>
            <a:solidFill>
              <a:schemeClr val="accent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각형 62">
              <a:extLst>
                <a:ext uri="{FF2B5EF4-FFF2-40B4-BE49-F238E27FC236}">
                  <a16:creationId xmlns:a16="http://schemas.microsoft.com/office/drawing/2014/main" id="{D95BD950-2E54-4BA9-84B1-6EDD02F58D33}"/>
                </a:ext>
              </a:extLst>
            </p:cNvPr>
            <p:cNvSpPr/>
            <p:nvPr/>
          </p:nvSpPr>
          <p:spPr>
            <a:xfrm>
              <a:off x="4743912" y="1185161"/>
              <a:ext cx="2402470" cy="532286"/>
            </a:xfrm>
            <a:prstGeom prst="homePlat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1" name="화살표: 오각형 60">
              <a:extLst>
                <a:ext uri="{FF2B5EF4-FFF2-40B4-BE49-F238E27FC236}">
                  <a16:creationId xmlns:a16="http://schemas.microsoft.com/office/drawing/2014/main" id="{6A3F156D-487C-447A-9CFB-F967BDF25AD0}"/>
                </a:ext>
              </a:extLst>
            </p:cNvPr>
            <p:cNvSpPr/>
            <p:nvPr/>
          </p:nvSpPr>
          <p:spPr>
            <a:xfrm>
              <a:off x="2632081" y="1185161"/>
              <a:ext cx="2402470" cy="532286"/>
            </a:xfrm>
            <a:prstGeom prst="homePlat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화살표: 오각형 13">
              <a:extLst>
                <a:ext uri="{FF2B5EF4-FFF2-40B4-BE49-F238E27FC236}">
                  <a16:creationId xmlns:a16="http://schemas.microsoft.com/office/drawing/2014/main" id="{7878CD41-4983-42B3-B5AB-6773A45A2E6E}"/>
                </a:ext>
              </a:extLst>
            </p:cNvPr>
            <p:cNvSpPr/>
            <p:nvPr/>
          </p:nvSpPr>
          <p:spPr>
            <a:xfrm>
              <a:off x="269337" y="1185161"/>
              <a:ext cx="2663431" cy="532286"/>
            </a:xfrm>
            <a:prstGeom prst="homePlate">
              <a:avLst/>
            </a:prstGeom>
            <a:solidFill>
              <a:schemeClr val="accent1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0296E0DF-4368-4548-8623-418ABF175C24}"/>
                </a:ext>
              </a:extLst>
            </p:cNvPr>
            <p:cNvSpPr txBox="1"/>
            <p:nvPr/>
          </p:nvSpPr>
          <p:spPr>
            <a:xfrm>
              <a:off x="1125516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/>
                <a:t>문제 정의</a:t>
              </a:r>
            </a:p>
          </p:txBody>
        </p:sp>
        <p:pic>
          <p:nvPicPr>
            <p:cNvPr id="17" name="그래픽 16" descr="돋보기 단색으로 채워진">
              <a:extLst>
                <a:ext uri="{FF2B5EF4-FFF2-40B4-BE49-F238E27FC236}">
                  <a16:creationId xmlns:a16="http://schemas.microsoft.com/office/drawing/2014/main" id="{4F214718-0AD9-4F4F-85CD-A4D47913A25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567315" y="1222704"/>
              <a:ext cx="457200" cy="457200"/>
            </a:xfrm>
            <a:prstGeom prst="rect">
              <a:avLst/>
            </a:prstGeom>
          </p:spPr>
        </p:pic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BDA78A4A-243C-4F1A-B041-F48CE4990FC8}"/>
                </a:ext>
              </a:extLst>
            </p:cNvPr>
            <p:cNvSpPr txBox="1"/>
            <p:nvPr/>
          </p:nvSpPr>
          <p:spPr>
            <a:xfrm>
              <a:off x="3467765" y="1289722"/>
              <a:ext cx="1366576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구현</a:t>
              </a:r>
            </a:p>
          </p:txBody>
        </p: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6D53ADC6-6851-42E1-9D2F-5BA596FC4CFF}"/>
                </a:ext>
              </a:extLst>
            </p:cNvPr>
            <p:cNvSpPr txBox="1"/>
            <p:nvPr/>
          </p:nvSpPr>
          <p:spPr>
            <a:xfrm>
              <a:off x="5506663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샘플링 테스트</a:t>
              </a:r>
            </a:p>
          </p:txBody>
        </p:sp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C85FF9FE-D0AC-430C-BD6D-6040A296D765}"/>
                </a:ext>
              </a:extLst>
            </p:cNvPr>
            <p:cNvSpPr txBox="1"/>
            <p:nvPr/>
          </p:nvSpPr>
          <p:spPr>
            <a:xfrm>
              <a:off x="7824759" y="1289722"/>
              <a:ext cx="1531603" cy="3231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500" b="1">
                  <a:solidFill>
                    <a:schemeClr val="bg1"/>
                  </a:solidFill>
                </a:rPr>
                <a:t>시스템 검증</a:t>
              </a:r>
            </a:p>
          </p:txBody>
        </p:sp>
        <p:pic>
          <p:nvPicPr>
            <p:cNvPr id="46" name="Image 1" descr="/tmp/claude-0/-home-claude/946d89a8-cd71-5282-af60-49c1ab8579af/scratchpad/work/assets/settings_white.png">
              <a:extLst>
                <a:ext uri="{FF2B5EF4-FFF2-40B4-BE49-F238E27FC236}">
                  <a16:creationId xmlns:a16="http://schemas.microsoft.com/office/drawing/2014/main" id="{F50BF36A-E2E7-4B22-9BAC-D166DEAA9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067747" y="1285341"/>
              <a:ext cx="331927" cy="331927"/>
            </a:xfrm>
            <a:prstGeom prst="rect">
              <a:avLst/>
            </a:prstGeom>
          </p:spPr>
        </p:pic>
        <p:pic>
          <p:nvPicPr>
            <p:cNvPr id="50" name="Image 2" descr="/tmp/claude-0/-home-claude/946d89a8-cd71-5282-af60-49c1ab8579af/scratchpad/work/assets/activity_white.png">
              <a:extLst>
                <a:ext uri="{FF2B5EF4-FFF2-40B4-BE49-F238E27FC236}">
                  <a16:creationId xmlns:a16="http://schemas.microsoft.com/office/drawing/2014/main" id="{B340BAB1-EDB9-44F1-8C7E-EF1F75B3337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196412" y="1314144"/>
              <a:ext cx="274320" cy="274320"/>
            </a:xfrm>
            <a:prstGeom prst="rect">
              <a:avLst/>
            </a:prstGeom>
          </p:spPr>
        </p:pic>
        <p:pic>
          <p:nvPicPr>
            <p:cNvPr id="52" name="Image 3" descr="/tmp/claude-0/-home-claude/946d89a8-cd71-5282-af60-49c1ab8579af/scratchpad/work/assets/checkcircle_white.png">
              <a:extLst>
                <a:ext uri="{FF2B5EF4-FFF2-40B4-BE49-F238E27FC236}">
                  <a16:creationId xmlns:a16="http://schemas.microsoft.com/office/drawing/2014/main" id="{100100B4-CFBF-41D8-B7AF-FBFEB6C64059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412932" y="1285341"/>
              <a:ext cx="331927" cy="331927"/>
            </a:xfrm>
            <a:prstGeom prst="rect">
              <a:avLst/>
            </a:prstGeom>
          </p:spPr>
        </p:pic>
      </p:grpSp>
      <p:grpSp>
        <p:nvGrpSpPr>
          <p:cNvPr id="9" name="그룹 8">
            <a:extLst>
              <a:ext uri="{FF2B5EF4-FFF2-40B4-BE49-F238E27FC236}">
                <a16:creationId xmlns:a16="http://schemas.microsoft.com/office/drawing/2014/main" id="{FC687BFB-2DC8-477E-B1A6-81A068793BE8}"/>
              </a:ext>
            </a:extLst>
          </p:cNvPr>
          <p:cNvGrpSpPr/>
          <p:nvPr/>
        </p:nvGrpSpPr>
        <p:grpSpPr>
          <a:xfrm>
            <a:off x="6736701" y="3436911"/>
            <a:ext cx="1138908" cy="307777"/>
            <a:chOff x="6729243" y="3790205"/>
            <a:chExt cx="1138908" cy="307777"/>
          </a:xfrm>
        </p:grpSpPr>
        <p:sp>
          <p:nvSpPr>
            <p:cNvPr id="2" name="순서도: 수행의 시작/종료 1">
              <a:extLst>
                <a:ext uri="{FF2B5EF4-FFF2-40B4-BE49-F238E27FC236}">
                  <a16:creationId xmlns:a16="http://schemas.microsoft.com/office/drawing/2014/main" id="{17091B63-E7E3-43D4-8802-AC987D370FEF}"/>
                </a:ext>
              </a:extLst>
            </p:cNvPr>
            <p:cNvSpPr/>
            <p:nvPr/>
          </p:nvSpPr>
          <p:spPr>
            <a:xfrm>
              <a:off x="6862188" y="3799131"/>
              <a:ext cx="873019" cy="265622"/>
            </a:xfrm>
            <a:prstGeom prst="flowChartTerminator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BDA4C810-13B8-4A1C-9DA1-DD82DC11B8E9}"/>
                </a:ext>
              </a:extLst>
            </p:cNvPr>
            <p:cNvSpPr txBox="1"/>
            <p:nvPr/>
          </p:nvSpPr>
          <p:spPr>
            <a:xfrm>
              <a:off x="6729243" y="3790205"/>
              <a:ext cx="113890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1400" b="1">
                  <a:solidFill>
                    <a:schemeClr val="bg1"/>
                  </a:solidFill>
                </a:rPr>
                <a:t>반복 검증</a:t>
              </a:r>
            </a:p>
          </p:txBody>
        </p:sp>
      </p:grpSp>
      <p:sp>
        <p:nvSpPr>
          <p:cNvPr id="55" name="사각형: 둥근 모서리 54">
            <a:extLst>
              <a:ext uri="{FF2B5EF4-FFF2-40B4-BE49-F238E27FC236}">
                <a16:creationId xmlns:a16="http://schemas.microsoft.com/office/drawing/2014/main" id="{B7084B80-B74C-4C08-810A-65D48EE75768}"/>
              </a:ext>
            </a:extLst>
          </p:cNvPr>
          <p:cNvSpPr/>
          <p:nvPr/>
        </p:nvSpPr>
        <p:spPr>
          <a:xfrm>
            <a:off x="278540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6" name="사각형: 둥근 모서리 55">
            <a:extLst>
              <a:ext uri="{FF2B5EF4-FFF2-40B4-BE49-F238E27FC236}">
                <a16:creationId xmlns:a16="http://schemas.microsoft.com/office/drawing/2014/main" id="{00E481D7-F35E-40BC-9D34-8C59C52A6368}"/>
              </a:ext>
            </a:extLst>
          </p:cNvPr>
          <p:cNvSpPr/>
          <p:nvPr/>
        </p:nvSpPr>
        <p:spPr>
          <a:xfrm>
            <a:off x="346519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2F8F77D-5F76-4CB9-A976-17C1B8431A31}"/>
              </a:ext>
            </a:extLst>
          </p:cNvPr>
          <p:cNvSpPr/>
          <p:nvPr/>
        </p:nvSpPr>
        <p:spPr>
          <a:xfrm>
            <a:off x="6640874" y="4085703"/>
            <a:ext cx="2985462" cy="1722535"/>
          </a:xfrm>
          <a:prstGeom prst="roundRect">
            <a:avLst>
              <a:gd name="adj" fmla="val 5661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2" name="직선 연결선 61">
            <a:extLst>
              <a:ext uri="{FF2B5EF4-FFF2-40B4-BE49-F238E27FC236}">
                <a16:creationId xmlns:a16="http://schemas.microsoft.com/office/drawing/2014/main" id="{C2AB7FE7-9857-4180-8A8D-F2593EB0252B}"/>
              </a:ext>
            </a:extLst>
          </p:cNvPr>
          <p:cNvCxnSpPr>
            <a:cxnSpLocks/>
          </p:cNvCxnSpPr>
          <p:nvPr/>
        </p:nvCxnSpPr>
        <p:spPr>
          <a:xfrm>
            <a:off x="418603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직선 연결선 63">
            <a:extLst>
              <a:ext uri="{FF2B5EF4-FFF2-40B4-BE49-F238E27FC236}">
                <a16:creationId xmlns:a16="http://schemas.microsoft.com/office/drawing/2014/main" id="{270489A1-A9CE-4284-A951-808A02CAF920}"/>
              </a:ext>
            </a:extLst>
          </p:cNvPr>
          <p:cNvCxnSpPr>
            <a:cxnSpLocks/>
          </p:cNvCxnSpPr>
          <p:nvPr/>
        </p:nvCxnSpPr>
        <p:spPr>
          <a:xfrm>
            <a:off x="360525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직선 연결선 64">
            <a:extLst>
              <a:ext uri="{FF2B5EF4-FFF2-40B4-BE49-F238E27FC236}">
                <a16:creationId xmlns:a16="http://schemas.microsoft.com/office/drawing/2014/main" id="{D3AD09C5-3FF6-40FB-992F-5FF47231E8E6}"/>
              </a:ext>
            </a:extLst>
          </p:cNvPr>
          <p:cNvCxnSpPr>
            <a:cxnSpLocks/>
          </p:cNvCxnSpPr>
          <p:nvPr/>
        </p:nvCxnSpPr>
        <p:spPr>
          <a:xfrm>
            <a:off x="6780937" y="4617488"/>
            <a:ext cx="2705337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D18A1409-4FAA-4684-B91E-7BC9030361B0}"/>
              </a:ext>
            </a:extLst>
          </p:cNvPr>
          <p:cNvSpPr txBox="1"/>
          <p:nvPr/>
        </p:nvSpPr>
        <p:spPr>
          <a:xfrm>
            <a:off x="541991" y="4276554"/>
            <a:ext cx="2520908" cy="323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/>
              <a:t>일단 </a:t>
            </a:r>
            <a:r>
              <a:rPr lang="ko-KR" altLang="en-US" sz="1500" b="1">
                <a:solidFill>
                  <a:srgbClr val="0000FF"/>
                </a:solidFill>
              </a:rPr>
              <a:t>동작</a:t>
            </a:r>
            <a:r>
              <a:rPr lang="ko-KR" altLang="en-US" sz="1500" b="1"/>
              <a:t>하게 만들기</a:t>
            </a:r>
          </a:p>
        </p:txBody>
      </p:sp>
      <p:sp>
        <p:nvSpPr>
          <p:cNvPr id="70" name="사각형: 둥근 모서리 69">
            <a:extLst>
              <a:ext uri="{FF2B5EF4-FFF2-40B4-BE49-F238E27FC236}">
                <a16:creationId xmlns:a16="http://schemas.microsoft.com/office/drawing/2014/main" id="{EAD1CE62-B09A-4942-8724-BD99F5F5D652}"/>
              </a:ext>
            </a:extLst>
          </p:cNvPr>
          <p:cNvSpPr/>
          <p:nvPr/>
        </p:nvSpPr>
        <p:spPr>
          <a:xfrm>
            <a:off x="278540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1~2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3D50405-FE7C-48A4-8D57-6DA743923DE1}"/>
              </a:ext>
            </a:extLst>
          </p:cNvPr>
          <p:cNvSpPr txBox="1"/>
          <p:nvPr/>
        </p:nvSpPr>
        <p:spPr>
          <a:xfrm>
            <a:off x="278540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질문의 </a:t>
            </a:r>
            <a:r>
              <a:rPr lang="ko-KR" altLang="en-US" sz="1300" b="1">
                <a:solidFill>
                  <a:srgbClr val="0000FF"/>
                </a:solidFill>
              </a:rPr>
              <a:t>키워드</a:t>
            </a:r>
            <a:r>
              <a:rPr lang="en-US" altLang="ko-KR" sz="1300"/>
              <a:t>, </a:t>
            </a:r>
            <a:r>
              <a:rPr lang="ko-KR" altLang="en-US" sz="1300"/>
              <a:t>조건 분석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/>
              <a:t> </a:t>
            </a:r>
            <a:r>
              <a:rPr lang="ko-KR" altLang="en-US" sz="1300"/>
              <a:t>사전에 정의한 규칙 기반 부서</a:t>
            </a:r>
            <a:r>
              <a:rPr lang="en-US" altLang="ko-KR" sz="1300"/>
              <a:t> </a:t>
            </a:r>
            <a:r>
              <a:rPr lang="ko-KR" altLang="en-US" sz="1300"/>
              <a:t>탐색</a:t>
            </a:r>
            <a:endParaRPr lang="en-US" altLang="ko-KR" sz="1300"/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/>
              <a:t> 규칙에 설정된 추천 결과와 사유 제공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FFDD4A2-0B1D-4364-A72B-046E84ED795D}"/>
              </a:ext>
            </a:extLst>
          </p:cNvPr>
          <p:cNvSpPr txBox="1"/>
          <p:nvPr/>
        </p:nvSpPr>
        <p:spPr>
          <a:xfrm>
            <a:off x="3475479" y="4276554"/>
            <a:ext cx="2975177" cy="3355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500" b="1">
                <a:latin typeface="+mn-ea"/>
              </a:rPr>
              <a:t>의미 기반 </a:t>
            </a:r>
            <a:r>
              <a:rPr lang="en-US" altLang="ko-KR" sz="1500" b="1">
                <a:solidFill>
                  <a:srgbClr val="0000FF"/>
                </a:solidFill>
                <a:latin typeface="+mn-ea"/>
              </a:rPr>
              <a:t>RAG </a:t>
            </a:r>
            <a:r>
              <a:rPr lang="ko-KR" altLang="en-US" sz="1500" b="1">
                <a:solidFill>
                  <a:srgbClr val="0000FF"/>
                </a:solidFill>
                <a:latin typeface="+mn-ea"/>
              </a:rPr>
              <a:t>적용</a:t>
            </a:r>
          </a:p>
        </p:txBody>
      </p:sp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CB47F781-9C02-49D6-B353-D2D75C834CC9}"/>
              </a:ext>
            </a:extLst>
          </p:cNvPr>
          <p:cNvSpPr/>
          <p:nvPr/>
        </p:nvSpPr>
        <p:spPr>
          <a:xfrm>
            <a:off x="3465194" y="3894825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2~3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43C3A94-281E-4546-BCD0-9C717D1DBCA3}"/>
              </a:ext>
            </a:extLst>
          </p:cNvPr>
          <p:cNvSpPr txBox="1"/>
          <p:nvPr/>
        </p:nvSpPr>
        <p:spPr>
          <a:xfrm>
            <a:off x="3475478" y="4738902"/>
            <a:ext cx="3027903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</a:t>
            </a:r>
            <a:r>
              <a:rPr lang="en-US" altLang="ko-KR" sz="1300">
                <a:latin typeface="+mn-ea"/>
              </a:rPr>
              <a:t>Embedding </a:t>
            </a:r>
            <a:r>
              <a:rPr lang="ko-KR" altLang="en-US" sz="1300">
                <a:latin typeface="+mn-ea"/>
              </a:rPr>
              <a:t>기반 </a:t>
            </a:r>
            <a:r>
              <a:rPr lang="ko-KR" altLang="en-US" sz="1300" b="1">
                <a:solidFill>
                  <a:srgbClr val="0000FF"/>
                </a:solidFill>
                <a:latin typeface="+mn-ea"/>
              </a:rPr>
              <a:t>의미</a:t>
            </a:r>
            <a:r>
              <a:rPr lang="ko-KR" altLang="en-US" sz="1300">
                <a:latin typeface="+mn-ea"/>
              </a:rPr>
              <a:t> 검색 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Metadata </a:t>
            </a:r>
            <a:r>
              <a:rPr lang="ko-KR" altLang="en-US" sz="1300" spc="-40">
                <a:latin typeface="+mn-ea"/>
              </a:rPr>
              <a:t>활용 부서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문서</a:t>
            </a:r>
            <a:r>
              <a:rPr lang="en-US" altLang="ko-KR" sz="1300" spc="-40">
                <a:latin typeface="+mn-ea"/>
              </a:rPr>
              <a:t>,</a:t>
            </a:r>
            <a:r>
              <a:rPr lang="ko-KR" altLang="en-US" sz="1300" spc="-40">
                <a:latin typeface="+mn-ea"/>
              </a:rPr>
              <a:t>출처 필터링</a:t>
            </a:r>
            <a:endParaRPr lang="en-US" altLang="ko-KR" sz="13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검색 근거 바탕 추천 이유 제시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C0C0494-F9D5-4E04-A2DA-9FC6B4334384}"/>
              </a:ext>
            </a:extLst>
          </p:cNvPr>
          <p:cNvSpPr txBox="1"/>
          <p:nvPr/>
        </p:nvSpPr>
        <p:spPr>
          <a:xfrm>
            <a:off x="6578898" y="4276554"/>
            <a:ext cx="3133345" cy="32398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500" b="1" spc="-40">
                <a:latin typeface="+mn-ea"/>
              </a:rPr>
              <a:t>RAGAS </a:t>
            </a:r>
            <a:r>
              <a:rPr lang="ko-KR" altLang="en-US" sz="1500" b="1" spc="-40">
                <a:latin typeface="+mn-ea"/>
              </a:rPr>
              <a:t>활용 </a:t>
            </a:r>
            <a:r>
              <a:rPr lang="ko-KR" altLang="en-US" sz="1500" b="1" spc="-40">
                <a:solidFill>
                  <a:srgbClr val="0000FF"/>
                </a:solidFill>
                <a:latin typeface="+mn-ea"/>
              </a:rPr>
              <a:t>검색품질 고도화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DC062B4C-208A-4E1B-AD33-7E6C1C36E566}"/>
              </a:ext>
            </a:extLst>
          </p:cNvPr>
          <p:cNvSpPr/>
          <p:nvPr/>
        </p:nvSpPr>
        <p:spPr>
          <a:xfrm>
            <a:off x="6640874" y="3912142"/>
            <a:ext cx="820647" cy="247920"/>
          </a:xfrm>
          <a:prstGeom prst="roundRect">
            <a:avLst/>
          </a:prstGeom>
          <a:solidFill>
            <a:srgbClr val="DEEB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b="1" spc="-100">
                <a:solidFill>
                  <a:schemeClr val="tx1"/>
                </a:solidFill>
                <a:latin typeface="+mn-ea"/>
              </a:rPr>
              <a:t>3</a:t>
            </a:r>
            <a:r>
              <a:rPr lang="ko-KR" altLang="en-US" sz="1200" b="1" spc="-100">
                <a:solidFill>
                  <a:schemeClr val="tx1"/>
                </a:solidFill>
                <a:latin typeface="+mn-ea"/>
              </a:rPr>
              <a:t>주차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0CA5A2D-FD63-4290-A2D2-0482E8F00835}"/>
              </a:ext>
            </a:extLst>
          </p:cNvPr>
          <p:cNvSpPr txBox="1"/>
          <p:nvPr/>
        </p:nvSpPr>
        <p:spPr>
          <a:xfrm>
            <a:off x="6651635" y="4738902"/>
            <a:ext cx="2985462" cy="9489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평가용 골든셋</a:t>
            </a:r>
            <a:r>
              <a:rPr lang="en-US" altLang="ko-KR" sz="1300">
                <a:latin typeface="+mn-ea"/>
              </a:rPr>
              <a:t>(</a:t>
            </a:r>
            <a:r>
              <a:rPr lang="ko-KR" altLang="en-US" sz="1300">
                <a:latin typeface="+mn-ea"/>
              </a:rPr>
              <a:t>정답지</a:t>
            </a:r>
            <a:r>
              <a:rPr lang="en-US" altLang="ko-KR" sz="1300">
                <a:latin typeface="+mn-ea"/>
              </a:rPr>
              <a:t>)</a:t>
            </a:r>
            <a:r>
              <a:rPr lang="ko-KR" altLang="en-US" sz="1300">
                <a:latin typeface="+mn-ea"/>
              </a:rPr>
              <a:t> 생성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300">
                <a:latin typeface="+mn-ea"/>
              </a:rPr>
              <a:t> </a:t>
            </a:r>
            <a:r>
              <a:rPr lang="en-US" altLang="ko-KR" sz="1300" kern="0">
                <a:latin typeface="+mn-ea"/>
              </a:rPr>
              <a:t>LangSmith</a:t>
            </a:r>
            <a:r>
              <a:rPr lang="ko-KR" altLang="en-US" sz="1300">
                <a:latin typeface="+mn-ea"/>
              </a:rPr>
              <a:t>로 채점 자동화</a:t>
            </a:r>
            <a:endParaRPr lang="en-US" altLang="ko-KR" sz="13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300">
                <a:latin typeface="+mn-ea"/>
              </a:rPr>
              <a:t> 채점결과 반영 추가 문제점 개선</a:t>
            </a:r>
          </a:p>
        </p:txBody>
      </p:sp>
      <p:sp>
        <p:nvSpPr>
          <p:cNvPr id="80" name="이등변 삼각형 79">
            <a:extLst>
              <a:ext uri="{FF2B5EF4-FFF2-40B4-BE49-F238E27FC236}">
                <a16:creationId xmlns:a16="http://schemas.microsoft.com/office/drawing/2014/main" id="{9B55912F-4B67-4B5C-835C-47C2FEEF12FD}"/>
              </a:ext>
            </a:extLst>
          </p:cNvPr>
          <p:cNvSpPr/>
          <p:nvPr/>
        </p:nvSpPr>
        <p:spPr>
          <a:xfrm rot="5400000">
            <a:off x="3281622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이등변 삼각형 80">
            <a:extLst>
              <a:ext uri="{FF2B5EF4-FFF2-40B4-BE49-F238E27FC236}">
                <a16:creationId xmlns:a16="http://schemas.microsoft.com/office/drawing/2014/main" id="{EBDFF46A-7DE0-4236-9D84-39C5232600A4}"/>
              </a:ext>
            </a:extLst>
          </p:cNvPr>
          <p:cNvSpPr/>
          <p:nvPr/>
        </p:nvSpPr>
        <p:spPr>
          <a:xfrm rot="5400000">
            <a:off x="6468171" y="4871135"/>
            <a:ext cx="166088" cy="120792"/>
          </a:xfrm>
          <a:prstGeom prst="triangl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82" name="그룹 81">
            <a:extLst>
              <a:ext uri="{FF2B5EF4-FFF2-40B4-BE49-F238E27FC236}">
                <a16:creationId xmlns:a16="http://schemas.microsoft.com/office/drawing/2014/main" id="{6145DA41-BC38-4528-BF35-80A7EC9C7771}"/>
              </a:ext>
            </a:extLst>
          </p:cNvPr>
          <p:cNvGrpSpPr/>
          <p:nvPr/>
        </p:nvGrpSpPr>
        <p:grpSpPr>
          <a:xfrm>
            <a:off x="325500" y="6138454"/>
            <a:ext cx="511817" cy="431452"/>
            <a:chOff x="-895525" y="3274733"/>
            <a:chExt cx="619300" cy="474597"/>
          </a:xfrm>
        </p:grpSpPr>
        <p:sp>
          <p:nvSpPr>
            <p:cNvPr id="83" name="타원 82">
              <a:extLst>
                <a:ext uri="{FF2B5EF4-FFF2-40B4-BE49-F238E27FC236}">
                  <a16:creationId xmlns:a16="http://schemas.microsoft.com/office/drawing/2014/main" id="{16FF509C-8177-4F2F-9D93-F5312620F65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4" name="화살표: 오른쪽 83">
              <a:extLst>
                <a:ext uri="{FF2B5EF4-FFF2-40B4-BE49-F238E27FC236}">
                  <a16:creationId xmlns:a16="http://schemas.microsoft.com/office/drawing/2014/main" id="{9A89337C-753D-4F4A-89D4-87DE20AD0384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7317875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586732"/>
            <a:ext cx="9159954" cy="1365105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3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시도를 통한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신규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설비 구매 매칭 오류 발견과 보완 검증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(3/6)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257155" y="118698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문제 발견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257155" y="199252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>
                <a:solidFill>
                  <a:schemeClr val="bg1"/>
                </a:solidFill>
                <a:latin typeface="+mn-ea"/>
              </a:rPr>
              <a:t>원인 진단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257156" y="285312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보완 조치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924403" y="1124762"/>
            <a:ext cx="3765573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"생산설비 신규구매" 질의 매칭 누락 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유사도 </a:t>
            </a:r>
            <a:r>
              <a:rPr lang="en-US" altLang="ko-KR" sz="1300" spc="-40">
                <a:latin typeface="+mn-ea"/>
              </a:rPr>
              <a:t>0.4)</a:t>
            </a: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정비성 투자 등 유사 케이스도 재현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924403" y="1930305"/>
            <a:ext cx="3709182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검색 핵심어 사전 부족 · 유사도 기준 미달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투자관리그룹 문서에 문구 · 점수 부족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924402" y="2671637"/>
            <a:ext cx="39598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>
                <a:latin typeface="+mn-ea"/>
              </a:rPr>
              <a:t>도메인 핵심 키워드 사전 확장 </a:t>
            </a:r>
            <a:r>
              <a:rPr lang="en-US" altLang="ko-KR" sz="1300" spc="-40">
                <a:latin typeface="+mn-ea"/>
              </a:rPr>
              <a:t>·</a:t>
            </a:r>
            <a:r>
              <a:rPr lang="ko-KR" altLang="en-US" sz="1300">
                <a:latin typeface="+mn-ea"/>
              </a:rPr>
              <a:t> 근거 문서 보강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프롬프트 규칙 추가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보완 검색 로직 개선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5개 시나리오 재검증, 회귀 0건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148381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904443" y="231113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954599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623985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① 발견된 문제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970098" y="5165431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생산설비 매칭 오류 3건 발견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04098" y="5165431"/>
            <a:ext cx="3013056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 spc="-40">
                <a:latin typeface="+mn-ea"/>
              </a:rPr>
              <a:t>핵심 키워드 사전</a:t>
            </a:r>
            <a:r>
              <a:rPr lang="en-US" altLang="ko-KR" sz="1300" spc="-40">
                <a:latin typeface="+mn-ea"/>
              </a:rPr>
              <a:t> · </a:t>
            </a:r>
            <a:r>
              <a:rPr lang="ko-KR" altLang="en-US" sz="1300" spc="-40">
                <a:latin typeface="+mn-ea"/>
              </a:rPr>
              <a:t>임계값 2가지 원인</a:t>
            </a:r>
            <a:endParaRPr lang="en-US" altLang="ko-KR" sz="1300" spc="-4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→ 유사도 점수로 진단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755846" y="5659449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>
                <a:latin typeface="+mn-ea"/>
              </a:rPr>
              <a:t>근거 문서 </a:t>
            </a:r>
            <a:r>
              <a:rPr lang="en-US" altLang="ko-KR" sz="1300" spc="-40">
                <a:latin typeface="+mn-ea"/>
              </a:rPr>
              <a:t>2</a:t>
            </a:r>
            <a:r>
              <a:rPr lang="ko-KR" altLang="en-US" sz="1300" spc="-40">
                <a:latin typeface="+mn-ea"/>
              </a:rPr>
              <a:t>건 신설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623985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② 원인 진단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623985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>
                <a:latin typeface="+mn-ea"/>
              </a:rPr>
              <a:t>③ 보완 및 재검증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4103557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재검증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설비 구매 매칭 오류 재현 및 </a:t>
            </a:r>
            <a:r>
              <a:rPr lang="en-US" altLang="ko-KR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수정</a:t>
            </a:r>
            <a:r>
              <a:rPr lang="ko-KR" altLang="en-US" sz="1400" spc="-20">
                <a:solidFill>
                  <a:prstClr val="black"/>
                </a:solidFill>
                <a:latin typeface="+mn-ea"/>
                <a:sym typeface="Wingdings" pitchFamily="2" charset="2"/>
              </a:rPr>
              <a:t> 후 동작 재검증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4213546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34" name="그림 33">
            <a:extLst>
              <a:ext uri="{FF2B5EF4-FFF2-40B4-BE49-F238E27FC236}">
                <a16:creationId xmlns:a16="http://schemas.microsoft.com/office/drawing/2014/main" id="{E98EEE92-2BAD-48E7-A9E1-5FE5B50C593C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tretch/>
        </p:blipFill>
        <p:spPr>
          <a:xfrm>
            <a:off x="417123" y="1261354"/>
            <a:ext cx="3709182" cy="2007715"/>
          </a:xfrm>
          <a:prstGeom prst="roundRect">
            <a:avLst>
              <a:gd name="adj" fmla="val 3500"/>
            </a:avLst>
          </a:prstGeom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26814" y="5473402"/>
            <a:ext cx="25103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>
                <a:latin typeface="+mn-ea"/>
              </a:rPr>
              <a:t>(미매칭 · 금액오판 · 임계값 미달)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65431"/>
            <a:ext cx="2253953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핵심 키워드 · 문서 ·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 프롬프트 · 보완 검색 로직</a:t>
            </a:r>
            <a:endParaRPr lang="en-US" altLang="ko-KR" sz="1300">
              <a:latin typeface="+mn-ea"/>
            </a:endParaRPr>
          </a:p>
          <a:p>
            <a:pPr algn="ctr">
              <a:spcBef>
                <a:spcPts val="300"/>
              </a:spcBef>
            </a:pPr>
            <a:r>
              <a:rPr lang="ko-KR" altLang="en-US" sz="1300">
                <a:latin typeface="+mn-ea"/>
              </a:rPr>
              <a:t>4개 영역 개선</a:t>
            </a:r>
            <a:endParaRPr lang="en-US" altLang="ko-KR" sz="1300"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38755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43116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6097268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577919" y="6114236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5/5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86219" y="6152708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재검증 통과율 </a:t>
            </a:r>
            <a:r>
              <a:rPr lang="en-US" altLang="ko-KR" sz="1300" spc="-40">
                <a:latin typeface="+mn-ea"/>
              </a:rPr>
              <a:t>100%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680485" y="6103671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0.43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98735" y="6142143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정비성 투자 유사도 개선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742343" y="6103671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419028" y="6142143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근거 문서 보강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419028" y="6463972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</a:rPr>
              <a:t>회귀 없음 (기존 4건 유지)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98735" y="6463972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0.40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0.43, 임계값 통과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386220" y="6463972"/>
            <a:ext cx="195090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매칭 근거 확보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04519" y="4934795"/>
            <a:ext cx="329184" cy="329184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7176" y="4965968"/>
            <a:ext cx="329184" cy="329184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801164" y="4965968"/>
            <a:ext cx="352541" cy="352541"/>
          </a:xfrm>
          <a:prstGeom prst="rect">
            <a:avLst/>
          </a:prstGeom>
        </p:spPr>
      </p:pic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3556652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임계값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(0.4)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 조정 없이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필요 조건 개선으로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정비성 투자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’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통과 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&amp; ‘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결산 처리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‘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멀어지게 보완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3593571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+mn-ea"/>
                <a:sym typeface="Wingdings" pitchFamily="2" charset="2"/>
              </a:rPr>
              <a:t>LangChain RAG 매칭 개선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FCC4792D-B291-4AD2-AA5E-0457BC61338D}"/>
              </a:ext>
            </a:extLst>
          </p:cNvPr>
          <p:cNvSpPr/>
          <p:nvPr/>
        </p:nvSpPr>
        <p:spPr>
          <a:xfrm>
            <a:off x="1974273" y="1645286"/>
            <a:ext cx="571500" cy="1603918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  <p:sp>
        <p:nvSpPr>
          <p:cNvPr id="72" name="사각형: 둥근 모서리 71">
            <a:extLst>
              <a:ext uri="{FF2B5EF4-FFF2-40B4-BE49-F238E27FC236}">
                <a16:creationId xmlns:a16="http://schemas.microsoft.com/office/drawing/2014/main" id="{0EB8DD7F-1748-4877-8360-AF42995E2A78}"/>
              </a:ext>
            </a:extLst>
          </p:cNvPr>
          <p:cNvSpPr/>
          <p:nvPr/>
        </p:nvSpPr>
        <p:spPr>
          <a:xfrm>
            <a:off x="3246975" y="1791097"/>
            <a:ext cx="571500" cy="1458107"/>
          </a:xfrm>
          <a:prstGeom prst="roundRect">
            <a:avLst>
              <a:gd name="adj" fmla="val 11212"/>
            </a:avLst>
          </a:prstGeom>
          <a:noFill/>
          <a:ln w="19050"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511273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10">
            <a:extLst>
              <a:ext uri="{FF2B5EF4-FFF2-40B4-BE49-F238E27FC236}">
                <a16:creationId xmlns:a16="http://schemas.microsoft.com/office/drawing/2014/main" id="{22591E7D-BAF5-475C-94CC-AFCA136B26C8}"/>
              </a:ext>
            </a:extLst>
          </p:cNvPr>
          <p:cNvSpPr/>
          <p:nvPr/>
        </p:nvSpPr>
        <p:spPr>
          <a:xfrm>
            <a:off x="351453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91" name="Shape 10">
            <a:extLst>
              <a:ext uri="{FF2B5EF4-FFF2-40B4-BE49-F238E27FC236}">
                <a16:creationId xmlns:a16="http://schemas.microsoft.com/office/drawing/2014/main" id="{77EBBBFD-D2F1-4392-809F-F0195F6E44BA}"/>
              </a:ext>
            </a:extLst>
          </p:cNvPr>
          <p:cNvSpPr/>
          <p:nvPr/>
        </p:nvSpPr>
        <p:spPr>
          <a:xfrm>
            <a:off x="5083914" y="1306107"/>
            <a:ext cx="4535223" cy="2582693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E1E6F0"/>
            </a:solidFill>
            <a:prstDash val="solid"/>
          </a:ln>
          <a:effectLst>
            <a:outerShdw blurRad="101600" dist="25400" dir="5400000" algn="bl" rotWithShape="0">
              <a:srgbClr val="6B7CA8">
                <a:alpha val="12000"/>
              </a:srgbClr>
            </a:outerShdw>
          </a:effectLst>
        </p:spPr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4. 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RAGAS</a:t>
            </a:r>
            <a:r>
              <a:rPr lang="ko-KR" altLang="en-US" sz="2000" b="1" spc="-100">
                <a:solidFill>
                  <a:prstClr val="black"/>
                </a:solidFill>
                <a:latin typeface="+mn-ea"/>
              </a:rPr>
              <a:t> 적용</a:t>
            </a:r>
            <a:r>
              <a:rPr lang="en-US" altLang="ko-KR" sz="2000" b="1" spc="-100">
                <a:solidFill>
                  <a:prstClr val="black"/>
                </a:solidFill>
                <a:latin typeface="+mn-ea"/>
              </a:rPr>
              <a:t> + </a:t>
            </a:r>
            <a:r>
              <a:rPr lang="en-US" altLang="ko-KR" sz="2000" b="1">
                <a:latin typeface="+mn-ea"/>
              </a:rPr>
              <a:t>LangSmith </a:t>
            </a:r>
            <a:r>
              <a:rPr lang="ko-KR" altLang="en-US" sz="2000" b="1">
                <a:latin typeface="+mn-ea"/>
              </a:rPr>
              <a:t>기반 자동 평가 도입과 검색 품질 고도화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n-ea"/>
              </a:rPr>
              <a:t>(4/6)</a:t>
            </a:r>
            <a:endParaRPr lang="ko-KR" altLang="en-US" sz="1400" b="1">
              <a:solidFill>
                <a:schemeClr val="bg1"/>
              </a:solidFill>
              <a:latin typeface="+mn-ea"/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6621341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630194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3624568" y="4975043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6621341" y="4986728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68%</a:t>
            </a:r>
            <a:endParaRPr lang="ko-KR" altLang="en-US" b="1"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7392159" y="5025200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골든셋 정답률 상승 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630194" y="4986728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79%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1447713" y="5025200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매칭 정확도 향상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3624568" y="4986728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89%</a:t>
            </a:r>
            <a:endParaRPr lang="ko-KR" altLang="en-US" b="1">
              <a:latin typeface="+mn-ea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4395269" y="5025200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대폭 개선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4395269" y="5341747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45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89%,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1489277" y="5341747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63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7392159" y="5341747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19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건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자동 채점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, 37 </a:t>
            </a:r>
            <a:r>
              <a:rPr lang="ko-KR" altLang="en-US" sz="1200" b="1" spc="-40">
                <a:solidFill>
                  <a:srgbClr val="2082C8"/>
                </a:solidFill>
                <a:latin typeface="+mn-ea"/>
              </a:rPr>
              <a:t>→ </a:t>
            </a:r>
            <a:r>
              <a:rPr lang="en-US" altLang="ko-KR" sz="1200" b="1" spc="-40">
                <a:solidFill>
                  <a:srgbClr val="2082C8"/>
                </a:solidFill>
                <a:latin typeface="+mn-ea"/>
              </a:rPr>
              <a:t>68%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B1E69C4D-ADC3-431D-9705-D37264BD7D82}"/>
              </a:ext>
            </a:extLst>
          </p:cNvPr>
          <p:cNvSpPr/>
          <p:nvPr/>
        </p:nvSpPr>
        <p:spPr>
          <a:xfrm>
            <a:off x="400396" y="4003465"/>
            <a:ext cx="9176682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>
                <a:solidFill>
                  <a:schemeClr val="tx1"/>
                </a:solidFill>
                <a:latin typeface="+mn-ea"/>
              </a:rPr>
              <a:t>점수 격차 기준 판정 도입으로 주관부서 매칭 및 협업부서 판단 정확도</a:t>
            </a:r>
            <a:r>
              <a:rPr lang="en-US" altLang="ko-KR" sz="1500" b="1">
                <a:solidFill>
                  <a:schemeClr val="tx1"/>
                </a:solidFill>
                <a:latin typeface="+mn-ea"/>
              </a:rPr>
              <a:t>, </a:t>
            </a:r>
            <a:r>
              <a:rPr lang="ko-KR" altLang="en-US" sz="1500" b="1">
                <a:solidFill>
                  <a:schemeClr val="tx1"/>
                </a:solidFill>
                <a:latin typeface="+mn-ea"/>
              </a:rPr>
              <a:t>골든셋 정답률 개선 </a:t>
            </a:r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BBA3CC4C-109D-46B8-93DD-3494A90BF862}"/>
              </a:ext>
            </a:extLst>
          </p:cNvPr>
          <p:cNvGrpSpPr/>
          <p:nvPr/>
        </p:nvGrpSpPr>
        <p:grpSpPr>
          <a:xfrm>
            <a:off x="408628" y="4040384"/>
            <a:ext cx="511817" cy="431452"/>
            <a:chOff x="-895525" y="3274733"/>
            <a:chExt cx="619300" cy="474597"/>
          </a:xfrm>
        </p:grpSpPr>
        <p:sp>
          <p:nvSpPr>
            <p:cNvPr id="64" name="타원 63">
              <a:extLst>
                <a:ext uri="{FF2B5EF4-FFF2-40B4-BE49-F238E27FC236}">
                  <a16:creationId xmlns:a16="http://schemas.microsoft.com/office/drawing/2014/main" id="{AD398BF7-2A26-4E0B-969F-A094DA129D76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  <p:sp>
          <p:nvSpPr>
            <p:cNvPr id="67" name="화살표: 오른쪽 66">
              <a:extLst>
                <a:ext uri="{FF2B5EF4-FFF2-40B4-BE49-F238E27FC236}">
                  <a16:creationId xmlns:a16="http://schemas.microsoft.com/office/drawing/2014/main" id="{BB44404D-E889-40AE-91F9-8DA32BC9729D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atin typeface="+mn-ea"/>
              </a:endParaRPr>
            </a:p>
          </p:txBody>
        </p:sp>
      </p:grp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634B68E6-9691-49B5-8BB6-98FDE372DE7C}"/>
              </a:ext>
            </a:extLst>
          </p:cNvPr>
          <p:cNvSpPr/>
          <p:nvPr/>
        </p:nvSpPr>
        <p:spPr>
          <a:xfrm>
            <a:off x="556286" y="702152"/>
            <a:ext cx="9020792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RAGAS </a:t>
            </a:r>
            <a:r>
              <a:rPr lang="ko-KR" altLang="en-US" sz="1400" b="1">
                <a:latin typeface="+mn-ea"/>
              </a:rPr>
              <a:t>평가 기준을 적용하고</a:t>
            </a:r>
            <a:r>
              <a:rPr lang="en-US" altLang="ko-KR" sz="1400" b="1">
                <a:latin typeface="+mn-ea"/>
              </a:rPr>
              <a:t>, LangSmith</a:t>
            </a:r>
            <a:r>
              <a:rPr lang="ko-KR" altLang="en-US" sz="1400" b="1">
                <a:latin typeface="+mn-ea"/>
              </a:rPr>
              <a:t>로 전체 실행 과정과 채점 결과를 자동 관리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69" name="그룹 68">
            <a:extLst>
              <a:ext uri="{FF2B5EF4-FFF2-40B4-BE49-F238E27FC236}">
                <a16:creationId xmlns:a16="http://schemas.microsoft.com/office/drawing/2014/main" id="{B85791DF-C4D1-4E47-B17C-E202D45B3F5B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70" name="모서리가 둥근 직사각형 320">
              <a:extLst>
                <a:ext uri="{FF2B5EF4-FFF2-40B4-BE49-F238E27FC236}">
                  <a16:creationId xmlns:a16="http://schemas.microsoft.com/office/drawing/2014/main" id="{2D2D06E9-8C50-4536-8A0A-68B55762539C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+mn-ea"/>
                <a:cs typeface="Arial" panose="020B0604020202020204" pitchFamily="34" charset="0"/>
              </a:endParaRPr>
            </a:p>
          </p:txBody>
        </p:sp>
        <p:pic>
          <p:nvPicPr>
            <p:cNvPr id="71" name="그림 70" descr="7.png">
              <a:extLst>
                <a:ext uri="{FF2B5EF4-FFF2-40B4-BE49-F238E27FC236}">
                  <a16:creationId xmlns:a16="http://schemas.microsoft.com/office/drawing/2014/main" id="{87BBC54F-1B09-4544-A016-1A45EBFA7F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pic>
        <p:nvPicPr>
          <p:cNvPr id="6" name="그림 5">
            <a:extLst>
              <a:ext uri="{FF2B5EF4-FFF2-40B4-BE49-F238E27FC236}">
                <a16:creationId xmlns:a16="http://schemas.microsoft.com/office/drawing/2014/main" id="{652B555B-12D7-43F1-9863-D55660601EF6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1" b="-7835"/>
          <a:stretch/>
        </p:blipFill>
        <p:spPr>
          <a:xfrm>
            <a:off x="390005" y="1495099"/>
            <a:ext cx="4441768" cy="2446498"/>
          </a:xfrm>
          <a:prstGeom prst="rect">
            <a:avLst/>
          </a:prstGeom>
        </p:spPr>
      </p:pic>
      <p:sp>
        <p:nvSpPr>
          <p:cNvPr id="74" name="사각형: 둥근 모서리 73">
            <a:extLst>
              <a:ext uri="{FF2B5EF4-FFF2-40B4-BE49-F238E27FC236}">
                <a16:creationId xmlns:a16="http://schemas.microsoft.com/office/drawing/2014/main" id="{8C1FA852-ED91-4F3E-B886-6380C80049D8}"/>
              </a:ext>
            </a:extLst>
          </p:cNvPr>
          <p:cNvSpPr/>
          <p:nvPr/>
        </p:nvSpPr>
        <p:spPr>
          <a:xfrm>
            <a:off x="351453" y="1148234"/>
            <a:ext cx="4534956" cy="307315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 spc="-30">
                <a:latin typeface="+mn-ea"/>
              </a:rPr>
              <a:t>LangSmith</a:t>
            </a:r>
            <a:r>
              <a:rPr lang="ko-KR" altLang="en-US" sz="1500" b="1" spc="-30">
                <a:latin typeface="+mn-ea"/>
              </a:rPr>
              <a:t>로 질문→검색→답변 과정 트레이싱</a:t>
            </a:r>
            <a:endParaRPr lang="ko-KR" altLang="en-US" sz="1500" b="1" spc="-3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B672848-9232-48EB-84F0-A2D7E7FC53E4}"/>
              </a:ext>
            </a:extLst>
          </p:cNvPr>
          <p:cNvSpPr txBox="1"/>
          <p:nvPr/>
        </p:nvSpPr>
        <p:spPr>
          <a:xfrm>
            <a:off x="5481206" y="1509840"/>
            <a:ext cx="4270333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기존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판단을 먼저 확인하고 보완하던 로직을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부서 간 유사도 점수 격차 기반 판정으로 정밀화</a:t>
            </a:r>
          </a:p>
        </p:txBody>
      </p:sp>
      <p:sp>
        <p:nvSpPr>
          <p:cNvPr id="77" name="사각형: 둥근 모서리 76">
            <a:extLst>
              <a:ext uri="{FF2B5EF4-FFF2-40B4-BE49-F238E27FC236}">
                <a16:creationId xmlns:a16="http://schemas.microsoft.com/office/drawing/2014/main" id="{9B9AAB53-0B27-4520-97FA-828CD93836DC}"/>
              </a:ext>
            </a:extLst>
          </p:cNvPr>
          <p:cNvSpPr/>
          <p:nvPr/>
        </p:nvSpPr>
        <p:spPr>
          <a:xfrm>
            <a:off x="5084181" y="1148234"/>
            <a:ext cx="4534956" cy="315690"/>
          </a:xfrm>
          <a:prstGeom prst="round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 spc="-30">
                <a:latin typeface="+mn-ea"/>
              </a:rPr>
              <a:t>핵심 개선 포인트</a:t>
            </a:r>
            <a:endParaRPr lang="ko-KR" altLang="en-US" sz="1500" b="1" spc="-3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DFF6387-7555-4BF0-9DD1-E09D88E6A124}"/>
              </a:ext>
            </a:extLst>
          </p:cNvPr>
          <p:cNvSpPr txBox="1"/>
          <p:nvPr/>
        </p:nvSpPr>
        <p:spPr>
          <a:xfrm>
            <a:off x="5481206" y="2269442"/>
            <a:ext cx="389139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과다 포함 문제 개선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4900A9D-240F-436D-89BF-AE73FC002740}"/>
              </a:ext>
            </a:extLst>
          </p:cNvPr>
          <p:cNvSpPr txBox="1"/>
          <p:nvPr/>
        </p:nvSpPr>
        <p:spPr>
          <a:xfrm>
            <a:off x="5481206" y="2767467"/>
            <a:ext cx="405760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금액 비교 </a:t>
            </a:r>
            <a:r>
              <a:rPr lang="en-US" altLang="ko-KR" sz="1300" spc="-40">
                <a:latin typeface="+mn-ea"/>
              </a:rPr>
              <a:t>:</a:t>
            </a:r>
            <a:r>
              <a:rPr lang="ko-KR" altLang="en-US" sz="1300" spc="-40">
                <a:latin typeface="+mn-ea"/>
              </a:rPr>
              <a:t> </a:t>
            </a:r>
            <a:r>
              <a:rPr lang="en-US" altLang="ko-KR" sz="1300" spc="-40">
                <a:latin typeface="+mn-ea"/>
              </a:rPr>
              <a:t>LLM </a:t>
            </a:r>
            <a:r>
              <a:rPr lang="ko-KR" altLang="en-US" sz="1300" spc="-40">
                <a:latin typeface="+mn-ea"/>
              </a:rPr>
              <a:t>판단에서 직접 코드 계산으로 수정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E2ABFA0-B640-4B8D-91A7-CD720C8B254A}"/>
              </a:ext>
            </a:extLst>
          </p:cNvPr>
          <p:cNvSpPr txBox="1"/>
          <p:nvPr/>
        </p:nvSpPr>
        <p:spPr>
          <a:xfrm>
            <a:off x="5481206" y="3235224"/>
            <a:ext cx="4221262" cy="543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lang="ko-KR" altLang="en-US" sz="1300" spc="-40">
                <a:latin typeface="+mn-ea"/>
              </a:rPr>
              <a:t>반복 재평가로 개선 효과를 정량 확인 </a:t>
            </a:r>
            <a:endParaRPr lang="en-US" altLang="ko-KR" sz="1300" spc="-40">
              <a:latin typeface="+mn-ea"/>
            </a:endParaRPr>
          </a:p>
          <a:p>
            <a:pPr>
              <a:spcBef>
                <a:spcPts val="400"/>
              </a:spcBef>
            </a:pPr>
            <a:r>
              <a:rPr lang="en-US" altLang="ko-KR" sz="1300" spc="-40">
                <a:latin typeface="+mn-ea"/>
              </a:rPr>
              <a:t>3</a:t>
            </a:r>
            <a:r>
              <a:rPr lang="ko-KR" altLang="en-US" sz="1300" spc="-40">
                <a:latin typeface="+mn-ea"/>
              </a:rPr>
              <a:t>라운드에 걸쳐 정답률 단계적 개선 </a:t>
            </a:r>
            <a:r>
              <a:rPr lang="en-US" altLang="ko-KR" sz="1300" spc="-40">
                <a:latin typeface="+mn-ea"/>
              </a:rPr>
              <a:t>(37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58</a:t>
            </a:r>
            <a:r>
              <a:rPr lang="ko-KR" altLang="en-US" sz="1300" spc="-40">
                <a:latin typeface="+mn-ea"/>
              </a:rPr>
              <a:t>→</a:t>
            </a:r>
            <a:r>
              <a:rPr lang="en-US" altLang="ko-KR" sz="1300" spc="-40">
                <a:latin typeface="+mn-ea"/>
              </a:rPr>
              <a:t>68%)</a:t>
            </a:r>
            <a:endParaRPr lang="ko-KR" altLang="en-US" sz="1300" spc="-40">
              <a:latin typeface="+mn-ea"/>
            </a:endParaRPr>
          </a:p>
        </p:txBody>
      </p:sp>
      <p:sp>
        <p:nvSpPr>
          <p:cNvPr id="83" name="Shape 13">
            <a:extLst>
              <a:ext uri="{FF2B5EF4-FFF2-40B4-BE49-F238E27FC236}">
                <a16:creationId xmlns:a16="http://schemas.microsoft.com/office/drawing/2014/main" id="{43B3D376-C513-46D1-9C26-F6D7752A13E3}"/>
              </a:ext>
            </a:extLst>
          </p:cNvPr>
          <p:cNvSpPr/>
          <p:nvPr/>
        </p:nvSpPr>
        <p:spPr>
          <a:xfrm>
            <a:off x="5142201" y="2139561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2" name="Shape 13">
            <a:extLst>
              <a:ext uri="{FF2B5EF4-FFF2-40B4-BE49-F238E27FC236}">
                <a16:creationId xmlns:a16="http://schemas.microsoft.com/office/drawing/2014/main" id="{51DCD47B-4DFF-40D8-B95D-6FB1EC923583}"/>
              </a:ext>
            </a:extLst>
          </p:cNvPr>
          <p:cNvSpPr/>
          <p:nvPr/>
        </p:nvSpPr>
        <p:spPr>
          <a:xfrm>
            <a:off x="5142201" y="2666037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sp>
        <p:nvSpPr>
          <p:cNvPr id="93" name="Shape 13">
            <a:extLst>
              <a:ext uri="{FF2B5EF4-FFF2-40B4-BE49-F238E27FC236}">
                <a16:creationId xmlns:a16="http://schemas.microsoft.com/office/drawing/2014/main" id="{9941CAED-E556-4C11-8F86-414A92C0FA47}"/>
              </a:ext>
            </a:extLst>
          </p:cNvPr>
          <p:cNvSpPr/>
          <p:nvPr/>
        </p:nvSpPr>
        <p:spPr>
          <a:xfrm>
            <a:off x="5142201" y="3161340"/>
            <a:ext cx="4409431" cy="0"/>
          </a:xfrm>
          <a:prstGeom prst="line">
            <a:avLst/>
          </a:prstGeom>
          <a:noFill/>
          <a:ln w="9525">
            <a:solidFill>
              <a:srgbClr val="E1E6F0"/>
            </a:solidFill>
            <a:prstDash val="dash"/>
          </a:ln>
        </p:spPr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625F4FE-8A54-4D58-9822-FCE06239A855}"/>
              </a:ext>
            </a:extLst>
          </p:cNvPr>
          <p:cNvGrpSpPr/>
          <p:nvPr/>
        </p:nvGrpSpPr>
        <p:grpSpPr>
          <a:xfrm>
            <a:off x="5167245" y="1657206"/>
            <a:ext cx="302999" cy="292608"/>
            <a:chOff x="5104899" y="1637275"/>
            <a:chExt cx="302999" cy="292608"/>
          </a:xfrm>
        </p:grpSpPr>
        <p:sp>
          <p:nvSpPr>
            <p:cNvPr id="94" name="Shape 30">
              <a:extLst>
                <a:ext uri="{FF2B5EF4-FFF2-40B4-BE49-F238E27FC236}">
                  <a16:creationId xmlns:a16="http://schemas.microsoft.com/office/drawing/2014/main" id="{CD81A531-94E3-4523-997E-14DD3635E491}"/>
                </a:ext>
              </a:extLst>
            </p:cNvPr>
            <p:cNvSpPr/>
            <p:nvPr/>
          </p:nvSpPr>
          <p:spPr>
            <a:xfrm>
              <a:off x="5115290" y="1637275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5" name="Text 31">
              <a:extLst>
                <a:ext uri="{FF2B5EF4-FFF2-40B4-BE49-F238E27FC236}">
                  <a16:creationId xmlns:a16="http://schemas.microsoft.com/office/drawing/2014/main" id="{92B37005-93DC-4E2A-BE51-A581879D47A5}"/>
                </a:ext>
              </a:extLst>
            </p:cNvPr>
            <p:cNvSpPr txBox="1"/>
            <p:nvPr/>
          </p:nvSpPr>
          <p:spPr>
            <a:xfrm>
              <a:off x="5104899" y="1637275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①</a:t>
              </a:r>
              <a:endParaRPr lang="en-US" sz="1100" dirty="0"/>
            </a:p>
          </p:txBody>
        </p:sp>
      </p:grp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7244287C-C3BD-435E-B1A5-C00D3FC74BA6}"/>
              </a:ext>
            </a:extLst>
          </p:cNvPr>
          <p:cNvGrpSpPr/>
          <p:nvPr/>
        </p:nvGrpSpPr>
        <p:grpSpPr>
          <a:xfrm>
            <a:off x="5167245" y="2281009"/>
            <a:ext cx="292608" cy="299016"/>
            <a:chOff x="5136072" y="2166708"/>
            <a:chExt cx="292608" cy="299016"/>
          </a:xfrm>
        </p:grpSpPr>
        <p:sp>
          <p:nvSpPr>
            <p:cNvPr id="97" name="Shape 37">
              <a:extLst>
                <a:ext uri="{FF2B5EF4-FFF2-40B4-BE49-F238E27FC236}">
                  <a16:creationId xmlns:a16="http://schemas.microsoft.com/office/drawing/2014/main" id="{1B148B0F-10A7-4F4E-8A58-BC82DB48E4BD}"/>
                </a:ext>
              </a:extLst>
            </p:cNvPr>
            <p:cNvSpPr/>
            <p:nvPr/>
          </p:nvSpPr>
          <p:spPr>
            <a:xfrm>
              <a:off x="5136072" y="2166708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98" name="Text 38">
              <a:extLst>
                <a:ext uri="{FF2B5EF4-FFF2-40B4-BE49-F238E27FC236}">
                  <a16:creationId xmlns:a16="http://schemas.microsoft.com/office/drawing/2014/main" id="{C2E0313E-BD3A-4030-92D2-32CA044D15B8}"/>
                </a:ext>
              </a:extLst>
            </p:cNvPr>
            <p:cNvSpPr txBox="1"/>
            <p:nvPr/>
          </p:nvSpPr>
          <p:spPr>
            <a:xfrm>
              <a:off x="5136072" y="2173116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②</a:t>
              </a:r>
              <a:endParaRPr lang="en-US" sz="1100" dirty="0"/>
            </a:p>
          </p:txBody>
        </p:sp>
      </p:grpSp>
      <p:grpSp>
        <p:nvGrpSpPr>
          <p:cNvPr id="14" name="그룹 13">
            <a:extLst>
              <a:ext uri="{FF2B5EF4-FFF2-40B4-BE49-F238E27FC236}">
                <a16:creationId xmlns:a16="http://schemas.microsoft.com/office/drawing/2014/main" id="{069D93BA-3E5C-4002-ACDD-7BEA859B8BB1}"/>
              </a:ext>
            </a:extLst>
          </p:cNvPr>
          <p:cNvGrpSpPr/>
          <p:nvPr/>
        </p:nvGrpSpPr>
        <p:grpSpPr>
          <a:xfrm>
            <a:off x="5167245" y="2779240"/>
            <a:ext cx="292608" cy="292608"/>
            <a:chOff x="5169505" y="2581811"/>
            <a:chExt cx="292608" cy="292608"/>
          </a:xfrm>
        </p:grpSpPr>
        <p:sp>
          <p:nvSpPr>
            <p:cNvPr id="99" name="Shape 44">
              <a:extLst>
                <a:ext uri="{FF2B5EF4-FFF2-40B4-BE49-F238E27FC236}">
                  <a16:creationId xmlns:a16="http://schemas.microsoft.com/office/drawing/2014/main" id="{77E93DDA-3659-417A-AA88-5CC2EF9C9722}"/>
                </a:ext>
              </a:extLst>
            </p:cNvPr>
            <p:cNvSpPr/>
            <p:nvPr/>
          </p:nvSpPr>
          <p:spPr>
            <a:xfrm>
              <a:off x="5169505" y="2581811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0" name="Text 45">
              <a:extLst>
                <a:ext uri="{FF2B5EF4-FFF2-40B4-BE49-F238E27FC236}">
                  <a16:creationId xmlns:a16="http://schemas.microsoft.com/office/drawing/2014/main" id="{1B11820E-2590-4B03-BCD9-CD2AFC647CDC}"/>
                </a:ext>
              </a:extLst>
            </p:cNvPr>
            <p:cNvSpPr txBox="1"/>
            <p:nvPr/>
          </p:nvSpPr>
          <p:spPr>
            <a:xfrm>
              <a:off x="5169505" y="2581811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③</a:t>
              </a:r>
              <a:endParaRPr lang="en-US" sz="1100" dirty="0"/>
            </a:p>
          </p:txBody>
        </p:sp>
      </p:grp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51B0BF19-3E8E-425D-A7F3-CC7FF5E35BD2}"/>
              </a:ext>
            </a:extLst>
          </p:cNvPr>
          <p:cNvGrpSpPr/>
          <p:nvPr/>
        </p:nvGrpSpPr>
        <p:grpSpPr>
          <a:xfrm>
            <a:off x="5167245" y="3382448"/>
            <a:ext cx="292608" cy="292608"/>
            <a:chOff x="5138700" y="3133064"/>
            <a:chExt cx="292608" cy="292608"/>
          </a:xfrm>
        </p:grpSpPr>
        <p:sp>
          <p:nvSpPr>
            <p:cNvPr id="102" name="Shape 51">
              <a:extLst>
                <a:ext uri="{FF2B5EF4-FFF2-40B4-BE49-F238E27FC236}">
                  <a16:creationId xmlns:a16="http://schemas.microsoft.com/office/drawing/2014/main" id="{B511D697-374B-459E-A7D8-8DAB1E6E896A}"/>
                </a:ext>
              </a:extLst>
            </p:cNvPr>
            <p:cNvSpPr/>
            <p:nvPr/>
          </p:nvSpPr>
          <p:spPr>
            <a:xfrm>
              <a:off x="5138700" y="3133064"/>
              <a:ext cx="292608" cy="292608"/>
            </a:xfrm>
            <a:prstGeom prst="ellipse">
              <a:avLst/>
            </a:prstGeom>
            <a:solidFill>
              <a:srgbClr val="6795DD"/>
            </a:solidFill>
            <a:ln/>
          </p:spPr>
        </p:sp>
        <p:sp>
          <p:nvSpPr>
            <p:cNvPr id="103" name="Text 52">
              <a:extLst>
                <a:ext uri="{FF2B5EF4-FFF2-40B4-BE49-F238E27FC236}">
                  <a16:creationId xmlns:a16="http://schemas.microsoft.com/office/drawing/2014/main" id="{650677A3-60D1-4616-A467-94C0107E73F4}"/>
                </a:ext>
              </a:extLst>
            </p:cNvPr>
            <p:cNvSpPr txBox="1"/>
            <p:nvPr/>
          </p:nvSpPr>
          <p:spPr>
            <a:xfrm>
              <a:off x="5138700" y="3133064"/>
              <a:ext cx="292608" cy="29260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HY견고딕" pitchFamily="34" charset="0"/>
                  <a:ea typeface="HY견고딕" pitchFamily="34" charset="-122"/>
                  <a:cs typeface="HY견고딕" pitchFamily="34" charset="-120"/>
                </a:rPr>
                <a:t>④</a:t>
              </a:r>
              <a:endParaRPr lang="en-US" sz="1100" dirty="0"/>
            </a:p>
          </p:txBody>
        </p:sp>
      </p:grpSp>
      <p:sp>
        <p:nvSpPr>
          <p:cNvPr id="106" name="Shape 42">
            <a:extLst>
              <a:ext uri="{FF2B5EF4-FFF2-40B4-BE49-F238E27FC236}">
                <a16:creationId xmlns:a16="http://schemas.microsoft.com/office/drawing/2014/main" id="{AC315E1C-02E3-484C-84B2-8A3F76AEDD56}"/>
              </a:ext>
            </a:extLst>
          </p:cNvPr>
          <p:cNvSpPr/>
          <p:nvPr/>
        </p:nvSpPr>
        <p:spPr>
          <a:xfrm>
            <a:off x="400396" y="5733441"/>
            <a:ext cx="707535" cy="276999"/>
          </a:xfrm>
          <a:prstGeom prst="roundRect">
            <a:avLst>
              <a:gd name="adj" fmla="val 6579"/>
            </a:avLst>
          </a:prstGeom>
          <a:solidFill>
            <a:srgbClr val="EEF2FB"/>
          </a:solidFill>
          <a:ln w="15875">
            <a:solidFill>
              <a:srgbClr val="F5F6F7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2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sp>
        <p:nvSpPr>
          <p:cNvPr id="107" name="Shape 28">
            <a:extLst>
              <a:ext uri="{FF2B5EF4-FFF2-40B4-BE49-F238E27FC236}">
                <a16:creationId xmlns:a16="http://schemas.microsoft.com/office/drawing/2014/main" id="{0CFB4321-FE9B-4AAD-9EF6-52376E8AACEE}"/>
              </a:ext>
            </a:extLst>
          </p:cNvPr>
          <p:cNvSpPr/>
          <p:nvPr/>
        </p:nvSpPr>
        <p:spPr>
          <a:xfrm>
            <a:off x="400396" y="4632082"/>
            <a:ext cx="707535" cy="276999"/>
          </a:xfrm>
          <a:prstGeom prst="roundRect">
            <a:avLst>
              <a:gd name="adj" fmla="val 6579"/>
            </a:avLst>
          </a:prstGeom>
          <a:solidFill>
            <a:srgbClr val="F9FAFB"/>
          </a:solidFill>
          <a:ln w="12700">
            <a:solidFill>
              <a:srgbClr val="E1E6F0"/>
            </a:solidFill>
            <a:prstDash val="solid"/>
          </a:ln>
          <a:effectLst>
            <a:outerShdw blurRad="127000" dist="38100" dir="5400000" algn="bl" rotWithShape="0">
              <a:srgbClr val="6B7CA8">
                <a:alpha val="16000"/>
              </a:srgbClr>
            </a:outerShdw>
          </a:effectLst>
        </p:spPr>
        <p:txBody>
          <a:bodyPr anchor="ctr" anchorCtr="0"/>
          <a:lstStyle/>
          <a:p>
            <a:pPr algn="ctr"/>
            <a:r>
              <a:rPr lang="en-US" altLang="ko-KR" sz="1200" b="1">
                <a:latin typeface="+mn-ea"/>
              </a:rPr>
              <a:t>1</a:t>
            </a:r>
            <a:r>
              <a:rPr lang="ko-KR" altLang="en-US" sz="1200" b="1">
                <a:latin typeface="+mn-ea"/>
              </a:rPr>
              <a:t>단계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C9CF1A2E-1375-47D1-B83A-B95CC2923E08}"/>
              </a:ext>
            </a:extLst>
          </p:cNvPr>
          <p:cNvCxnSpPr/>
          <p:nvPr/>
        </p:nvCxnSpPr>
        <p:spPr>
          <a:xfrm>
            <a:off x="500611" y="4938602"/>
            <a:ext cx="0" cy="74765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1B45540B-BDCA-4D49-8046-4282C800EB23}"/>
              </a:ext>
            </a:extLst>
          </p:cNvPr>
          <p:cNvSpPr txBox="1"/>
          <p:nvPr/>
        </p:nvSpPr>
        <p:spPr>
          <a:xfrm>
            <a:off x="1193870" y="5717419"/>
            <a:ext cx="7875945" cy="3090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>
                <a:latin typeface="+mn-ea"/>
              </a:rPr>
              <a:t>모델 교체 성능 실험 </a:t>
            </a:r>
            <a:r>
              <a:rPr lang="en-US" altLang="ko-KR" sz="1400">
                <a:latin typeface="+mn-ea"/>
              </a:rPr>
              <a:t>(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gpt-4o-mini </a:t>
            </a:r>
            <a:r>
              <a:rPr lang="ko-KR" altLang="en-US" sz="1400" b="0" i="0">
                <a:solidFill>
                  <a:srgbClr val="1A1A1A"/>
                </a:solidFill>
                <a:effectLst/>
                <a:latin typeface="+mn-ea"/>
              </a:rPr>
              <a:t>→</a:t>
            </a:r>
            <a:r>
              <a:rPr lang="en-US" altLang="ko-KR" sz="1400" b="0" i="0">
                <a:solidFill>
                  <a:srgbClr val="1A1A1A"/>
                </a:solidFill>
                <a:effectLst/>
                <a:latin typeface="+mn-ea"/>
              </a:rPr>
              <a:t> GPT-5.6 Luna) </a:t>
            </a:r>
            <a:r>
              <a:rPr lang="ko-KR" altLang="en-US" sz="1400" b="1" i="0">
                <a:solidFill>
                  <a:srgbClr val="0000FF"/>
                </a:solidFill>
                <a:effectLst/>
                <a:latin typeface="+mn-ea"/>
              </a:rPr>
              <a:t>→ 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GPT-5.6 Luna </a:t>
            </a:r>
            <a:r>
              <a:rPr lang="ko-KR" altLang="en-US" sz="1400" b="1">
                <a:solidFill>
                  <a:srgbClr val="0000FF"/>
                </a:solidFill>
                <a:latin typeface="+mn-ea"/>
              </a:rPr>
              <a:t>최종 채택</a:t>
            </a:r>
            <a:r>
              <a:rPr lang="en-US" altLang="ko-KR" sz="1400" b="1" i="0">
                <a:solidFill>
                  <a:srgbClr val="0000FF"/>
                </a:solidFill>
                <a:effectLst/>
                <a:latin typeface="+mn-ea"/>
              </a:rPr>
              <a:t> </a:t>
            </a:r>
            <a:endParaRPr lang="ko-KR" altLang="en-US" sz="1400" b="1">
              <a:solidFill>
                <a:srgbClr val="0000FF"/>
              </a:solidFill>
              <a:latin typeface="+mn-ea"/>
            </a:endParaRPr>
          </a:p>
        </p:txBody>
      </p:sp>
      <p:sp>
        <p:nvSpPr>
          <p:cNvPr id="108" name="사각형: 둥근 모서리 107">
            <a:extLst>
              <a:ext uri="{FF2B5EF4-FFF2-40B4-BE49-F238E27FC236}">
                <a16:creationId xmlns:a16="http://schemas.microsoft.com/office/drawing/2014/main" id="{720C8211-3D31-46E6-82E2-C5EFC19C1B26}"/>
              </a:ext>
            </a:extLst>
          </p:cNvPr>
          <p:cNvSpPr>
            <a:spLocks noGrp="1"/>
          </p:cNvSpPr>
          <p:nvPr/>
        </p:nvSpPr>
        <p:spPr>
          <a:xfrm>
            <a:off x="6621341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09" name="사각형: 둥근 모서리 108">
            <a:extLst>
              <a:ext uri="{FF2B5EF4-FFF2-40B4-BE49-F238E27FC236}">
                <a16:creationId xmlns:a16="http://schemas.microsoft.com/office/drawing/2014/main" id="{088DAAA8-9DC5-4548-8047-C9B3703B54A9}"/>
              </a:ext>
            </a:extLst>
          </p:cNvPr>
          <p:cNvSpPr>
            <a:spLocks noGrp="1"/>
          </p:cNvSpPr>
          <p:nvPr/>
        </p:nvSpPr>
        <p:spPr>
          <a:xfrm>
            <a:off x="630194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4F5F9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0" name="사각형: 둥근 모서리 109">
            <a:extLst>
              <a:ext uri="{FF2B5EF4-FFF2-40B4-BE49-F238E27FC236}">
                <a16:creationId xmlns:a16="http://schemas.microsoft.com/office/drawing/2014/main" id="{84B7389D-3461-44C3-B2CA-DE323DAC97B3}"/>
              </a:ext>
            </a:extLst>
          </p:cNvPr>
          <p:cNvSpPr>
            <a:spLocks noGrp="1"/>
          </p:cNvSpPr>
          <p:nvPr/>
        </p:nvSpPr>
        <p:spPr>
          <a:xfrm>
            <a:off x="3624568" y="6083404"/>
            <a:ext cx="2928750" cy="634989"/>
          </a:xfrm>
          <a:prstGeom prst="roundRect">
            <a:avLst>
              <a:gd name="adj" fmla="val 5139"/>
            </a:avLst>
          </a:prstGeom>
          <a:solidFill>
            <a:srgbClr val="EDF1FA"/>
          </a:solidFill>
          <a:ln>
            <a:solidFill>
              <a:srgbClr val="F5F6F8"/>
            </a:solidFill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>
              <a:latin typeface="+mn-ea"/>
            </a:endParaRPr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55D3001-8037-48DC-9746-440618D449FD}"/>
              </a:ext>
            </a:extLst>
          </p:cNvPr>
          <p:cNvSpPr txBox="1"/>
          <p:nvPr/>
        </p:nvSpPr>
        <p:spPr>
          <a:xfrm>
            <a:off x="6621341" y="6095089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2</a:t>
            </a:r>
            <a:r>
              <a:rPr lang="ko-KR" altLang="en-US" b="1">
                <a:latin typeface="+mn-ea"/>
              </a:rPr>
              <a:t>배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C37BB6A8-827D-4EDC-AE6B-565E6BEBFDB2}"/>
              </a:ext>
            </a:extLst>
          </p:cNvPr>
          <p:cNvSpPr txBox="1"/>
          <p:nvPr/>
        </p:nvSpPr>
        <p:spPr>
          <a:xfrm>
            <a:off x="7399086" y="6133561"/>
            <a:ext cx="167073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응답속도 증가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8ED905-E046-44DE-9BDA-0006DD8D3C5D}"/>
              </a:ext>
            </a:extLst>
          </p:cNvPr>
          <p:cNvSpPr txBox="1"/>
          <p:nvPr/>
        </p:nvSpPr>
        <p:spPr>
          <a:xfrm>
            <a:off x="630194" y="6095089"/>
            <a:ext cx="759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95%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9AFDB677-106A-4343-962D-6C91C9884C51}"/>
              </a:ext>
            </a:extLst>
          </p:cNvPr>
          <p:cNvSpPr txBox="1"/>
          <p:nvPr/>
        </p:nvSpPr>
        <p:spPr>
          <a:xfrm>
            <a:off x="1444249" y="6133561"/>
            <a:ext cx="2176854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solidFill>
                  <a:schemeClr val="tx1">
                    <a:lumMod val="95000"/>
                    <a:lumOff val="5000"/>
                  </a:schemeClr>
                </a:solidFill>
                <a:latin typeface="+mn-ea"/>
              </a:rPr>
              <a:t>주관부서 정확도 추가 향상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DBE40E45-98C2-4793-8AC8-477FC71108C5}"/>
              </a:ext>
            </a:extLst>
          </p:cNvPr>
          <p:cNvSpPr txBox="1"/>
          <p:nvPr/>
        </p:nvSpPr>
        <p:spPr>
          <a:xfrm>
            <a:off x="3624568" y="6095089"/>
            <a:ext cx="7286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82%</a:t>
            </a:r>
            <a:endParaRPr lang="ko-KR" altLang="en-US" b="1">
              <a:latin typeface="+mn-ea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43EA2E87-4185-45FC-A668-E8AC01F88D80}"/>
              </a:ext>
            </a:extLst>
          </p:cNvPr>
          <p:cNvSpPr txBox="1"/>
          <p:nvPr/>
        </p:nvSpPr>
        <p:spPr>
          <a:xfrm>
            <a:off x="4402196" y="6133561"/>
            <a:ext cx="220010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협업부서 정확도 소폭 감소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  <a:latin typeface="+mn-ea"/>
            </a:endParaRP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83B3707-0892-4A08-A7FB-6485BE76E4F4}"/>
              </a:ext>
            </a:extLst>
          </p:cNvPr>
          <p:cNvSpPr txBox="1"/>
          <p:nvPr/>
        </p:nvSpPr>
        <p:spPr>
          <a:xfrm>
            <a:off x="4402196" y="6450108"/>
            <a:ext cx="22001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89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82%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</a:rPr>
              <a:t> 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4BBE5666-1965-47CC-B8D8-0BF7ECE02400}"/>
              </a:ext>
            </a:extLst>
          </p:cNvPr>
          <p:cNvSpPr txBox="1"/>
          <p:nvPr/>
        </p:nvSpPr>
        <p:spPr>
          <a:xfrm>
            <a:off x="1485813" y="6450108"/>
            <a:ext cx="213976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79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ko-KR" altLang="en-US" sz="1200" spc="-40">
                <a:solidFill>
                  <a:srgbClr val="2082C8"/>
                </a:solidFill>
                <a:latin typeface="+mn-ea"/>
              </a:rPr>
              <a:t>→</a:t>
            </a:r>
            <a:r>
              <a:rPr lang="ko-KR" altLang="en-US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 </a:t>
            </a:r>
            <a:r>
              <a:rPr lang="en-US" altLang="ko-KR" sz="1200" b="1" spc="-6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95%</a:t>
            </a:r>
            <a:endParaRPr lang="ko-KR" altLang="en-US" sz="1200" b="1" spc="-6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5C6FC901-95A0-44B7-B609-F3A9F3CFDA35}"/>
              </a:ext>
            </a:extLst>
          </p:cNvPr>
          <p:cNvSpPr txBox="1"/>
          <p:nvPr/>
        </p:nvSpPr>
        <p:spPr>
          <a:xfrm>
            <a:off x="7399086" y="6450108"/>
            <a:ext cx="225220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  정답률은 </a:t>
            </a:r>
            <a:r>
              <a:rPr lang="en-US" altLang="ko-KR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68%</a:t>
            </a:r>
            <a:r>
              <a:rPr lang="ko-KR" altLang="en-US" sz="1200" b="1" spc="-80">
                <a:solidFill>
                  <a:srgbClr val="0F64C0"/>
                </a:solidFill>
                <a:latin typeface="+mn-ea"/>
                <a:sym typeface="Wingdings" panose="05000000000000000000" pitchFamily="2" charset="2"/>
              </a:rPr>
              <a:t>로 동일</a:t>
            </a:r>
            <a:endParaRPr lang="ko-KR" altLang="en-US" sz="1200" b="1" spc="-80">
              <a:solidFill>
                <a:srgbClr val="0F64C0"/>
              </a:solidFill>
              <a:latin typeface="+mn-ea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D8F83686-E8B4-4E25-B19C-27817329F608}"/>
              </a:ext>
            </a:extLst>
          </p:cNvPr>
          <p:cNvSpPr txBox="1"/>
          <p:nvPr/>
        </p:nvSpPr>
        <p:spPr>
          <a:xfrm>
            <a:off x="1193870" y="4616693"/>
            <a:ext cx="49512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>
                <a:latin typeface="+mn-ea"/>
              </a:rPr>
              <a:t>RAGAS·LangSmith </a:t>
            </a:r>
            <a:r>
              <a:rPr lang="ko-KR" altLang="en-US" sz="1400">
                <a:latin typeface="+mn-ea"/>
              </a:rPr>
              <a:t>기반 평가 및 검색 로직 개선</a:t>
            </a:r>
          </a:p>
        </p:txBody>
      </p:sp>
    </p:spTree>
    <p:extLst>
      <p:ext uri="{BB962C8B-B14F-4D97-AF65-F5344CB8AC3E}">
        <p14:creationId xmlns:p14="http://schemas.microsoft.com/office/powerpoint/2010/main" val="2381020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사각형: 둥근 모서리 85">
            <a:extLst>
              <a:ext uri="{FF2B5EF4-FFF2-40B4-BE49-F238E27FC236}">
                <a16:creationId xmlns:a16="http://schemas.microsoft.com/office/drawing/2014/main" id="{F3C05E7C-CB4F-4E36-B2BF-94B965EB8077}"/>
              </a:ext>
            </a:extLst>
          </p:cNvPr>
          <p:cNvSpPr>
            <a:spLocks noGrp="1"/>
          </p:cNvSpPr>
          <p:nvPr/>
        </p:nvSpPr>
        <p:spPr>
          <a:xfrm>
            <a:off x="417123" y="4295784"/>
            <a:ext cx="9159954" cy="1483130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5.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업무 입력부터 협업 요청까지 연결 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9A72A77-AD14-4143-AAAB-858BFD97C62C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(5/6)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40" name="사각형: 둥근 모서리 39">
            <a:extLst>
              <a:ext uri="{FF2B5EF4-FFF2-40B4-BE49-F238E27FC236}">
                <a16:creationId xmlns:a16="http://schemas.microsoft.com/office/drawing/2014/main" id="{45981C6C-8822-4233-9480-4913D845F441}"/>
              </a:ext>
            </a:extLst>
          </p:cNvPr>
          <p:cNvSpPr/>
          <p:nvPr/>
        </p:nvSpPr>
        <p:spPr>
          <a:xfrm>
            <a:off x="4018162" y="1290892"/>
            <a:ext cx="1657198" cy="406475"/>
          </a:xfrm>
          <a:prstGeom prst="roundRect">
            <a:avLst/>
          </a:prstGeom>
          <a:solidFill>
            <a:srgbClr val="EDF1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solidFill>
                  <a:srgbClr val="003D9B"/>
                </a:solidFill>
                <a:latin typeface="+mn-ea"/>
              </a:rPr>
              <a:t>1.</a:t>
            </a:r>
            <a:r>
              <a:rPr lang="ko-KR" altLang="en-US" sz="1500" b="1">
                <a:solidFill>
                  <a:srgbClr val="003D9B"/>
                </a:solidFill>
                <a:latin typeface="+mn-ea"/>
              </a:rPr>
              <a:t>업무 입력</a:t>
            </a:r>
          </a:p>
        </p:txBody>
      </p:sp>
      <p:sp>
        <p:nvSpPr>
          <p:cNvPr id="41" name="사각형: 둥근 모서리 40">
            <a:extLst>
              <a:ext uri="{FF2B5EF4-FFF2-40B4-BE49-F238E27FC236}">
                <a16:creationId xmlns:a16="http://schemas.microsoft.com/office/drawing/2014/main" id="{E7ECEBBB-44B4-462C-9FD9-E0DD183C58EA}"/>
              </a:ext>
            </a:extLst>
          </p:cNvPr>
          <p:cNvSpPr/>
          <p:nvPr/>
        </p:nvSpPr>
        <p:spPr>
          <a:xfrm>
            <a:off x="4018162" y="2096435"/>
            <a:ext cx="1657198" cy="406475"/>
          </a:xfrm>
          <a:prstGeom prst="roundRect">
            <a:avLst/>
          </a:prstGeom>
          <a:solidFill>
            <a:srgbClr val="157CC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2.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절차</a:t>
            </a:r>
            <a:r>
              <a:rPr lang="en-US" altLang="ko-KR" sz="1500" b="1" spc="-40">
                <a:solidFill>
                  <a:schemeClr val="bg1"/>
                </a:solidFill>
                <a:latin typeface="+mn-ea"/>
              </a:rPr>
              <a:t>/</a:t>
            </a:r>
            <a:r>
              <a:rPr lang="ko-KR" altLang="en-US" sz="1500" b="1" spc="-40">
                <a:solidFill>
                  <a:schemeClr val="bg1"/>
                </a:solidFill>
                <a:latin typeface="+mn-ea"/>
              </a:rPr>
              <a:t>부서 확인</a:t>
            </a:r>
          </a:p>
        </p:txBody>
      </p:sp>
      <p:sp>
        <p:nvSpPr>
          <p:cNvPr id="42" name="사각형: 둥근 모서리 41">
            <a:extLst>
              <a:ext uri="{FF2B5EF4-FFF2-40B4-BE49-F238E27FC236}">
                <a16:creationId xmlns:a16="http://schemas.microsoft.com/office/drawing/2014/main" id="{76166D3E-CD2A-46AD-B0D6-633036C7B855}"/>
              </a:ext>
            </a:extLst>
          </p:cNvPr>
          <p:cNvSpPr/>
          <p:nvPr/>
        </p:nvSpPr>
        <p:spPr>
          <a:xfrm>
            <a:off x="4018163" y="2957030"/>
            <a:ext cx="1657197" cy="406475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500" b="1">
                <a:latin typeface="+mn-ea"/>
              </a:rPr>
              <a:t>3.</a:t>
            </a:r>
            <a:r>
              <a:rPr lang="ko-KR" altLang="en-US" sz="1500" b="1">
                <a:latin typeface="+mn-ea"/>
              </a:rPr>
              <a:t>협업 요청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9F1F9FE-BEAD-4DC4-84A8-B812553A8B16}"/>
              </a:ext>
            </a:extLst>
          </p:cNvPr>
          <p:cNvSpPr txBox="1"/>
          <p:nvPr/>
        </p:nvSpPr>
        <p:spPr>
          <a:xfrm>
            <a:off x="5685410" y="1228672"/>
            <a:ext cx="4221088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내용을 자연어로 입력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60">
                <a:latin typeface="+mn-ea"/>
              </a:rPr>
              <a:t>사업장과 업무 유형 선택 </a:t>
            </a:r>
            <a:r>
              <a:rPr lang="en-US" altLang="ko-KR" sz="1300" spc="-60">
                <a:latin typeface="+mn-ea"/>
              </a:rPr>
              <a:t>(</a:t>
            </a:r>
            <a:r>
              <a:rPr lang="ko-KR" altLang="en-US" sz="1300" spc="-60">
                <a:latin typeface="+mn-ea"/>
              </a:rPr>
              <a:t>모르는 경우</a:t>
            </a:r>
            <a:r>
              <a:rPr lang="en-US" altLang="ko-KR" sz="1300" spc="-60">
                <a:latin typeface="+mn-ea"/>
              </a:rPr>
              <a:t>, </a:t>
            </a:r>
            <a:r>
              <a:rPr lang="ko-KR" altLang="en-US" sz="1300" spc="-60">
                <a:latin typeface="+mn-ea"/>
              </a:rPr>
              <a:t>미선택 가능</a:t>
            </a:r>
            <a:r>
              <a:rPr lang="en-US" altLang="ko-KR" sz="1300" spc="-60">
                <a:latin typeface="+mn-ea"/>
              </a:rPr>
              <a:t>)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1513667-2318-4EE2-9E0A-47E1A6AC3126}"/>
              </a:ext>
            </a:extLst>
          </p:cNvPr>
          <p:cNvSpPr txBox="1"/>
          <p:nvPr/>
        </p:nvSpPr>
        <p:spPr>
          <a:xfrm>
            <a:off x="5685410" y="2034215"/>
            <a:ext cx="4101344" cy="5309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관련 규정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지침을 해석해</a:t>
            </a: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업무 프로세스 안내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주관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협업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부서 세부내용 확인 → 요청부서 선택</a:t>
            </a:r>
            <a:endParaRPr lang="en-US" altLang="ko-KR" sz="1300" spc="-40"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63172E6-297C-454C-8084-7AAAB8AA8108}"/>
              </a:ext>
            </a:extLst>
          </p:cNvPr>
          <p:cNvSpPr txBox="1"/>
          <p:nvPr/>
        </p:nvSpPr>
        <p:spPr>
          <a:xfrm>
            <a:off x="5685410" y="2775547"/>
            <a:ext cx="410134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요청 내용을 바탕으로 협업 메일 초안 작성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사용자가 내용 수정</a:t>
            </a:r>
            <a:r>
              <a:rPr lang="en-US" altLang="ko-KR" sz="1300" spc="-40">
                <a:latin typeface="+mn-ea"/>
              </a:rPr>
              <a:t>(</a:t>
            </a:r>
            <a:r>
              <a:rPr lang="ko-KR" altLang="en-US" sz="1300" spc="-40">
                <a:latin typeface="+mn-ea"/>
              </a:rPr>
              <a:t>보완</a:t>
            </a:r>
            <a:r>
              <a:rPr lang="en-US" altLang="ko-KR" sz="1300" spc="-40">
                <a:latin typeface="+mn-ea"/>
              </a:rPr>
              <a:t>) </a:t>
            </a:r>
            <a:r>
              <a:rPr lang="ko-KR" altLang="en-US" sz="1300" spc="-40">
                <a:latin typeface="+mn-ea"/>
              </a:rPr>
              <a:t>후</a:t>
            </a:r>
            <a:r>
              <a:rPr lang="en-US" altLang="ko-KR" sz="1300" spc="-40">
                <a:latin typeface="+mn-ea"/>
              </a:rPr>
              <a:t>, </a:t>
            </a:r>
            <a:r>
              <a:rPr lang="ko-KR" altLang="en-US" sz="1300" spc="-40">
                <a:latin typeface="+mn-ea"/>
              </a:rPr>
              <a:t>메일 발송</a:t>
            </a:r>
            <a:endParaRPr lang="en-US" altLang="ko-KR" sz="1300" spc="-40">
              <a:latin typeface="+mn-ea"/>
            </a:endParaRPr>
          </a:p>
          <a:p>
            <a:pPr marL="87313" indent="-87313">
              <a:spcBef>
                <a:spcPts val="300"/>
              </a:spcBef>
              <a:buFont typeface="Wingdings" panose="05000000000000000000" pitchFamily="2" charset="2"/>
              <a:buChar char="§"/>
            </a:pPr>
            <a:r>
              <a:rPr lang="en-US" altLang="ko-KR" sz="1300" spc="-40">
                <a:latin typeface="+mn-ea"/>
              </a:rPr>
              <a:t> </a:t>
            </a:r>
            <a:r>
              <a:rPr lang="ko-KR" altLang="en-US" sz="1300" spc="-40">
                <a:latin typeface="+mn-ea"/>
              </a:rPr>
              <a:t>담당 부서의 회신 완료까지 진행 현황 확인</a:t>
            </a:r>
            <a:endParaRPr lang="en-US" altLang="ko-KR" sz="1300" spc="-40">
              <a:latin typeface="+mn-ea"/>
            </a:endParaRPr>
          </a:p>
        </p:txBody>
      </p:sp>
      <p:pic>
        <p:nvPicPr>
          <p:cNvPr id="54" name="그래픽 53" descr="갈매기형 화살표 단색으로 채워진">
            <a:extLst>
              <a:ext uri="{FF2B5EF4-FFF2-40B4-BE49-F238E27FC236}">
                <a16:creationId xmlns:a16="http://schemas.microsoft.com/office/drawing/2014/main" id="{6D602B2A-3F13-479E-932C-9CE5E2D13BA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1587729"/>
            <a:ext cx="362623" cy="624548"/>
          </a:xfrm>
          <a:prstGeom prst="rect">
            <a:avLst/>
          </a:prstGeom>
        </p:spPr>
      </p:pic>
      <p:pic>
        <p:nvPicPr>
          <p:cNvPr id="55" name="그래픽 54" descr="갈매기형 화살표 단색으로 채워진">
            <a:extLst>
              <a:ext uri="{FF2B5EF4-FFF2-40B4-BE49-F238E27FC236}">
                <a16:creationId xmlns:a16="http://schemas.microsoft.com/office/drawing/2014/main" id="{A41834EC-F964-4C89-85D1-2ED9B6371E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5400000">
            <a:off x="4665450" y="2415046"/>
            <a:ext cx="362623" cy="624548"/>
          </a:xfrm>
          <a:prstGeom prst="rect">
            <a:avLst/>
          </a:prstGeom>
        </p:spPr>
      </p:pic>
      <p:cxnSp>
        <p:nvCxnSpPr>
          <p:cNvPr id="56" name="직선 연결선 55">
            <a:extLst>
              <a:ext uri="{FF2B5EF4-FFF2-40B4-BE49-F238E27FC236}">
                <a16:creationId xmlns:a16="http://schemas.microsoft.com/office/drawing/2014/main" id="{1C771CE0-A909-4638-A86F-DBE3ABE4EA63}"/>
              </a:ext>
            </a:extLst>
          </p:cNvPr>
          <p:cNvCxnSpPr>
            <a:cxnSpLocks/>
          </p:cNvCxnSpPr>
          <p:nvPr/>
        </p:nvCxnSpPr>
        <p:spPr>
          <a:xfrm>
            <a:off x="717795" y="4725997"/>
            <a:ext cx="8454183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F34A31BE-698E-4EED-9F0B-142B22C271F2}"/>
              </a:ext>
            </a:extLst>
          </p:cNvPr>
          <p:cNvSpPr txBox="1"/>
          <p:nvPr/>
        </p:nvSpPr>
        <p:spPr>
          <a:xfrm>
            <a:off x="862949" y="4384992"/>
            <a:ext cx="216897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① 테스트 질의 입력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DFE27D1-3AA1-4DA8-BC7D-4845152C606C}"/>
              </a:ext>
            </a:extLst>
          </p:cNvPr>
          <p:cNvSpPr txBox="1"/>
          <p:nvPr/>
        </p:nvSpPr>
        <p:spPr>
          <a:xfrm>
            <a:off x="835564" y="493826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300" spc="-60"/>
              <a:t>5</a:t>
            </a:r>
            <a:r>
              <a:rPr lang="ko-KR" altLang="en-US" sz="1300" spc="-60"/>
              <a:t>억 이상 설비 투자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0D05675-3CB6-49F0-A215-9E6D7D8882CE}"/>
              </a:ext>
            </a:extLst>
          </p:cNvPr>
          <p:cNvSpPr txBox="1"/>
          <p:nvPr/>
        </p:nvSpPr>
        <p:spPr>
          <a:xfrm>
            <a:off x="3635271" y="4938267"/>
            <a:ext cx="270956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주관부서</a:t>
            </a:r>
            <a:r>
              <a:rPr lang="en-US" altLang="ko-KR" sz="1300" spc="-60"/>
              <a:t>+</a:t>
            </a:r>
            <a:r>
              <a:rPr lang="ko-KR" altLang="en-US" sz="1300" spc="-60"/>
              <a:t>협업부서 </a:t>
            </a:r>
            <a:r>
              <a:rPr lang="en-US" altLang="ko-KR" sz="1300" spc="-60"/>
              <a:t>3</a:t>
            </a:r>
            <a:r>
              <a:rPr lang="ko-KR" altLang="en-US" sz="1300" spc="-60"/>
              <a:t>개 도출</a:t>
            </a:r>
            <a:endParaRPr lang="en-US" altLang="ko-KR" sz="1300" spc="-60"/>
          </a:p>
          <a:p>
            <a:pPr algn="ctr"/>
            <a:r>
              <a:rPr lang="ko-KR" altLang="en-US" sz="1300" spc="-60"/>
              <a:t>워크플로우 패널 동시 제시 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0AEE09C-9804-4EC5-802E-F5E99F7DC864}"/>
              </a:ext>
            </a:extLst>
          </p:cNvPr>
          <p:cNvSpPr txBox="1"/>
          <p:nvPr/>
        </p:nvSpPr>
        <p:spPr>
          <a:xfrm>
            <a:off x="3635271" y="5430847"/>
            <a:ext cx="270956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40"/>
              <a:t>주관부서 근거 </a:t>
            </a:r>
            <a:r>
              <a:rPr lang="en-US" altLang="ko-KR" sz="1300" spc="-40"/>
              <a:t>3</a:t>
            </a:r>
            <a:r>
              <a:rPr lang="ko-KR" altLang="en-US" sz="1300" spc="-40"/>
              <a:t>건 및 협업부서 도출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CF621287-5AF0-467C-95AB-19A462CB5238}"/>
              </a:ext>
            </a:extLst>
          </p:cNvPr>
          <p:cNvSpPr txBox="1"/>
          <p:nvPr/>
        </p:nvSpPr>
        <p:spPr>
          <a:xfrm>
            <a:off x="4062908" y="4384992"/>
            <a:ext cx="1854286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② </a:t>
            </a:r>
            <a:r>
              <a:rPr lang="en-US" altLang="ko-KR" sz="1400" b="1"/>
              <a:t>AI </a:t>
            </a:r>
            <a:r>
              <a:rPr lang="ko-KR" altLang="en-US" sz="1400" b="1"/>
              <a:t>처리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33C61194-C9B0-437F-9FC2-BCD1B486A971}"/>
              </a:ext>
            </a:extLst>
          </p:cNvPr>
          <p:cNvSpPr txBox="1"/>
          <p:nvPr/>
        </p:nvSpPr>
        <p:spPr>
          <a:xfrm>
            <a:off x="6803192" y="4384992"/>
            <a:ext cx="2391888" cy="3077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/>
              <a:t>③ 협업 요청 확인</a:t>
            </a:r>
          </a:p>
        </p:txBody>
      </p:sp>
      <p:sp>
        <p:nvSpPr>
          <p:cNvPr id="87" name="직사각형 86">
            <a:extLst>
              <a:ext uri="{FF2B5EF4-FFF2-40B4-BE49-F238E27FC236}">
                <a16:creationId xmlns:a16="http://schemas.microsoft.com/office/drawing/2014/main" id="{24807FFB-D7F2-4A8E-8656-4617AEFDA05F}"/>
              </a:ext>
            </a:extLst>
          </p:cNvPr>
          <p:cNvSpPr/>
          <p:nvPr/>
        </p:nvSpPr>
        <p:spPr>
          <a:xfrm>
            <a:off x="556286" y="3739872"/>
            <a:ext cx="9020791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400" b="1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파일럿 테스트</a:t>
            </a:r>
            <a:r>
              <a:rPr kumimoji="0" lang="en-US" altLang="ko-KR" sz="1400" i="0" u="none" strike="noStrike" kern="1200" cap="none" spc="-2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/>
                <a:ea typeface="맑은 고딕" panose="020B0503020000020004" pitchFamily="50" charset="-127"/>
                <a:cs typeface="+mn-cs"/>
                <a:sym typeface="Wingdings" pitchFamily="2" charset="2"/>
              </a:rPr>
              <a:t>: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투자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/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회계 연계 대표 질의 대응 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AI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 동작 검증 및 분석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, </a:t>
            </a:r>
            <a:r>
              <a:rPr lang="ko-KR" altLang="en-US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실제 이메일 수신 여부 확인</a:t>
            </a:r>
            <a:endParaRPr kumimoji="0" lang="en-US" altLang="ko-KR" sz="140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658B2224-EF71-4CE7-ACE4-6325C2AB62E9}"/>
              </a:ext>
            </a:extLst>
          </p:cNvPr>
          <p:cNvGrpSpPr/>
          <p:nvPr/>
        </p:nvGrpSpPr>
        <p:grpSpPr>
          <a:xfrm>
            <a:off x="310399" y="3849861"/>
            <a:ext cx="194324" cy="180020"/>
            <a:chOff x="416496" y="3577457"/>
            <a:chExt cx="194324" cy="180020"/>
          </a:xfrm>
        </p:grpSpPr>
        <p:sp>
          <p:nvSpPr>
            <p:cNvPr id="89" name="모서리가 둥근 직사각형 320">
              <a:extLst>
                <a:ext uri="{FF2B5EF4-FFF2-40B4-BE49-F238E27FC236}">
                  <a16:creationId xmlns:a16="http://schemas.microsoft.com/office/drawing/2014/main" id="{F1230FAB-EAE2-49BF-94C7-F4C677DCB12F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90" name="그림 89" descr="7.png">
              <a:extLst>
                <a:ext uri="{FF2B5EF4-FFF2-40B4-BE49-F238E27FC236}">
                  <a16:creationId xmlns:a16="http://schemas.microsoft.com/office/drawing/2014/main" id="{6A204FBD-E43F-45F1-9812-47291227CED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D3B899FC-1121-411F-94D7-FA8AC50385C8}"/>
              </a:ext>
            </a:extLst>
          </p:cNvPr>
          <p:cNvSpPr/>
          <p:nvPr/>
        </p:nvSpPr>
        <p:spPr>
          <a:xfrm>
            <a:off x="556286" y="702152"/>
            <a:ext cx="5271758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『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업무 지침 네비게이터</a:t>
            </a:r>
            <a:r>
              <a:rPr lang="en-US" altLang="ko-KR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』 </a:t>
            </a: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주요 기능 구현 결과</a:t>
            </a:r>
            <a:endParaRPr kumimoji="0" lang="en-US" altLang="ko-KR" sz="1400" b="0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5D296A01-0467-4471-BFB7-716F6FEAD138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7" name="모서리가 둥근 직사각형 320">
              <a:extLst>
                <a:ext uri="{FF2B5EF4-FFF2-40B4-BE49-F238E27FC236}">
                  <a16:creationId xmlns:a16="http://schemas.microsoft.com/office/drawing/2014/main" id="{D5C715E3-3D6B-443B-959D-43AB6A203618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8" name="그림 47" descr="7.png">
              <a:extLst>
                <a:ext uri="{FF2B5EF4-FFF2-40B4-BE49-F238E27FC236}">
                  <a16:creationId xmlns:a16="http://schemas.microsoft.com/office/drawing/2014/main" id="{95E15549-020C-463B-9471-36C41955CCB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2" name="TextBox 31">
            <a:extLst>
              <a:ext uri="{FF2B5EF4-FFF2-40B4-BE49-F238E27FC236}">
                <a16:creationId xmlns:a16="http://schemas.microsoft.com/office/drawing/2014/main" id="{B75B54E4-3DB9-4357-89F4-5D95D4E300D3}"/>
              </a:ext>
            </a:extLst>
          </p:cNvPr>
          <p:cNvSpPr txBox="1"/>
          <p:nvPr/>
        </p:nvSpPr>
        <p:spPr>
          <a:xfrm>
            <a:off x="835564" y="5430847"/>
            <a:ext cx="2223741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300" spc="-60"/>
              <a:t>고정자산 감가상각 처리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CADF0F-B5DE-493B-9922-4CC6E10A3F57}"/>
              </a:ext>
            </a:extLst>
          </p:cNvPr>
          <p:cNvSpPr txBox="1"/>
          <p:nvPr/>
        </p:nvSpPr>
        <p:spPr>
          <a:xfrm>
            <a:off x="6941126" y="5104523"/>
            <a:ext cx="2253953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1300"/>
              <a:t>메일 발송 로그</a:t>
            </a:r>
            <a:r>
              <a:rPr lang="en-US" altLang="ko-KR" sz="1300"/>
              <a:t>·</a:t>
            </a:r>
            <a:r>
              <a:rPr lang="ko-KR" altLang="en-US" sz="1300"/>
              <a:t>수신함 캡처 </a:t>
            </a:r>
            <a:endParaRPr lang="en-US" altLang="ko-KR" sz="1300"/>
          </a:p>
          <a:p>
            <a:pPr algn="ctr"/>
            <a:r>
              <a:rPr lang="ko-KR" altLang="en-US" sz="1300"/>
              <a:t>정상 동작 검증</a:t>
            </a: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91768DFA-DE01-4FC5-924E-1BF0F95E4258}"/>
              </a:ext>
            </a:extLst>
          </p:cNvPr>
          <p:cNvSpPr>
            <a:spLocks noGrp="1"/>
          </p:cNvSpPr>
          <p:nvPr/>
        </p:nvSpPr>
        <p:spPr>
          <a:xfrm>
            <a:off x="410813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796FA834-84F7-42EF-A7D9-0ACE0A3491BA}"/>
              </a:ext>
            </a:extLst>
          </p:cNvPr>
          <p:cNvSpPr>
            <a:spLocks noGrp="1"/>
          </p:cNvSpPr>
          <p:nvPr/>
        </p:nvSpPr>
        <p:spPr>
          <a:xfrm>
            <a:off x="3532725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9" name="사각형: 둥근 모서리 38">
            <a:extLst>
              <a:ext uri="{FF2B5EF4-FFF2-40B4-BE49-F238E27FC236}">
                <a16:creationId xmlns:a16="http://schemas.microsoft.com/office/drawing/2014/main" id="{12E0B78B-1636-40A6-93C5-055AB120C6E9}"/>
              </a:ext>
            </a:extLst>
          </p:cNvPr>
          <p:cNvSpPr>
            <a:spLocks noGrp="1"/>
          </p:cNvSpPr>
          <p:nvPr/>
        </p:nvSpPr>
        <p:spPr>
          <a:xfrm>
            <a:off x="6648327" y="5931012"/>
            <a:ext cx="2928750" cy="634989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3B0CA3A-152D-4015-BBF7-BD90D455AEAC}"/>
              </a:ext>
            </a:extLst>
          </p:cNvPr>
          <p:cNvSpPr txBox="1"/>
          <p:nvPr/>
        </p:nvSpPr>
        <p:spPr>
          <a:xfrm>
            <a:off x="410813" y="5937415"/>
            <a:ext cx="10442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10/10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CFEDA02-0213-41AC-B4B0-4E942FE28EDC}"/>
              </a:ext>
            </a:extLst>
          </p:cNvPr>
          <p:cNvSpPr txBox="1"/>
          <p:nvPr/>
        </p:nvSpPr>
        <p:spPr>
          <a:xfrm>
            <a:off x="1336882" y="5975887"/>
            <a:ext cx="213683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분류 정확도 확보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08E6DD0-C667-46B6-B5D2-A493891973EB}"/>
              </a:ext>
            </a:extLst>
          </p:cNvPr>
          <p:cNvSpPr txBox="1"/>
          <p:nvPr/>
        </p:nvSpPr>
        <p:spPr>
          <a:xfrm>
            <a:off x="3532725" y="5937415"/>
            <a:ext cx="110338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3/10</a:t>
            </a:r>
            <a:r>
              <a:rPr lang="ko-KR" altLang="en-US" b="1">
                <a:latin typeface="+mn-ea"/>
              </a:rPr>
              <a:t>건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616FD4-E477-4107-9693-14F0216A0FD6}"/>
              </a:ext>
            </a:extLst>
          </p:cNvPr>
          <p:cNvSpPr txBox="1"/>
          <p:nvPr/>
        </p:nvSpPr>
        <p:spPr>
          <a:xfrm>
            <a:off x="4388344" y="5975887"/>
            <a:ext cx="19705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>
                <a:solidFill>
                  <a:schemeClr val="tx1">
                    <a:lumMod val="95000"/>
                    <a:lumOff val="5000"/>
                  </a:schemeClr>
                </a:solidFill>
              </a:rPr>
              <a:t>범위 외 질문 답변 제한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70307BE-6598-47A1-83FA-D9EE14EEC7A5}"/>
              </a:ext>
            </a:extLst>
          </p:cNvPr>
          <p:cNvSpPr txBox="1"/>
          <p:nvPr/>
        </p:nvSpPr>
        <p:spPr>
          <a:xfrm>
            <a:off x="6648327" y="5937415"/>
            <a:ext cx="10492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b="1">
                <a:latin typeface="+mn-ea"/>
              </a:rPr>
              <a:t>6.0</a:t>
            </a:r>
            <a:r>
              <a:rPr lang="ko-KR" altLang="en-US" b="1">
                <a:latin typeface="+mn-ea"/>
              </a:rPr>
              <a:t>초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A5407AD-CFBC-43CC-BCBD-A292FFBDCFD8}"/>
              </a:ext>
            </a:extLst>
          </p:cNvPr>
          <p:cNvSpPr txBox="1"/>
          <p:nvPr/>
        </p:nvSpPr>
        <p:spPr>
          <a:xfrm>
            <a:off x="7273554" y="5975887"/>
            <a:ext cx="235881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업무 요청부터 이메일 초안 작성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C34FC04-8356-4F3E-9921-3AEE8CC855B1}"/>
              </a:ext>
            </a:extLst>
          </p:cNvPr>
          <p:cNvSpPr txBox="1"/>
          <p:nvPr/>
        </p:nvSpPr>
        <p:spPr>
          <a:xfrm>
            <a:off x="7273554" y="6297716"/>
            <a:ext cx="20853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기존</a:t>
            </a:r>
            <a:r>
              <a:rPr lang="ko-KR" altLang="en-US" sz="1200" b="1" spc="-60">
                <a:solidFill>
                  <a:srgbClr val="0F64C0"/>
                </a:solidFill>
              </a:rPr>
              <a:t>대비 처리시간 단축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866ACBC-4164-4D24-94BA-CF7A8D749112}"/>
              </a:ext>
            </a:extLst>
          </p:cNvPr>
          <p:cNvSpPr txBox="1"/>
          <p:nvPr/>
        </p:nvSpPr>
        <p:spPr>
          <a:xfrm>
            <a:off x="4388344" y="6297716"/>
            <a:ext cx="197058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 부정확한 답변 생성  </a:t>
            </a:r>
            <a:r>
              <a:rPr lang="en-US" altLang="ko-KR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0</a:t>
            </a:r>
            <a:r>
              <a:rPr lang="ko-KR" altLang="en-US" sz="1200" b="1" spc="-60">
                <a:solidFill>
                  <a:srgbClr val="0F64C0"/>
                </a:solidFill>
                <a:sym typeface="Wingdings" panose="05000000000000000000" pitchFamily="2" charset="2"/>
              </a:rPr>
              <a:t>건</a:t>
            </a:r>
            <a:endParaRPr lang="ko-KR" altLang="en-US" sz="1200" b="1" spc="-60">
              <a:solidFill>
                <a:srgbClr val="0F64C0"/>
              </a:solidFill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1B1D1D1-F6F2-44BE-8FB7-60AF49C853F4}"/>
              </a:ext>
            </a:extLst>
          </p:cNvPr>
          <p:cNvSpPr txBox="1"/>
          <p:nvPr/>
        </p:nvSpPr>
        <p:spPr>
          <a:xfrm>
            <a:off x="1262387" y="6297716"/>
            <a:ext cx="235210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 </a:t>
            </a:r>
            <a:r>
              <a:rPr lang="en-US" altLang="ko-KR" sz="1200" b="1" spc="-80">
                <a:solidFill>
                  <a:srgbClr val="0F64C0"/>
                </a:solidFill>
                <a:sym typeface="Wingdings" panose="05000000000000000000" pitchFamily="2" charset="2"/>
              </a:rPr>
              <a:t>100</a:t>
            </a:r>
            <a:r>
              <a:rPr lang="en-US" altLang="ko-KR" sz="1200" b="1" spc="-80">
                <a:solidFill>
                  <a:srgbClr val="0F64C0"/>
                </a:solidFill>
              </a:rPr>
              <a:t>%  (</a:t>
            </a:r>
            <a:r>
              <a:rPr lang="ko-KR" altLang="en-US" sz="1200" b="1" spc="-80">
                <a:solidFill>
                  <a:srgbClr val="0F64C0"/>
                </a:solidFill>
              </a:rPr>
              <a:t>투자</a:t>
            </a:r>
            <a:r>
              <a:rPr lang="en-US" altLang="ko-KR" sz="1200" b="1" spc="-80">
                <a:solidFill>
                  <a:srgbClr val="0F64C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〮</a:t>
            </a:r>
            <a:r>
              <a:rPr lang="ko-KR" altLang="en-US" sz="1200" b="1" spc="-80">
                <a:solidFill>
                  <a:srgbClr val="0F64C0"/>
                </a:solidFill>
              </a:rPr>
              <a:t>회계범위 질문 限</a:t>
            </a:r>
            <a:r>
              <a:rPr lang="en-US" altLang="ko-KR" sz="1200" b="1" spc="-80">
                <a:solidFill>
                  <a:srgbClr val="0F64C0"/>
                </a:solidFill>
              </a:rPr>
              <a:t>) </a:t>
            </a:r>
            <a:endParaRPr lang="ko-KR" altLang="en-US" sz="1200" b="1" spc="-80">
              <a:solidFill>
                <a:srgbClr val="0F64C0"/>
              </a:solidFill>
            </a:endParaRPr>
          </a:p>
        </p:txBody>
      </p:sp>
      <p:pic>
        <p:nvPicPr>
          <p:cNvPr id="65" name="Image 4" descr="/tmp/claude-0/-home-claude/946d89a8-cd71-5282-af60-49c1ab8579af/scratchpad/work/assets/cpu_blue.png">
            <a:extLst>
              <a:ext uri="{FF2B5EF4-FFF2-40B4-BE49-F238E27FC236}">
                <a16:creationId xmlns:a16="http://schemas.microsoft.com/office/drawing/2014/main" id="{885DEA6F-B991-4C40-8C05-D6FD0F18A53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19482" y="4753390"/>
            <a:ext cx="299258" cy="299258"/>
          </a:xfrm>
          <a:prstGeom prst="rect">
            <a:avLst/>
          </a:prstGeom>
        </p:spPr>
      </p:pic>
      <p:pic>
        <p:nvPicPr>
          <p:cNvPr id="66" name="Image 3" descr="/tmp/claude-0/-home-claude/946d89a8-cd71-5282-af60-49c1ab8579af/scratchpad/work/assets/users_blue.png">
            <a:extLst>
              <a:ext uri="{FF2B5EF4-FFF2-40B4-BE49-F238E27FC236}">
                <a16:creationId xmlns:a16="http://schemas.microsoft.com/office/drawing/2014/main" id="{1EA4566F-5A70-4095-8FBB-BCF2BAE124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139" y="4753390"/>
            <a:ext cx="299258" cy="299258"/>
          </a:xfrm>
          <a:prstGeom prst="rect">
            <a:avLst/>
          </a:prstGeom>
        </p:spPr>
      </p:pic>
      <p:pic>
        <p:nvPicPr>
          <p:cNvPr id="8" name="그래픽 7" descr="전자 메일 단색으로 채워진">
            <a:extLst>
              <a:ext uri="{FF2B5EF4-FFF2-40B4-BE49-F238E27FC236}">
                <a16:creationId xmlns:a16="http://schemas.microsoft.com/office/drawing/2014/main" id="{448C896C-0F04-42CA-9C1A-CD4ACF47A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17188" y="4753390"/>
            <a:ext cx="320492" cy="320492"/>
          </a:xfrm>
          <a:prstGeom prst="rect">
            <a:avLst/>
          </a:prstGeom>
        </p:spPr>
      </p:pic>
      <p:pic>
        <p:nvPicPr>
          <p:cNvPr id="5" name="그림 4">
            <a:hlinkClick r:id="rId9" action="ppaction://hlinkfile"/>
            <a:extLst>
              <a:ext uri="{FF2B5EF4-FFF2-40B4-BE49-F238E27FC236}">
                <a16:creationId xmlns:a16="http://schemas.microsoft.com/office/drawing/2014/main" id="{AEE86CA0-2D91-494D-AA7D-58705289DE6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07561" y="1123557"/>
            <a:ext cx="3401618" cy="2548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60155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565F164-0C45-4D87-8583-266FB8891880}"/>
              </a:ext>
            </a:extLst>
          </p:cNvPr>
          <p:cNvSpPr txBox="1"/>
          <p:nvPr/>
        </p:nvSpPr>
        <p:spPr>
          <a:xfrm>
            <a:off x="181848" y="118834"/>
            <a:ext cx="82813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2000" b="1" spc="-1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 AI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활용을 위한 첫걸음</a:t>
            </a:r>
            <a:r>
              <a:rPr kumimoji="0" lang="en-US" altLang="ko-KR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, </a:t>
            </a:r>
            <a:r>
              <a:rPr kumimoji="0" lang="ko-KR" altLang="en-US" sz="2000" b="1" i="0" u="none" strike="noStrike" kern="1200" cap="none" spc="-10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그리고 다음 과제</a:t>
            </a:r>
            <a:endParaRPr kumimoji="0" lang="ko-KR" altLang="en-US" sz="2000" b="1" i="0" u="none" strike="noStrike" kern="1200" cap="none" spc="-10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AF15DD7A-DA56-4E27-B8B9-99D16B1EAAD7}"/>
              </a:ext>
            </a:extLst>
          </p:cNvPr>
          <p:cNvSpPr/>
          <p:nvPr/>
        </p:nvSpPr>
        <p:spPr>
          <a:xfrm>
            <a:off x="556286" y="3970534"/>
            <a:ext cx="9034370" cy="406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400" b="1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향후 계획</a:t>
            </a:r>
            <a:r>
              <a:rPr lang="en-US" altLang="ko-KR" sz="1400" spc="-20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  <a:sym typeface="Wingdings" pitchFamily="2" charset="2"/>
              </a:rPr>
              <a:t>: </a:t>
            </a:r>
            <a:r>
              <a:rPr lang="ko-KR" altLang="en-US" sz="1400"/>
              <a:t>데이터 보완과 현업 검증을 거쳐 적용 범위를 단계적으로 확대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/>
              <a:ea typeface="맑은 고딕" panose="020B0503020000020004" pitchFamily="50" charset="-127"/>
              <a:cs typeface="+mn-cs"/>
              <a:sym typeface="Wingdings" pitchFamily="2" charset="2"/>
            </a:endParaRPr>
          </a:p>
        </p:txBody>
      </p: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29476FCD-9DE7-46DD-B543-6C57D2954689}"/>
              </a:ext>
            </a:extLst>
          </p:cNvPr>
          <p:cNvGrpSpPr/>
          <p:nvPr/>
        </p:nvGrpSpPr>
        <p:grpSpPr>
          <a:xfrm>
            <a:off x="310399" y="4080523"/>
            <a:ext cx="194324" cy="180020"/>
            <a:chOff x="416496" y="3577457"/>
            <a:chExt cx="194324" cy="180020"/>
          </a:xfrm>
        </p:grpSpPr>
        <p:sp>
          <p:nvSpPr>
            <p:cNvPr id="49" name="모서리가 둥근 직사각형 320">
              <a:extLst>
                <a:ext uri="{FF2B5EF4-FFF2-40B4-BE49-F238E27FC236}">
                  <a16:creationId xmlns:a16="http://schemas.microsoft.com/office/drawing/2014/main" id="{E9BE25AB-1104-4DD5-AC3E-6DDBF8D648F9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51" name="그림 50" descr="7.png">
              <a:extLst>
                <a:ext uri="{FF2B5EF4-FFF2-40B4-BE49-F238E27FC236}">
                  <a16:creationId xmlns:a16="http://schemas.microsoft.com/office/drawing/2014/main" id="{555C5E72-6381-4E1B-BA5E-ACD3D13B77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CA3B9E35-C842-441D-B20A-3172A92BE66B}"/>
              </a:ext>
            </a:extLst>
          </p:cNvPr>
          <p:cNvSpPr txBox="1"/>
          <p:nvPr/>
        </p:nvSpPr>
        <p:spPr>
          <a:xfrm>
            <a:off x="8792918" y="283028"/>
            <a:ext cx="109131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ko-KR" sz="1400" b="1">
                <a:solidFill>
                  <a:schemeClr val="bg1"/>
                </a:solidFill>
                <a:latin typeface="+mj-ea"/>
                <a:ea typeface="+mj-ea"/>
              </a:rPr>
              <a:t>(6/6)</a:t>
            </a:r>
            <a:endParaRPr lang="ko-KR" altLang="en-US" sz="1400" b="1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A6396DB5-C4C0-4342-B110-E6F18BC28618}"/>
              </a:ext>
            </a:extLst>
          </p:cNvPr>
          <p:cNvSpPr/>
          <p:nvPr/>
        </p:nvSpPr>
        <p:spPr>
          <a:xfrm>
            <a:off x="380299" y="6062335"/>
            <a:ext cx="9289581" cy="505290"/>
          </a:xfrm>
          <a:prstGeom prst="rect">
            <a:avLst/>
          </a:prstGeom>
          <a:pattFill prst="pct25">
            <a:fgClr>
              <a:schemeClr val="accent1">
                <a:lumMod val="40000"/>
                <a:lumOff val="60000"/>
              </a:schemeClr>
            </a:fgClr>
            <a:bgClr>
              <a:schemeClr val="bg1"/>
            </a:bgClr>
          </a:patt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500" b="1">
                <a:solidFill>
                  <a:schemeClr val="tx1"/>
                </a:solidFill>
              </a:rPr>
              <a:t>             </a:t>
            </a:r>
            <a:r>
              <a:rPr lang="ko-KR" altLang="en-US" sz="1500" b="1" spc="-40">
                <a:solidFill>
                  <a:schemeClr val="tx1"/>
                </a:solidFill>
              </a:rPr>
              <a:t>실제 업무 검증을 바탕으로 </a:t>
            </a:r>
            <a:r>
              <a:rPr lang="ko-KR" altLang="en-US" sz="1500" b="1">
                <a:solidFill>
                  <a:schemeClr val="tx1"/>
                </a:solidFill>
              </a:rPr>
              <a:t>서비스의 완성도를 높이고</a:t>
            </a:r>
            <a:r>
              <a:rPr lang="en-US" altLang="ko-KR" sz="1500" b="1">
                <a:solidFill>
                  <a:schemeClr val="tx1"/>
                </a:solidFill>
              </a:rPr>
              <a:t>, </a:t>
            </a:r>
            <a:r>
              <a:rPr lang="ko-KR" altLang="en-US" sz="1500" b="1">
                <a:solidFill>
                  <a:schemeClr val="tx1"/>
                </a:solidFill>
              </a:rPr>
              <a:t>효과가 확인된 업무부터 적용 범위를 확대</a:t>
            </a:r>
            <a:endParaRPr lang="ko-KR" altLang="en-US" sz="1500" b="1" spc="-40">
              <a:solidFill>
                <a:schemeClr val="tx1"/>
              </a:solidFill>
              <a:latin typeface="+mn-ea"/>
            </a:endParaRPr>
          </a:p>
        </p:txBody>
      </p: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F739FA52-0BC8-41ED-96A4-C21CDA0939AE}"/>
              </a:ext>
            </a:extLst>
          </p:cNvPr>
          <p:cNvGrpSpPr/>
          <p:nvPr/>
        </p:nvGrpSpPr>
        <p:grpSpPr>
          <a:xfrm>
            <a:off x="388532" y="6099254"/>
            <a:ext cx="511817" cy="431452"/>
            <a:chOff x="-895525" y="3274733"/>
            <a:chExt cx="619300" cy="474597"/>
          </a:xfrm>
        </p:grpSpPr>
        <p:sp>
          <p:nvSpPr>
            <p:cNvPr id="61" name="타원 60">
              <a:extLst>
                <a:ext uri="{FF2B5EF4-FFF2-40B4-BE49-F238E27FC236}">
                  <a16:creationId xmlns:a16="http://schemas.microsoft.com/office/drawing/2014/main" id="{FE250C78-B1EC-4C84-B61C-88D384CA99F2}"/>
                </a:ext>
              </a:extLst>
            </p:cNvPr>
            <p:cNvSpPr/>
            <p:nvPr/>
          </p:nvSpPr>
          <p:spPr>
            <a:xfrm>
              <a:off x="-781050" y="3274733"/>
              <a:ext cx="504825" cy="47459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3" name="화살표: 오른쪽 62">
              <a:extLst>
                <a:ext uri="{FF2B5EF4-FFF2-40B4-BE49-F238E27FC236}">
                  <a16:creationId xmlns:a16="http://schemas.microsoft.com/office/drawing/2014/main" id="{665DD529-1989-4A76-A5A4-B68BE9A4FCF2}"/>
                </a:ext>
              </a:extLst>
            </p:cNvPr>
            <p:cNvSpPr/>
            <p:nvPr/>
          </p:nvSpPr>
          <p:spPr>
            <a:xfrm>
              <a:off x="-895525" y="3297066"/>
              <a:ext cx="616600" cy="429929"/>
            </a:xfrm>
            <a:prstGeom prst="rightArrow">
              <a:avLst/>
            </a:prstGeom>
            <a:pattFill prst="pct25">
              <a:fgClr>
                <a:schemeClr val="accent1">
                  <a:lumMod val="40000"/>
                  <a:lumOff val="60000"/>
                </a:schemeClr>
              </a:fgClr>
              <a:bgClr>
                <a:schemeClr val="bg1"/>
              </a:bgClr>
            </a:patt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36" name="직선 연결선 35">
            <a:extLst>
              <a:ext uri="{FF2B5EF4-FFF2-40B4-BE49-F238E27FC236}">
                <a16:creationId xmlns:a16="http://schemas.microsoft.com/office/drawing/2014/main" id="{2A27BA35-F808-4CD6-941D-604A42AE0488}"/>
              </a:ext>
            </a:extLst>
          </p:cNvPr>
          <p:cNvCxnSpPr>
            <a:cxnSpLocks/>
          </p:cNvCxnSpPr>
          <p:nvPr/>
        </p:nvCxnSpPr>
        <p:spPr>
          <a:xfrm>
            <a:off x="352511" y="4833356"/>
            <a:ext cx="929960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BD16EDC6-7CE1-4175-9471-C5D89E61B5CB}"/>
              </a:ext>
            </a:extLst>
          </p:cNvPr>
          <p:cNvGrpSpPr/>
          <p:nvPr/>
        </p:nvGrpSpPr>
        <p:grpSpPr>
          <a:xfrm>
            <a:off x="362747" y="4478495"/>
            <a:ext cx="2783225" cy="307777"/>
            <a:chOff x="536919" y="4223182"/>
            <a:chExt cx="2783225" cy="307777"/>
          </a:xfrm>
        </p:grpSpPr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E4D2E093-91DA-45AF-A8B9-B128F972257E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EB108567-8770-4855-A685-5EF08269B08A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품질 보완</a:t>
              </a:r>
            </a:p>
          </p:txBody>
        </p:sp>
      </p:grpSp>
      <p:grpSp>
        <p:nvGrpSpPr>
          <p:cNvPr id="73" name="그룹 72">
            <a:extLst>
              <a:ext uri="{FF2B5EF4-FFF2-40B4-BE49-F238E27FC236}">
                <a16:creationId xmlns:a16="http://schemas.microsoft.com/office/drawing/2014/main" id="{C63B8C5B-3788-47CD-B9CA-F34E39003916}"/>
              </a:ext>
            </a:extLst>
          </p:cNvPr>
          <p:cNvGrpSpPr/>
          <p:nvPr/>
        </p:nvGrpSpPr>
        <p:grpSpPr>
          <a:xfrm>
            <a:off x="3312776" y="4478495"/>
            <a:ext cx="2783225" cy="307777"/>
            <a:chOff x="536919" y="4223182"/>
            <a:chExt cx="2783225" cy="307777"/>
          </a:xfrm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8BE8EAA6-2743-4783-8EE2-08BE5D460A97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중기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0F45BD0-6251-45BC-866F-75BE32884DED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현업 검증</a:t>
              </a:r>
            </a:p>
          </p:txBody>
        </p:sp>
      </p:grp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95471A17-20BA-4D50-AF45-AF865A36983A}"/>
              </a:ext>
            </a:extLst>
          </p:cNvPr>
          <p:cNvGrpSpPr/>
          <p:nvPr/>
        </p:nvGrpSpPr>
        <p:grpSpPr>
          <a:xfrm>
            <a:off x="6868887" y="4478495"/>
            <a:ext cx="2783225" cy="307777"/>
            <a:chOff x="536919" y="4223182"/>
            <a:chExt cx="2783225" cy="307777"/>
          </a:xfrm>
        </p:grpSpPr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2C8B14B0-E30E-4CF7-A7A7-E5B75802E26A}"/>
                </a:ext>
              </a:extLst>
            </p:cNvPr>
            <p:cNvSpPr txBox="1"/>
            <p:nvPr/>
          </p:nvSpPr>
          <p:spPr>
            <a:xfrm>
              <a:off x="536919" y="4223182"/>
              <a:ext cx="905875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향후 </a:t>
              </a:r>
              <a:r>
                <a:rPr lang="ko-KR" altLang="en-US" sz="1400" b="1">
                  <a:solidFill>
                    <a:schemeClr val="bg1">
                      <a:lumMod val="75000"/>
                    </a:schemeClr>
                  </a:solidFill>
                </a:rPr>
                <a:t>ㅣ</a:t>
              </a: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7A750E79-6577-482D-9CF9-C671BF8159FB}"/>
                </a:ext>
              </a:extLst>
            </p:cNvPr>
            <p:cNvSpPr txBox="1"/>
            <p:nvPr/>
          </p:nvSpPr>
          <p:spPr>
            <a:xfrm>
              <a:off x="1168292" y="4223182"/>
              <a:ext cx="215185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b="1"/>
                <a:t>단계적 확대</a:t>
              </a:r>
            </a:p>
          </p:txBody>
        </p:sp>
      </p:grpSp>
      <p:sp>
        <p:nvSpPr>
          <p:cNvPr id="86" name="TextBox 85">
            <a:extLst>
              <a:ext uri="{FF2B5EF4-FFF2-40B4-BE49-F238E27FC236}">
                <a16:creationId xmlns:a16="http://schemas.microsoft.com/office/drawing/2014/main" id="{C95049D1-FC54-4668-A3DA-3E5819ABBF8A}"/>
              </a:ext>
            </a:extLst>
          </p:cNvPr>
          <p:cNvSpPr txBox="1"/>
          <p:nvPr/>
        </p:nvSpPr>
        <p:spPr>
          <a:xfrm>
            <a:off x="360341" y="4982366"/>
            <a:ext cx="2959800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>
                <a:latin typeface="+mn-ea"/>
              </a:rPr>
              <a:t>대표 </a:t>
            </a:r>
            <a:r>
              <a:rPr lang="en-US" altLang="ko-KR" sz="1300" spc="-40">
                <a:latin typeface="+mn-ea"/>
              </a:rPr>
              <a:t>3~5</a:t>
            </a:r>
            <a:r>
              <a:rPr lang="ko-KR" altLang="en-US" sz="1300" spc="-40">
                <a:latin typeface="+mn-ea"/>
              </a:rPr>
              <a:t>개 부서의 업무 데이터 정비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7E794966-039E-4F50-8E07-D120EC9CC40D}"/>
              </a:ext>
            </a:extLst>
          </p:cNvPr>
          <p:cNvSpPr txBox="1"/>
          <p:nvPr/>
        </p:nvSpPr>
        <p:spPr>
          <a:xfrm>
            <a:off x="360341" y="5486518"/>
            <a:ext cx="295980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50">
                <a:latin typeface="+mn-ea"/>
              </a:rPr>
              <a:t>핵심 기능 검증</a:t>
            </a:r>
            <a:r>
              <a:rPr lang="en-US" altLang="ko-KR" sz="1300" spc="-50">
                <a:latin typeface="+mn-ea"/>
              </a:rPr>
              <a:t>, </a:t>
            </a:r>
            <a:r>
              <a:rPr lang="ko-KR" altLang="en-US" sz="1300" spc="-50">
                <a:latin typeface="+mn-ea"/>
              </a:rPr>
              <a:t>서버 확인 절차 등 </a:t>
            </a:r>
            <a:endParaRPr lang="en-US" altLang="ko-KR" sz="1300" spc="-50">
              <a:latin typeface="+mn-ea"/>
            </a:endParaRPr>
          </a:p>
          <a:p>
            <a:r>
              <a:rPr lang="ko-KR" altLang="en-US" sz="1300" spc="-50">
                <a:latin typeface="+mn-ea"/>
              </a:rPr>
              <a:t>안전장치 보완</a:t>
            </a: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73E6AF5-A624-43C8-947D-5EE5E92C333B}"/>
              </a:ext>
            </a:extLst>
          </p:cNvPr>
          <p:cNvSpPr txBox="1"/>
          <p:nvPr/>
        </p:nvSpPr>
        <p:spPr>
          <a:xfrm>
            <a:off x="3332140" y="4982366"/>
            <a:ext cx="363136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60"/>
              <a:t>과제 제안자와 실제 사용자 대상 시범 운영</a:t>
            </a:r>
            <a:endParaRPr lang="ko-KR" altLang="en-US" sz="1300" spc="-6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3B9F7B80-E34E-4956-8D94-CD2B38F66EBB}"/>
              </a:ext>
            </a:extLst>
          </p:cNvPr>
          <p:cNvSpPr txBox="1"/>
          <p:nvPr/>
        </p:nvSpPr>
        <p:spPr>
          <a:xfrm>
            <a:off x="3332140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사용자 의견 반영해 안내 방식 보완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1FDD0D6-52C0-488E-A014-75F411499CFF}"/>
              </a:ext>
            </a:extLst>
          </p:cNvPr>
          <p:cNvSpPr txBox="1"/>
          <p:nvPr/>
        </p:nvSpPr>
        <p:spPr>
          <a:xfrm>
            <a:off x="6868887" y="4982366"/>
            <a:ext cx="267036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검증된 업무 중심 적용 범위 확대</a:t>
            </a:r>
            <a:endParaRPr lang="ko-KR" altLang="en-US" sz="1300" spc="-4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74780FFA-EC75-4D49-B7B4-9D6ABB2B0B10}"/>
              </a:ext>
            </a:extLst>
          </p:cNvPr>
          <p:cNvSpPr txBox="1"/>
          <p:nvPr/>
        </p:nvSpPr>
        <p:spPr>
          <a:xfrm>
            <a:off x="6868887" y="5486518"/>
            <a:ext cx="3177515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spc="-40"/>
              <a:t>사규 앱</a:t>
            </a:r>
            <a:r>
              <a:rPr lang="en-US" altLang="ko-KR" sz="1300" spc="-40"/>
              <a:t>(</a:t>
            </a:r>
            <a:r>
              <a:rPr lang="ko-KR" altLang="en-US" sz="1300" spc="-40"/>
              <a:t>사내 시스템</a:t>
            </a:r>
            <a:r>
              <a:rPr lang="en-US" altLang="ko-KR" sz="1300" spc="-40"/>
              <a:t>)</a:t>
            </a:r>
            <a:r>
              <a:rPr lang="ko-KR" altLang="en-US" sz="1300" spc="-40"/>
              <a:t>과 연계 가능성 검토</a:t>
            </a:r>
          </a:p>
        </p:txBody>
      </p:sp>
      <p:sp>
        <p:nvSpPr>
          <p:cNvPr id="35" name="사각형: 둥근 모서리 34">
            <a:extLst>
              <a:ext uri="{FF2B5EF4-FFF2-40B4-BE49-F238E27FC236}">
                <a16:creationId xmlns:a16="http://schemas.microsoft.com/office/drawing/2014/main" id="{F5FA1B93-D2F1-4D7A-AFE3-44FD432A5A39}"/>
              </a:ext>
            </a:extLst>
          </p:cNvPr>
          <p:cNvSpPr>
            <a:spLocks noGrp="1"/>
          </p:cNvSpPr>
          <p:nvPr/>
        </p:nvSpPr>
        <p:spPr>
          <a:xfrm>
            <a:off x="315347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37" name="사각형: 둥근 모서리 36">
            <a:extLst>
              <a:ext uri="{FF2B5EF4-FFF2-40B4-BE49-F238E27FC236}">
                <a16:creationId xmlns:a16="http://schemas.microsoft.com/office/drawing/2014/main" id="{442707B5-39B3-4D11-B2ED-771F0EC39FFD}"/>
              </a:ext>
            </a:extLst>
          </p:cNvPr>
          <p:cNvSpPr>
            <a:spLocks noGrp="1"/>
          </p:cNvSpPr>
          <p:nvPr/>
        </p:nvSpPr>
        <p:spPr>
          <a:xfrm>
            <a:off x="5014458" y="1356790"/>
            <a:ext cx="4637654" cy="2207293"/>
          </a:xfrm>
          <a:prstGeom prst="roundRect">
            <a:avLst>
              <a:gd name="adj" fmla="val 5139"/>
            </a:avLst>
          </a:prstGeom>
          <a:solidFill>
            <a:schemeClr val="bg1"/>
          </a:solidFill>
          <a:ln>
            <a:noFill/>
          </a:ln>
          <a:effectLst>
            <a:outerShdw blurRad="228600" dist="50800" dir="5400000" rotWithShape="0">
              <a:srgbClr val="1B2A4A">
                <a:alpha val="22000"/>
              </a:srgbClr>
            </a:outerShdw>
          </a:effectLst>
        </p:spPr>
        <p:txBody>
          <a:bodyPr anchor="ctr" anchorCtr="0"/>
          <a:lstStyle/>
          <a:p>
            <a:pPr algn="ctr"/>
            <a:endParaRPr lang="ko-KR" altLang="en-US" sz="1400" b="1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7EEB1E2-43FC-4FA8-A763-76998867EBE7}"/>
              </a:ext>
            </a:extLst>
          </p:cNvPr>
          <p:cNvSpPr txBox="1"/>
          <p:nvPr/>
        </p:nvSpPr>
        <p:spPr>
          <a:xfrm>
            <a:off x="321991" y="1878502"/>
            <a:ext cx="4568663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Python </a:t>
            </a:r>
            <a:r>
              <a:rPr lang="ko-KR" altLang="en-US" sz="1400" spc="-40">
                <a:latin typeface="+mn-ea"/>
              </a:rPr>
              <a:t>기초</a:t>
            </a:r>
            <a:r>
              <a:rPr lang="en-US" altLang="ko-KR" sz="1400" spc="-40">
                <a:latin typeface="+mn-ea"/>
              </a:rPr>
              <a:t>, VS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Code,</a:t>
            </a:r>
            <a:r>
              <a:rPr lang="ko-KR" altLang="en-US" sz="1400" spc="-40">
                <a:latin typeface="+mn-ea"/>
              </a:rPr>
              <a:t> </a:t>
            </a:r>
            <a:r>
              <a:rPr lang="en-US" altLang="ko-KR" sz="1400" spc="-40">
                <a:latin typeface="+mn-ea"/>
              </a:rPr>
              <a:t>GitHub, LangChain, RAG </a:t>
            </a:r>
            <a:r>
              <a:rPr lang="ko-KR" altLang="en-US" sz="1400" spc="-40">
                <a:latin typeface="+mn-ea"/>
              </a:rPr>
              <a:t>등</a:t>
            </a:r>
            <a:endParaRPr lang="en-US" altLang="ko-KR" sz="1400" spc="-40">
              <a:latin typeface="+mn-ea"/>
            </a:endParaRPr>
          </a:p>
          <a:p>
            <a:pPr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</a:pPr>
            <a:r>
              <a:rPr lang="en-US" altLang="ko-KR" sz="1400" spc="-40">
                <a:latin typeface="+mn-ea"/>
              </a:rPr>
              <a:t>  </a:t>
            </a:r>
            <a:r>
              <a:rPr lang="ko-KR" altLang="en-US" sz="1400" spc="-40">
                <a:latin typeface="+mn-ea"/>
              </a:rPr>
              <a:t>새로운 개념 학습</a:t>
            </a:r>
            <a:r>
              <a:rPr lang="en-US" altLang="ko-KR" sz="1400" spc="-4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→ 실제 웹 서비스 구현에 활용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 spc="-40">
                <a:latin typeface="+mn-ea"/>
              </a:rPr>
              <a:t> 골든셋 평가로 주관부서 매칭 정확도 </a:t>
            </a:r>
            <a:r>
              <a:rPr lang="en-US" altLang="ko-KR" sz="1400" spc="-40">
                <a:latin typeface="+mn-ea"/>
              </a:rPr>
              <a:t>79</a:t>
            </a:r>
            <a:r>
              <a:rPr lang="ko-KR" altLang="en-US" sz="1400" spc="-40">
                <a:latin typeface="+mn-ea"/>
              </a:rPr>
              <a:t>→</a:t>
            </a:r>
            <a:r>
              <a:rPr lang="en-US" altLang="ko-KR" sz="1400" spc="-40">
                <a:latin typeface="+mn-ea"/>
              </a:rPr>
              <a:t>95% </a:t>
            </a:r>
            <a:r>
              <a:rPr lang="ko-KR" altLang="en-US" sz="1400" spc="-40">
                <a:latin typeface="+mn-ea"/>
              </a:rPr>
              <a:t>개선</a:t>
            </a:r>
            <a:endParaRPr lang="en-US" altLang="ko-KR" sz="1400" spc="-4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 spc="-40">
                <a:latin typeface="+mn-ea"/>
              </a:rPr>
              <a:t> LangSmith</a:t>
            </a:r>
            <a:r>
              <a:rPr lang="ko-KR" altLang="en-US" sz="1400" spc="-40">
                <a:latin typeface="+mn-ea"/>
              </a:rPr>
              <a:t> 트레이싱</a:t>
            </a:r>
            <a:r>
              <a:rPr lang="en-US" altLang="ko-KR" sz="1400" spc="-40">
                <a:latin typeface="+mn-ea"/>
              </a:rPr>
              <a:t>·</a:t>
            </a:r>
            <a:r>
              <a:rPr lang="ko-KR" altLang="en-US" sz="1400" spc="-40">
                <a:latin typeface="+mn-ea"/>
              </a:rPr>
              <a:t>자동 채점 시스템 구축 </a:t>
            </a:r>
            <a:endParaRPr lang="en-US" altLang="ko-KR" sz="1400" spc="-40">
              <a:latin typeface="+mn-ea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D8CBE9-531F-460A-A6C2-1F24271B5F97}"/>
              </a:ext>
            </a:extLst>
          </p:cNvPr>
          <p:cNvSpPr txBox="1"/>
          <p:nvPr/>
        </p:nvSpPr>
        <p:spPr>
          <a:xfrm>
            <a:off x="5015345" y="1878502"/>
            <a:ext cx="5219699" cy="13388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ko-KR" altLang="en-US" sz="1400">
                <a:latin typeface="+mn-ea"/>
              </a:rPr>
              <a:t> 회사 지침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규정</a:t>
            </a:r>
            <a:r>
              <a:rPr lang="en-US" altLang="ko-KR" sz="1400">
                <a:latin typeface="+mn-ea"/>
              </a:rPr>
              <a:t>, </a:t>
            </a:r>
            <a:r>
              <a:rPr lang="ko-KR" altLang="en-US" sz="1400">
                <a:latin typeface="+mn-ea"/>
              </a:rPr>
              <a:t>프로세스 데이터 추가 확보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실제 업무 데이터로 다양한 상황 검증</a:t>
            </a:r>
            <a:endParaRPr lang="en-US" altLang="ko-KR" sz="1400">
              <a:latin typeface="+mn-ea"/>
            </a:endParaRP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 spc="-40">
                <a:latin typeface="+mn-ea"/>
              </a:rPr>
              <a:t>임베딩 유사도만으로 애매한 경계 사례 보완 </a:t>
            </a:r>
            <a:r>
              <a:rPr lang="en-US" altLang="ko-KR" sz="1400" spc="-40">
                <a:latin typeface="+mn-ea"/>
              </a:rPr>
              <a:t>(Reranking)</a:t>
            </a:r>
          </a:p>
          <a:p>
            <a:pPr marL="90488" indent="-90488">
              <a:spcBef>
                <a:spcPts val="500"/>
              </a:spcBef>
              <a:spcAft>
                <a:spcPts val="500"/>
              </a:spcAft>
              <a:buClr>
                <a:schemeClr val="accent1">
                  <a:lumMod val="60000"/>
                  <a:lumOff val="40000"/>
                </a:schemeClr>
              </a:buClr>
              <a:buFont typeface="Wingdings" panose="05000000000000000000" pitchFamily="2" charset="2"/>
              <a:buChar char="§"/>
            </a:pPr>
            <a:r>
              <a:rPr lang="en-US" altLang="ko-KR" sz="1400">
                <a:latin typeface="+mn-ea"/>
              </a:rPr>
              <a:t> </a:t>
            </a:r>
            <a:r>
              <a:rPr lang="ko-KR" altLang="en-US" sz="1400">
                <a:latin typeface="+mn-ea"/>
              </a:rPr>
              <a:t>현업 사용자 의견을 반영한 서비스 향상</a:t>
            </a:r>
            <a:endParaRPr lang="en-US" altLang="ko-KR" sz="1400">
              <a:latin typeface="+mn-ea"/>
            </a:endParaRPr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46B02998-6623-45B2-8E8E-3E0A89B44C9D}"/>
              </a:ext>
            </a:extLst>
          </p:cNvPr>
          <p:cNvSpPr/>
          <p:nvPr/>
        </p:nvSpPr>
        <p:spPr>
          <a:xfrm>
            <a:off x="556286" y="702152"/>
            <a:ext cx="6093896" cy="399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73891" tIns="73891" rIns="73891" bIns="73891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ts val="2200"/>
              </a:lnSpc>
              <a:spcBef>
                <a:spcPts val="3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400" b="1">
                <a:latin typeface="+mn-ea"/>
              </a:rPr>
              <a:t>AI </a:t>
            </a:r>
            <a:r>
              <a:rPr lang="ko-KR" altLang="en-US" sz="1400" b="1">
                <a:latin typeface="+mn-ea"/>
              </a:rPr>
              <a:t>개념을 적용해 보며 얻은 경험을 바탕으로 가능성과 과제 확인</a:t>
            </a:r>
            <a:endParaRPr kumimoji="0" lang="en-US" altLang="ko-KR" sz="1400" b="1" i="0" u="none" strike="noStrike" kern="1200" cap="none" spc="-2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  <a:sym typeface="Wingdings" pitchFamily="2" charset="2"/>
            </a:endParaRP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557F1BE6-5F9C-4131-A550-461A0E6F04B7}"/>
              </a:ext>
            </a:extLst>
          </p:cNvPr>
          <p:cNvGrpSpPr/>
          <p:nvPr/>
        </p:nvGrpSpPr>
        <p:grpSpPr>
          <a:xfrm>
            <a:off x="310399" y="822532"/>
            <a:ext cx="194324" cy="180020"/>
            <a:chOff x="416496" y="3577457"/>
            <a:chExt cx="194324" cy="180020"/>
          </a:xfrm>
        </p:grpSpPr>
        <p:sp>
          <p:nvSpPr>
            <p:cNvPr id="44" name="모서리가 둥근 직사각형 320">
              <a:extLst>
                <a:ext uri="{FF2B5EF4-FFF2-40B4-BE49-F238E27FC236}">
                  <a16:creationId xmlns:a16="http://schemas.microsoft.com/office/drawing/2014/main" id="{47DF7EC9-150A-4771-90D3-56B6A491FA82}"/>
                </a:ext>
              </a:extLst>
            </p:cNvPr>
            <p:cNvSpPr/>
            <p:nvPr/>
          </p:nvSpPr>
          <p:spPr>
            <a:xfrm>
              <a:off x="416496" y="3577457"/>
              <a:ext cx="194324" cy="180020"/>
            </a:xfrm>
            <a:prstGeom prst="roundRect">
              <a:avLst>
                <a:gd name="adj" fmla="val 13669"/>
              </a:avLst>
            </a:prstGeom>
            <a:solidFill>
              <a:srgbClr val="0070C0"/>
            </a:solidFill>
            <a:ln w="952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marL="0" marR="0" lvl="0" indent="0" algn="ctr" defTabSz="914400" rtl="0" eaLnBrk="1" fontAlgn="auto" latinLnBrk="1" hangingPunct="1">
                <a:lnSpc>
                  <a:spcPct val="12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altLang="ko-KR" sz="1200" b="1" i="0" u="none" strike="noStrike" kern="1200" cap="none" spc="-20" normalizeH="0" baseline="0" noProof="0" dirty="0">
                <a:ln>
                  <a:solidFill>
                    <a:srgbClr val="4F81BD">
                      <a:alpha val="0"/>
                    </a:srgbClr>
                  </a:solidFill>
                </a:ln>
                <a:solidFill>
                  <a:prstClr val="white"/>
                </a:solidFill>
                <a:effectLst/>
                <a:uLnTx/>
                <a:uFillTx/>
                <a:latin typeface="HY견고딕" panose="02030600000101010101" pitchFamily="18" charset="-127"/>
                <a:ea typeface="HY견고딕" panose="02030600000101010101" pitchFamily="18" charset="-127"/>
                <a:cs typeface="Arial" panose="020B0604020202020204" pitchFamily="34" charset="0"/>
              </a:endParaRPr>
            </a:p>
          </p:txBody>
        </p:sp>
        <p:pic>
          <p:nvPicPr>
            <p:cNvPr id="46" name="그림 45" descr="7.png">
              <a:extLst>
                <a:ext uri="{FF2B5EF4-FFF2-40B4-BE49-F238E27FC236}">
                  <a16:creationId xmlns:a16="http://schemas.microsoft.com/office/drawing/2014/main" id="{B88BF027-05B5-417D-A7A9-CF9B295768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>
            <a:xfrm>
              <a:off x="421441" y="3582473"/>
              <a:ext cx="185267" cy="175004"/>
            </a:xfrm>
            <a:prstGeom prst="roundRect">
              <a:avLst>
                <a:gd name="adj" fmla="val 0"/>
              </a:avLst>
            </a:prstGeom>
          </p:spPr>
        </p:pic>
      </p:grpSp>
      <p:sp>
        <p:nvSpPr>
          <p:cNvPr id="38" name="사각형: 둥근 모서리 37">
            <a:extLst>
              <a:ext uri="{FF2B5EF4-FFF2-40B4-BE49-F238E27FC236}">
                <a16:creationId xmlns:a16="http://schemas.microsoft.com/office/drawing/2014/main" id="{5873CF61-8A21-43BF-B0E4-A4D3B60D98AF}"/>
              </a:ext>
            </a:extLst>
          </p:cNvPr>
          <p:cNvSpPr/>
          <p:nvPr/>
        </p:nvSpPr>
        <p:spPr>
          <a:xfrm>
            <a:off x="5662058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앞으로 보완할 점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C2A42805-73FD-483D-B6BF-C7684EA5AA86}"/>
              </a:ext>
            </a:extLst>
          </p:cNvPr>
          <p:cNvSpPr/>
          <p:nvPr/>
        </p:nvSpPr>
        <p:spPr>
          <a:xfrm>
            <a:off x="962947" y="1223492"/>
            <a:ext cx="3359671" cy="314383"/>
          </a:xfrm>
          <a:prstGeom prst="roundRect">
            <a:avLst/>
          </a:prstGeom>
          <a:solidFill>
            <a:srgbClr val="003D9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500" b="1"/>
              <a:t>이번 교육과 프로젝트에서 얻은 것 </a:t>
            </a:r>
          </a:p>
        </p:txBody>
      </p:sp>
    </p:spTree>
    <p:extLst>
      <p:ext uri="{BB962C8B-B14F-4D97-AF65-F5344CB8AC3E}">
        <p14:creationId xmlns:p14="http://schemas.microsoft.com/office/powerpoint/2010/main" val="1126135889"/>
      </p:ext>
    </p:extLst>
  </p:cSld>
  <p:clrMapOvr>
    <a:masterClrMapping/>
  </p:clrMapOvr>
</p:sld>
</file>

<file path=ppt/theme/theme1.xml><?xml version="1.0" encoding="utf-8"?>
<a:theme xmlns:a="http://schemas.openxmlformats.org/drawingml/2006/main" name="Default Theme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fault Theme" id="{1C406C30-685F-4132-9A26-55964B5B5B01}" vid="{E518DA7B-1320-4EFF-98A5-E9BC59A80662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1380</TotalTime>
  <Words>1190</Words>
  <Application>Microsoft Office PowerPoint</Application>
  <DocSecurity>0</DocSecurity>
  <PresentationFormat>A4 용지(210x297mm)</PresentationFormat>
  <Paragraphs>200</Paragraphs>
  <Slides>7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4" baseType="lpstr">
      <vt:lpstr>HY견고딕</vt:lpstr>
      <vt:lpstr>맑은 고딕</vt:lpstr>
      <vt:lpstr>Calibri Light</vt:lpstr>
      <vt:lpstr>Arial</vt:lpstr>
      <vt:lpstr>Calibri</vt:lpstr>
      <vt:lpstr>Wingdings</vt:lpstr>
      <vt:lpstr>Default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Administrator</cp:lastModifiedBy>
  <cp:revision>272</cp:revision>
  <dcterms:created xsi:type="dcterms:W3CDTF">2026-09-04T08:20:33Z</dcterms:created>
  <dcterms:modified xsi:type="dcterms:W3CDTF">2026-09-12T16:25:17Z</dcterms:modified>
</cp:coreProperties>
</file>