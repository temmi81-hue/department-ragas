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50" r:id="rId1"/>
  </p:sldMasterIdLst>
  <p:notesMasterIdLst>
    <p:notesMasterId r:id="rId10"/>
  </p:notesMasterIdLst>
  <p:sldIdLst>
    <p:sldId id="256" r:id="rId2"/>
    <p:sldId id="284" r:id="rId3"/>
    <p:sldId id="285" r:id="rId4"/>
    <p:sldId id="279" r:id="rId5"/>
    <p:sldId id="289" r:id="rId6"/>
    <p:sldId id="280" r:id="rId7"/>
    <p:sldId id="283" r:id="rId8"/>
    <p:sldId id="288" r:id="rId9"/>
  </p:sldIdLst>
  <p:sldSz cx="9906000" cy="6858000" type="A4"/>
  <p:notesSz cx="6858000" cy="9144000"/>
  <p:embeddedFontLst>
    <p:embeddedFont>
      <p:font typeface="Calibri" panose="020F0502020204030204" pitchFamily="34" charset="0"/>
      <p:regular r:id="rId11"/>
      <p:bold r:id="rId12"/>
      <p:italic r:id="rId13"/>
      <p:boldItalic r:id="rId14"/>
    </p:embeddedFont>
    <p:embeddedFont>
      <p:font typeface="Calibri Light" panose="020F0302020204030204" pitchFamily="34" charset="0"/>
      <p:regular r:id="rId15"/>
      <p:italic r:id="rId16"/>
    </p:embeddedFont>
    <p:embeddedFont>
      <p:font typeface="HY견고딕" panose="02030600000101010101" pitchFamily="18" charset="-127"/>
      <p:regular r:id="rId17"/>
    </p:embeddedFont>
    <p:embeddedFont>
      <p:font typeface="맑은 고딕" panose="020B0503020000020004" pitchFamily="50" charset="-127"/>
      <p:regular r:id="rId18"/>
      <p:bold r:id="rId19"/>
    </p:embeddedFont>
  </p:embeddedFontLst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  <a:srgbClr val="F5F6F7"/>
    <a:srgbClr val="F5F6F8"/>
    <a:srgbClr val="DFE2E7"/>
    <a:srgbClr val="DDE0E5"/>
    <a:srgbClr val="F4F5F9"/>
    <a:srgbClr val="E1E6F0"/>
    <a:srgbClr val="779FE0"/>
    <a:srgbClr val="EDF1FA"/>
    <a:srgbClr val="F4F6F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1327" autoAdjust="0"/>
  </p:normalViewPr>
  <p:slideViewPr>
    <p:cSldViewPr snapToGrid="0">
      <p:cViewPr varScale="1">
        <p:scale>
          <a:sx n="74" d="100"/>
          <a:sy n="74" d="100"/>
        </p:scale>
        <p:origin x="1464" y="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3.fntdata"/><Relationship Id="rId18" Type="http://schemas.openxmlformats.org/officeDocument/2006/relationships/font" Target="fonts/font8.fntdata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font" Target="fonts/font2.fntdata"/><Relationship Id="rId17" Type="http://schemas.openxmlformats.org/officeDocument/2006/relationships/font" Target="fonts/font7.fntdata"/><Relationship Id="rId2" Type="http://schemas.openxmlformats.org/officeDocument/2006/relationships/slide" Target="slides/slide1.xml"/><Relationship Id="rId16" Type="http://schemas.openxmlformats.org/officeDocument/2006/relationships/font" Target="fonts/font6.fntdata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1.fntdata"/><Relationship Id="rId5" Type="http://schemas.openxmlformats.org/officeDocument/2006/relationships/slide" Target="slides/slide4.xml"/><Relationship Id="rId15" Type="http://schemas.openxmlformats.org/officeDocument/2006/relationships/font" Target="fonts/font5.fntdata"/><Relationship Id="rId23" Type="http://schemas.openxmlformats.org/officeDocument/2006/relationships/tableStyles" Target="tableStyles.xml"/><Relationship Id="rId10" Type="http://schemas.openxmlformats.org/officeDocument/2006/relationships/notesMaster" Target="notesMasters/notesMaster1.xml"/><Relationship Id="rId19" Type="http://schemas.openxmlformats.org/officeDocument/2006/relationships/font" Target="fonts/font9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4.fntdata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686968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872777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8527269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5129824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2026-09-15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502609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2026-09-15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650282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2026-09-15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254472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2026-09-15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14394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2026-09-15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437435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2026-09-15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0110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2026-09-15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79738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2026-09-15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251221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2026-09-15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105524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2026-09-15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638080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2026-09-15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701167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AC0F0B2-DC44-4D7F-B9BC-23EB46679998}" type="datetimeFigureOut">
              <a:rPr lang="ko-KR" altLang="en-US" smtClean="0"/>
              <a:t>2026-09-15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7" name="Picture 1" descr="PPT-A3.jpg">
            <a:extLst>
              <a:ext uri="{FF2B5EF4-FFF2-40B4-BE49-F238E27FC236}">
                <a16:creationId xmlns:a16="http://schemas.microsoft.com/office/drawing/2014/main" id="{DE8B8C1A-8256-4308-B61E-14996DBA522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" b="88495"/>
          <a:stretch/>
        </p:blipFill>
        <p:spPr>
          <a:xfrm>
            <a:off x="0" y="0"/>
            <a:ext cx="9906000" cy="6189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63200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9" r:id="rId9"/>
    <p:sldLayoutId id="2147483660" r:id="rId10"/>
    <p:sldLayoutId id="2147483661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4.png"/><Relationship Id="rId3" Type="http://schemas.openxmlformats.org/officeDocument/2006/relationships/image" Target="../media/image4.png"/><Relationship Id="rId7" Type="http://schemas.openxmlformats.org/officeDocument/2006/relationships/image" Target="../media/image8.svg"/><Relationship Id="rId12" Type="http://schemas.openxmlformats.org/officeDocument/2006/relationships/image" Target="../media/image1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11" Type="http://schemas.openxmlformats.org/officeDocument/2006/relationships/image" Target="../media/image12.svg"/><Relationship Id="rId5" Type="http://schemas.openxmlformats.org/officeDocument/2006/relationships/image" Target="../media/image6.sv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svg"/><Relationship Id="rId14" Type="http://schemas.openxmlformats.org/officeDocument/2006/relationships/image" Target="../media/image15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4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svg"/><Relationship Id="rId4" Type="http://schemas.openxmlformats.org/officeDocument/2006/relationships/image" Target="../media/image16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22.svg"/><Relationship Id="rId7" Type="http://schemas.openxmlformats.org/officeDocument/2006/relationships/image" Target="../media/image25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4.png"/><Relationship Id="rId9" Type="http://schemas.openxmlformats.org/officeDocument/2006/relationships/image" Target="../media/image27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svg"/><Relationship Id="rId3" Type="http://schemas.openxmlformats.org/officeDocument/2006/relationships/image" Target="../media/image22.svg"/><Relationship Id="rId7" Type="http://schemas.openxmlformats.org/officeDocument/2006/relationships/image" Target="../media/image3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10" Type="http://schemas.openxmlformats.org/officeDocument/2006/relationships/image" Target="../media/image34.png"/><Relationship Id="rId4" Type="http://schemas.openxmlformats.org/officeDocument/2006/relationships/image" Target="../media/image4.png"/><Relationship Id="rId9" Type="http://schemas.openxmlformats.org/officeDocument/2006/relationships/hyperlink" Target="department-workflow-demo-ai-match.mp4" TargetMode="Externa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6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13F7457-F4CC-44F8-B8E5-ABFFB72D5E8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4" name="Picture 1" descr="01.jpg">
            <a:extLst>
              <a:ext uri="{FF2B5EF4-FFF2-40B4-BE49-F238E27FC236}">
                <a16:creationId xmlns:a16="http://schemas.microsoft.com/office/drawing/2014/main" id="{132316C5-A493-4055-91A0-050D22AA5C9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906001" cy="6858000"/>
          </a:xfrm>
          <a:prstGeom prst="rect">
            <a:avLst/>
          </a:prstGeom>
        </p:spPr>
      </p:pic>
      <p:pic>
        <p:nvPicPr>
          <p:cNvPr id="5" name="Picture 2" descr="https://menu.mt.co.kr/moneyweek/thumb/2023/02/24/06/2023022414024538009_1.jpg">
            <a:extLst>
              <a:ext uri="{FF2B5EF4-FFF2-40B4-BE49-F238E27FC236}">
                <a16:creationId xmlns:a16="http://schemas.microsoft.com/office/drawing/2014/main" id="{D10E8ADE-AC02-4C77-A4D3-25F246A9A8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02542" y="206132"/>
            <a:ext cx="1054351" cy="4188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angle 3">
            <a:extLst>
              <a:ext uri="{FF2B5EF4-FFF2-40B4-BE49-F238E27FC236}">
                <a16:creationId xmlns:a16="http://schemas.microsoft.com/office/drawing/2014/main" id="{268A812F-28C0-44F1-9199-2D205E7BAD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53357" y="5533834"/>
            <a:ext cx="1404000" cy="3488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0" marR="0" lvl="0" indent="0" algn="ctr" defTabSz="914400" rtl="0" eaLnBrk="0" fontAlgn="auto" latinLnBrk="0" hangingPunct="0">
              <a:lnSpc>
                <a:spcPts val="1965"/>
              </a:lnSpc>
              <a:spcBef>
                <a:spcPts val="491"/>
              </a:spcBef>
              <a:spcAft>
                <a:spcPts val="0"/>
              </a:spcAft>
              <a:buClr>
                <a:srgbClr val="003399"/>
              </a:buClr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itchFamily="50" charset="-127"/>
                <a:ea typeface="맑은 고딕" pitchFamily="50" charset="-127"/>
                <a:cs typeface="+mn-cs"/>
              </a:rPr>
              <a:t>’26. </a:t>
            </a:r>
            <a:r>
              <a:rPr lang="en-US" altLang="ko-KR" sz="20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9</a:t>
            </a: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itchFamily="50" charset="-127"/>
                <a:ea typeface="맑은 고딕" pitchFamily="50" charset="-127"/>
                <a:cs typeface="+mn-cs"/>
              </a:rPr>
              <a:t>. 16.</a:t>
            </a:r>
            <a:endParaRPr kumimoji="0" lang="en-US" altLang="ko-KR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itchFamily="50" charset="-127"/>
              <a:ea typeface="맑은 고딕" pitchFamily="50" charset="-127"/>
              <a:cs typeface="+mn-cs"/>
            </a:endParaRPr>
          </a:p>
        </p:txBody>
      </p:sp>
      <p:sp>
        <p:nvSpPr>
          <p:cNvPr id="7" name="Rectangle 4">
            <a:extLst>
              <a:ext uri="{FF2B5EF4-FFF2-40B4-BE49-F238E27FC236}">
                <a16:creationId xmlns:a16="http://schemas.microsoft.com/office/drawing/2014/main" id="{BCD8B51F-1031-48AA-8217-E73F0CBD43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4883" y="6064424"/>
            <a:ext cx="4580949" cy="35182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0" marR="0" lvl="0" indent="0" algn="ctr" defTabSz="914400" rtl="0" eaLnBrk="0" fontAlgn="auto" latinLnBrk="0" hangingPunct="0">
              <a:lnSpc>
                <a:spcPts val="1965"/>
              </a:lnSpc>
              <a:spcBef>
                <a:spcPts val="491"/>
              </a:spcBef>
              <a:spcAft>
                <a:spcPts val="0"/>
              </a:spcAft>
              <a:buClr>
                <a:srgbClr val="003399"/>
              </a:buClr>
              <a:buSzTx/>
              <a:buFontTx/>
              <a:buNone/>
              <a:tabLst/>
              <a:defRPr/>
            </a:pPr>
            <a:r>
              <a:rPr kumimoji="0" lang="ko-KR" altLang="en-US" sz="2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itchFamily="50" charset="-127"/>
                <a:ea typeface="맑은 고딕" pitchFamily="50" charset="-127"/>
                <a:cs typeface="+mn-cs"/>
              </a:rPr>
              <a:t>포스코퓨처엠 송다혜</a:t>
            </a:r>
            <a:endParaRPr kumimoji="0" lang="ko-KR" alt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itchFamily="50" charset="-127"/>
              <a:ea typeface="맑은 고딕" pitchFamily="50" charset="-127"/>
              <a:cs typeface="+mn-cs"/>
            </a:endParaRPr>
          </a:p>
        </p:txBody>
      </p:sp>
      <p:sp>
        <p:nvSpPr>
          <p:cNvPr id="12" name="Text Box 9">
            <a:extLst>
              <a:ext uri="{FF2B5EF4-FFF2-40B4-BE49-F238E27FC236}">
                <a16:creationId xmlns:a16="http://schemas.microsoft.com/office/drawing/2014/main" id="{EAFC9585-92B4-4636-A7E1-4FF2DBA9485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2133" y="2171601"/>
            <a:ext cx="9908133" cy="138919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5738" tIns="75738" rIns="75738" bIns="75738">
            <a:spAutoFit/>
            <a:scene3d>
              <a:camera prst="orthographicFront"/>
              <a:lightRig rig="threePt" dir="t"/>
            </a:scene3d>
            <a:sp3d extrusionH="57150">
              <a:bevelT w="38100" h="38100"/>
            </a:sp3d>
          </a:bodyPr>
          <a:lstStyle/>
          <a:p>
            <a:pPr fontAlgn="base">
              <a:spcBef>
                <a:spcPct val="0"/>
              </a:spcBef>
              <a:spcAft>
                <a:spcPts val="1000"/>
              </a:spcAft>
              <a:defRPr/>
            </a:pPr>
            <a:r>
              <a:rPr lang="ko-KR" altLang="en-US" sz="3600" b="1" kern="0" spc="-100">
                <a:solidFill>
                  <a:prstClr val="black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      업무 상황을 입력하면</a:t>
            </a:r>
            <a:r>
              <a:rPr lang="en-US" altLang="ko-KR" sz="3600" b="1" kern="0" spc="-100">
                <a:solidFill>
                  <a:prstClr val="black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,</a:t>
            </a:r>
          </a:p>
          <a:p>
            <a:pPr fontAlgn="base">
              <a:spcBef>
                <a:spcPct val="0"/>
              </a:spcBef>
              <a:spcAft>
                <a:spcPts val="1000"/>
              </a:spcAft>
              <a:defRPr/>
            </a:pPr>
            <a:r>
              <a:rPr lang="en-US" altLang="ko-KR" sz="3600" b="1" kern="0" spc="-100">
                <a:solidFill>
                  <a:prstClr val="black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      </a:t>
            </a:r>
            <a:r>
              <a:rPr lang="ko-KR" altLang="en-US" sz="3600" b="1" kern="0" spc="-100">
                <a:solidFill>
                  <a:prstClr val="black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필요한 절차와 협업 부서를 안내합니다</a:t>
            </a:r>
            <a:r>
              <a:rPr lang="en-US" altLang="ko-KR" sz="3600" b="1" kern="0" spc="-100">
                <a:solidFill>
                  <a:prstClr val="black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.</a:t>
            </a:r>
            <a:endParaRPr lang="en-US" altLang="ko-KR" sz="3600" b="1" kern="0" spc="-100" dirty="0">
              <a:solidFill>
                <a:prstClr val="black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CAF36BC-9235-4E18-B840-B5F6E3DF61ED}"/>
              </a:ext>
            </a:extLst>
          </p:cNvPr>
          <p:cNvSpPr txBox="1"/>
          <p:nvPr/>
        </p:nvSpPr>
        <p:spPr>
          <a:xfrm>
            <a:off x="823961" y="1782172"/>
            <a:ext cx="27532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>
                <a:latin typeface="+mn-ea"/>
              </a:rPr>
              <a:t>[</a:t>
            </a:r>
            <a:r>
              <a:rPr lang="ko-KR" altLang="en-US">
                <a:latin typeface="+mn-ea"/>
              </a:rPr>
              <a:t>업무 지침 네비게이터</a:t>
            </a:r>
            <a:r>
              <a:rPr lang="en-US" altLang="ko-KR">
                <a:latin typeface="+mn-ea"/>
              </a:rPr>
              <a:t>]</a:t>
            </a:r>
            <a:endParaRPr lang="ko-KR" altLang="en-US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6318321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70BA70C2-B07D-4FB2-8044-D17828F175C1}"/>
              </a:ext>
            </a:extLst>
          </p:cNvPr>
          <p:cNvSpPr>
            <a:spLocks noGrp="1"/>
          </p:cNvSpPr>
          <p:nvPr/>
        </p:nvSpPr>
        <p:spPr>
          <a:xfrm>
            <a:off x="7252560" y="5147722"/>
            <a:ext cx="2386148" cy="478467"/>
          </a:xfrm>
          <a:prstGeom prst="roundRect">
            <a:avLst>
              <a:gd name="adj" fmla="val 19218"/>
            </a:avLst>
          </a:prstGeom>
          <a:solidFill>
            <a:schemeClr val="bg1">
              <a:lumMod val="95000"/>
            </a:schemeClr>
          </a:solidFill>
          <a:ln w="9525">
            <a:solidFill>
              <a:srgbClr val="E4DAF0"/>
            </a:solidFill>
            <a:prstDash val="solid"/>
          </a:ln>
        </p:spPr>
        <p:txBody>
          <a:bodyPr anchor="ctr" anchorCtr="0"/>
          <a:lstStyle/>
          <a:p>
            <a:pPr algn="ctr"/>
            <a:r>
              <a:rPr lang="ko-KR" altLang="en-US" sz="1400" b="1"/>
              <a:t>           내용 확인</a:t>
            </a:r>
            <a:r>
              <a:rPr lang="en-US" altLang="ko-KR" sz="1400" b="1"/>
              <a:t>, </a:t>
            </a:r>
            <a:r>
              <a:rPr lang="ko-KR" altLang="en-US" sz="1400" b="1"/>
              <a:t>업무 처리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1.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입력만으로 필요 절차와 지침을 한 번에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, 『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업무 지침 네비게이터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』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18989D12-EF7E-4B26-A8A4-47703D404C10}"/>
              </a:ext>
            </a:extLst>
          </p:cNvPr>
          <p:cNvSpPr/>
          <p:nvPr/>
        </p:nvSpPr>
        <p:spPr>
          <a:xfrm>
            <a:off x="556286" y="709192"/>
            <a:ext cx="7886103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검토 배경</a:t>
            </a:r>
            <a:r>
              <a:rPr kumimoji="0" lang="en-US" altLang="ko-KR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: </a:t>
            </a:r>
            <a:r>
              <a:rPr kumimoji="0" lang="ko-KR" altLang="en-US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누구나 필요한 업무 프로세스를 쉽게 이해하고</a:t>
            </a:r>
            <a:r>
              <a:rPr kumimoji="0" lang="en-US" altLang="ko-KR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, </a:t>
            </a:r>
            <a:r>
              <a:rPr kumimoji="0" lang="ko-KR" altLang="en-US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안정적으로 이행할 수 있는 지원 필요</a:t>
            </a:r>
            <a:endParaRPr kumimoji="0" lang="en-US" altLang="ko-KR" sz="140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26A7927B-1FC5-4002-88D0-9247A5AECD7B}"/>
              </a:ext>
            </a:extLst>
          </p:cNvPr>
          <p:cNvGrpSpPr/>
          <p:nvPr/>
        </p:nvGrpSpPr>
        <p:grpSpPr>
          <a:xfrm>
            <a:off x="310399" y="819181"/>
            <a:ext cx="194324" cy="180020"/>
            <a:chOff x="416496" y="3577457"/>
            <a:chExt cx="194324" cy="180020"/>
          </a:xfrm>
        </p:grpSpPr>
        <p:sp>
          <p:nvSpPr>
            <p:cNvPr id="9" name="모서리가 둥근 직사각형 320">
              <a:extLst>
                <a:ext uri="{FF2B5EF4-FFF2-40B4-BE49-F238E27FC236}">
                  <a16:creationId xmlns:a16="http://schemas.microsoft.com/office/drawing/2014/main" id="{64991931-304B-4A79-8ABF-F87172C315CC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10" name="그림 9" descr="7.png">
              <a:extLst>
                <a:ext uri="{FF2B5EF4-FFF2-40B4-BE49-F238E27FC236}">
                  <a16:creationId xmlns:a16="http://schemas.microsoft.com/office/drawing/2014/main" id="{0EFF1F02-3E3B-4082-8B1A-A822DE53A21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B656DA0D-7D8A-4307-854A-0B0967B6A766}"/>
              </a:ext>
            </a:extLst>
          </p:cNvPr>
          <p:cNvSpPr/>
          <p:nvPr/>
        </p:nvSpPr>
        <p:spPr>
          <a:xfrm>
            <a:off x="556286" y="4300007"/>
            <a:ext cx="9218275" cy="4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추진 방향</a:t>
            </a:r>
            <a:r>
              <a:rPr kumimoji="0" lang="en-US" altLang="ko-KR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:</a:t>
            </a:r>
            <a:r>
              <a:rPr kumimoji="0" lang="en-US" altLang="ko-KR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 </a:t>
            </a:r>
            <a:r>
              <a:rPr lang="ko-KR" altLang="en-US" sz="1400">
                <a:latin typeface="+mn-ea"/>
              </a:rPr>
              <a:t>담당자의 경험과 개별 탐색 방식에서 </a:t>
            </a:r>
            <a:r>
              <a:rPr lang="ko-KR" altLang="en-US" sz="1400" b="1">
                <a:solidFill>
                  <a:srgbClr val="0000FF"/>
                </a:solidFill>
                <a:latin typeface="+mn-ea"/>
              </a:rPr>
              <a:t>업무별 처리 절차와 지침을 한 번에 안내하는 방식으로 전환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srgbClr val="0000FF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1A108875-0952-48E3-AB80-BF0F0F01D762}"/>
              </a:ext>
            </a:extLst>
          </p:cNvPr>
          <p:cNvGrpSpPr/>
          <p:nvPr/>
        </p:nvGrpSpPr>
        <p:grpSpPr>
          <a:xfrm>
            <a:off x="310399" y="4413234"/>
            <a:ext cx="194324" cy="180020"/>
            <a:chOff x="416496" y="3577457"/>
            <a:chExt cx="194324" cy="180020"/>
          </a:xfrm>
        </p:grpSpPr>
        <p:sp>
          <p:nvSpPr>
            <p:cNvPr id="20" name="모서리가 둥근 직사각형 320">
              <a:extLst>
                <a:ext uri="{FF2B5EF4-FFF2-40B4-BE49-F238E27FC236}">
                  <a16:creationId xmlns:a16="http://schemas.microsoft.com/office/drawing/2014/main" id="{C8058689-94E4-446F-AA2A-B4307B03BD15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21" name="그림 20" descr="7.png">
              <a:extLst>
                <a:ext uri="{FF2B5EF4-FFF2-40B4-BE49-F238E27FC236}">
                  <a16:creationId xmlns:a16="http://schemas.microsoft.com/office/drawing/2014/main" id="{79B5018E-A44B-4CB4-A228-3DB8F42FC59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F2049F6D-52F7-4288-9113-D28B84A81059}"/>
              </a:ext>
            </a:extLst>
          </p:cNvPr>
          <p:cNvSpPr>
            <a:spLocks noGrp="1"/>
          </p:cNvSpPr>
          <p:nvPr/>
        </p:nvSpPr>
        <p:spPr>
          <a:xfrm>
            <a:off x="431339" y="5147722"/>
            <a:ext cx="2252113" cy="478467"/>
          </a:xfrm>
          <a:prstGeom prst="roundRect">
            <a:avLst>
              <a:gd name="adj" fmla="val 19218"/>
            </a:avLst>
          </a:prstGeom>
          <a:solidFill>
            <a:schemeClr val="bg1">
              <a:lumMod val="95000"/>
            </a:schemeClr>
          </a:solidFill>
          <a:ln w="9525">
            <a:solidFill>
              <a:srgbClr val="E4DAF0"/>
            </a:solidFill>
            <a:prstDash val="solid"/>
          </a:ln>
        </p:spPr>
        <p:txBody>
          <a:bodyPr anchor="ctr" anchorCtr="0"/>
          <a:lstStyle/>
          <a:p>
            <a:pPr algn="ctr"/>
            <a:r>
              <a:rPr lang="ko-KR" altLang="en-US" sz="1400" b="1"/>
              <a:t>            업무 입력</a:t>
            </a: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43B59CCF-E875-4AEA-AAD6-272EB49A1CBF}"/>
              </a:ext>
            </a:extLst>
          </p:cNvPr>
          <p:cNvSpPr/>
          <p:nvPr/>
        </p:nvSpPr>
        <p:spPr>
          <a:xfrm>
            <a:off x="438419" y="4971163"/>
            <a:ext cx="647700" cy="228600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ko-KR" altLang="en-US" sz="1200" b="1">
                <a:solidFill>
                  <a:schemeClr val="tx1"/>
                </a:solidFill>
              </a:rPr>
              <a:t>사용자</a:t>
            </a: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4BBD58B2-2387-4964-99E8-F34766B9469C}"/>
              </a:ext>
            </a:extLst>
          </p:cNvPr>
          <p:cNvSpPr>
            <a:spLocks noGrp="1"/>
          </p:cNvSpPr>
          <p:nvPr/>
        </p:nvSpPr>
        <p:spPr>
          <a:xfrm>
            <a:off x="2862546" y="5147722"/>
            <a:ext cx="4192537" cy="478467"/>
          </a:xfrm>
          <a:prstGeom prst="roundRect">
            <a:avLst>
              <a:gd name="adj" fmla="val 15236"/>
            </a:avLst>
          </a:prstGeom>
          <a:solidFill>
            <a:srgbClr val="F1ECF8"/>
          </a:solidFill>
          <a:ln w="9525">
            <a:solidFill>
              <a:srgbClr val="E4DAF0"/>
            </a:solidFill>
            <a:prstDash val="solid"/>
          </a:ln>
        </p:spPr>
        <p:txBody>
          <a:bodyPr anchor="ctr" anchorCtr="0"/>
          <a:lstStyle/>
          <a:p>
            <a:endParaRPr lang="ko-KR" altLang="en-US" sz="1400" b="1"/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EC5240A7-1ADF-4299-96E9-D69490812910}"/>
              </a:ext>
            </a:extLst>
          </p:cNvPr>
          <p:cNvSpPr/>
          <p:nvPr/>
        </p:nvSpPr>
        <p:spPr>
          <a:xfrm>
            <a:off x="2862546" y="4971163"/>
            <a:ext cx="647700" cy="228600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ko-KR" altLang="en-US" sz="1200" b="1"/>
              <a:t>서비스</a:t>
            </a:r>
          </a:p>
        </p:txBody>
      </p:sp>
      <p:pic>
        <p:nvPicPr>
          <p:cNvPr id="5" name="그래픽 4" descr="아이디어를 가진 사람 단색으로 채워진">
            <a:extLst>
              <a:ext uri="{FF2B5EF4-FFF2-40B4-BE49-F238E27FC236}">
                <a16:creationId xmlns:a16="http://schemas.microsoft.com/office/drawing/2014/main" id="{603765C0-89CB-44A9-A623-57C762AFB6A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301305" y="5175960"/>
            <a:ext cx="525332" cy="443544"/>
          </a:xfrm>
          <a:prstGeom prst="rect">
            <a:avLst/>
          </a:prstGeom>
        </p:spPr>
      </p:pic>
      <p:pic>
        <p:nvPicPr>
          <p:cNvPr id="24" name="그래픽 23" descr="사용자 단색으로 채워진">
            <a:extLst>
              <a:ext uri="{FF2B5EF4-FFF2-40B4-BE49-F238E27FC236}">
                <a16:creationId xmlns:a16="http://schemas.microsoft.com/office/drawing/2014/main" id="{7C222A63-90C8-4CC3-A48C-632244EF6FB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63491" y="5101671"/>
            <a:ext cx="597557" cy="597557"/>
          </a:xfrm>
          <a:prstGeom prst="rect">
            <a:avLst/>
          </a:prstGeom>
        </p:spPr>
      </p:pic>
      <p:pic>
        <p:nvPicPr>
          <p:cNvPr id="29" name="그래픽 28" descr="갈매기형 화살표 단색으로 채워진">
            <a:extLst>
              <a:ext uri="{FF2B5EF4-FFF2-40B4-BE49-F238E27FC236}">
                <a16:creationId xmlns:a16="http://schemas.microsoft.com/office/drawing/2014/main" id="{AB8D90E4-C1C8-41F3-BEBC-5093CF686F5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076431" y="5174180"/>
            <a:ext cx="425550" cy="425550"/>
          </a:xfrm>
          <a:prstGeom prst="rect">
            <a:avLst/>
          </a:prstGeom>
        </p:spPr>
      </p:pic>
      <p:pic>
        <p:nvPicPr>
          <p:cNvPr id="31" name="그래픽 30" descr="클라우드 컴퓨팅 단색으로 채워진">
            <a:extLst>
              <a:ext uri="{FF2B5EF4-FFF2-40B4-BE49-F238E27FC236}">
                <a16:creationId xmlns:a16="http://schemas.microsoft.com/office/drawing/2014/main" id="{A9EBA402-CA77-49DE-9FC9-B6F93C20927C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2973622" y="5196056"/>
            <a:ext cx="425550" cy="425550"/>
          </a:xfrm>
          <a:prstGeom prst="rect">
            <a:avLst/>
          </a:prstGeom>
        </p:spPr>
      </p:pic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405EFF4C-9138-4C0F-8DE4-9B72063D888C}"/>
              </a:ext>
            </a:extLst>
          </p:cNvPr>
          <p:cNvSpPr/>
          <p:nvPr/>
        </p:nvSpPr>
        <p:spPr>
          <a:xfrm>
            <a:off x="7252560" y="4971163"/>
            <a:ext cx="647700" cy="228600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ko-KR" altLang="en-US" sz="1200" b="1">
                <a:solidFill>
                  <a:schemeClr val="tx1"/>
                </a:solidFill>
              </a:rPr>
              <a:t>사용자</a:t>
            </a: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A65F65E2-5821-4B06-A2A3-09E6B588F80E}"/>
              </a:ext>
            </a:extLst>
          </p:cNvPr>
          <p:cNvSpPr/>
          <p:nvPr/>
        </p:nvSpPr>
        <p:spPr>
          <a:xfrm>
            <a:off x="330495" y="6092035"/>
            <a:ext cx="9409457" cy="505290"/>
          </a:xfrm>
          <a:prstGeom prst="rect">
            <a:avLst/>
          </a:prstGeom>
          <a:pattFill prst="pct25">
            <a:fgClr>
              <a:schemeClr val="accent1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500" b="1">
                <a:solidFill>
                  <a:schemeClr val="tx1"/>
                </a:solidFill>
                <a:latin typeface="+mn-ea"/>
              </a:rPr>
              <a:t>        필요한 지침을 빠르게 찾아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,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시작부터 완료까지 정확하게 업무를 처리하도록 체계적으로 지원</a:t>
            </a:r>
          </a:p>
        </p:txBody>
      </p:sp>
      <p:sp>
        <p:nvSpPr>
          <p:cNvPr id="62" name="사각형: 둥근 모서리 61">
            <a:extLst>
              <a:ext uri="{FF2B5EF4-FFF2-40B4-BE49-F238E27FC236}">
                <a16:creationId xmlns:a16="http://schemas.microsoft.com/office/drawing/2014/main" id="{BFB32620-BF19-4B11-B076-46885445DCD3}"/>
              </a:ext>
            </a:extLst>
          </p:cNvPr>
          <p:cNvSpPr>
            <a:spLocks noGrp="1"/>
          </p:cNvSpPr>
          <p:nvPr/>
        </p:nvSpPr>
        <p:spPr>
          <a:xfrm>
            <a:off x="330495" y="4817740"/>
            <a:ext cx="9409457" cy="999163"/>
          </a:xfrm>
          <a:prstGeom prst="roundRect">
            <a:avLst>
              <a:gd name="adj" fmla="val 5139"/>
            </a:avLst>
          </a:prstGeom>
          <a:noFill/>
          <a:ln w="12700">
            <a:solidFill>
              <a:schemeClr val="bg1">
                <a:lumMod val="75000"/>
              </a:schemeClr>
            </a:solidFill>
            <a:prstDash val="solid"/>
          </a:ln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64" name="이등변 삼각형 63">
            <a:extLst>
              <a:ext uri="{FF2B5EF4-FFF2-40B4-BE49-F238E27FC236}">
                <a16:creationId xmlns:a16="http://schemas.microsoft.com/office/drawing/2014/main" id="{CBE0F7A1-7FBC-4044-82C1-997A319E3071}"/>
              </a:ext>
            </a:extLst>
          </p:cNvPr>
          <p:cNvSpPr/>
          <p:nvPr/>
        </p:nvSpPr>
        <p:spPr>
          <a:xfrm rot="5400000">
            <a:off x="2699726" y="5328339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5" name="이등변 삼각형 64">
            <a:extLst>
              <a:ext uri="{FF2B5EF4-FFF2-40B4-BE49-F238E27FC236}">
                <a16:creationId xmlns:a16="http://schemas.microsoft.com/office/drawing/2014/main" id="{2EDC7E73-7337-42B2-928F-D70EB47D31EC}"/>
              </a:ext>
            </a:extLst>
          </p:cNvPr>
          <p:cNvSpPr/>
          <p:nvPr/>
        </p:nvSpPr>
        <p:spPr>
          <a:xfrm rot="5400000">
            <a:off x="7072446" y="5330017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1D30FD96-B91F-4CF6-97C0-E4128ECEA73A}"/>
              </a:ext>
            </a:extLst>
          </p:cNvPr>
          <p:cNvSpPr/>
          <p:nvPr/>
        </p:nvSpPr>
        <p:spPr>
          <a:xfrm>
            <a:off x="330495" y="1217806"/>
            <a:ext cx="2985462" cy="2881439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사각형: 둥근 모서리 44">
            <a:extLst>
              <a:ext uri="{FF2B5EF4-FFF2-40B4-BE49-F238E27FC236}">
                <a16:creationId xmlns:a16="http://schemas.microsoft.com/office/drawing/2014/main" id="{D1C99C70-2C60-484C-89CD-FC823E3E9CFE}"/>
              </a:ext>
            </a:extLst>
          </p:cNvPr>
          <p:cNvSpPr/>
          <p:nvPr/>
        </p:nvSpPr>
        <p:spPr>
          <a:xfrm>
            <a:off x="3527540" y="1217806"/>
            <a:ext cx="2985462" cy="2881439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사각형: 둥근 모서리 45">
            <a:extLst>
              <a:ext uri="{FF2B5EF4-FFF2-40B4-BE49-F238E27FC236}">
                <a16:creationId xmlns:a16="http://schemas.microsoft.com/office/drawing/2014/main" id="{12465051-9ABA-4C7D-A1B9-A3D705ADEC72}"/>
              </a:ext>
            </a:extLst>
          </p:cNvPr>
          <p:cNvSpPr/>
          <p:nvPr/>
        </p:nvSpPr>
        <p:spPr>
          <a:xfrm>
            <a:off x="6713611" y="1217806"/>
            <a:ext cx="2985462" cy="2881439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FA75749-6157-40BB-A74E-394D6C347B77}"/>
              </a:ext>
            </a:extLst>
          </p:cNvPr>
          <p:cNvSpPr txBox="1"/>
          <p:nvPr/>
        </p:nvSpPr>
        <p:spPr>
          <a:xfrm>
            <a:off x="562773" y="1335924"/>
            <a:ext cx="2520908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b="1"/>
              <a:t>회사 업무</a:t>
            </a:r>
          </a:p>
        </p:txBody>
      </p: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3336D8E1-00F3-4635-8A14-6290ADD2EACF}"/>
              </a:ext>
            </a:extLst>
          </p:cNvPr>
          <p:cNvCxnSpPr>
            <a:cxnSpLocks/>
          </p:cNvCxnSpPr>
          <p:nvPr/>
        </p:nvCxnSpPr>
        <p:spPr>
          <a:xfrm>
            <a:off x="470559" y="1739203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6EBBEF99-4056-4026-9C0A-5F83DA10A174}"/>
              </a:ext>
            </a:extLst>
          </p:cNvPr>
          <p:cNvSpPr txBox="1"/>
          <p:nvPr/>
        </p:nvSpPr>
        <p:spPr>
          <a:xfrm>
            <a:off x="3779919" y="1335924"/>
            <a:ext cx="2520908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b="1"/>
              <a:t>문제점</a:t>
            </a:r>
          </a:p>
        </p:txBody>
      </p:sp>
      <p:cxnSp>
        <p:nvCxnSpPr>
          <p:cNvPr id="52" name="직선 연결선 51">
            <a:extLst>
              <a:ext uri="{FF2B5EF4-FFF2-40B4-BE49-F238E27FC236}">
                <a16:creationId xmlns:a16="http://schemas.microsoft.com/office/drawing/2014/main" id="{6F79F0D2-2158-4094-8A1A-0BCE7B519E87}"/>
              </a:ext>
            </a:extLst>
          </p:cNvPr>
          <p:cNvCxnSpPr>
            <a:cxnSpLocks/>
          </p:cNvCxnSpPr>
          <p:nvPr/>
        </p:nvCxnSpPr>
        <p:spPr>
          <a:xfrm>
            <a:off x="3687705" y="1739203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C584307B-0BB5-4521-B4EE-F153D3B5F5AE}"/>
              </a:ext>
            </a:extLst>
          </p:cNvPr>
          <p:cNvSpPr txBox="1"/>
          <p:nvPr/>
        </p:nvSpPr>
        <p:spPr>
          <a:xfrm>
            <a:off x="6945888" y="1335924"/>
            <a:ext cx="2520908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b="1"/>
              <a:t>개선 방안</a:t>
            </a:r>
          </a:p>
        </p:txBody>
      </p:sp>
      <p:cxnSp>
        <p:nvCxnSpPr>
          <p:cNvPr id="60" name="직선 연결선 59">
            <a:extLst>
              <a:ext uri="{FF2B5EF4-FFF2-40B4-BE49-F238E27FC236}">
                <a16:creationId xmlns:a16="http://schemas.microsoft.com/office/drawing/2014/main" id="{D9796B37-8472-4D2F-A913-646D47B51A80}"/>
              </a:ext>
            </a:extLst>
          </p:cNvPr>
          <p:cNvCxnSpPr>
            <a:cxnSpLocks/>
          </p:cNvCxnSpPr>
          <p:nvPr/>
        </p:nvCxnSpPr>
        <p:spPr>
          <a:xfrm>
            <a:off x="6853674" y="1739203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DFE79726-461E-4F9B-A835-7A3125F4632A}"/>
              </a:ext>
            </a:extLst>
          </p:cNvPr>
          <p:cNvSpPr txBox="1"/>
          <p:nvPr/>
        </p:nvSpPr>
        <p:spPr>
          <a:xfrm>
            <a:off x="349148" y="2995774"/>
            <a:ext cx="2985461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정해진 프로세스와 절차에 따라 처리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ko-KR" altLang="en-US" sz="1300"/>
              <a:t>담당자가 바뀌어도 필수 절차 준수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일관된 결과물 확보 필요</a:t>
            </a:r>
          </a:p>
        </p:txBody>
      </p:sp>
      <p:pic>
        <p:nvPicPr>
          <p:cNvPr id="13" name="그래픽 12" descr="체크리스트 단색으로 채워진">
            <a:extLst>
              <a:ext uri="{FF2B5EF4-FFF2-40B4-BE49-F238E27FC236}">
                <a16:creationId xmlns:a16="http://schemas.microsoft.com/office/drawing/2014/main" id="{0135F75B-0F42-4B60-AC08-FD2CF59A281B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75519" y="1959127"/>
            <a:ext cx="755703" cy="755703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80CE7C00-4BD4-4C02-BA3C-66110498AE87}"/>
              </a:ext>
            </a:extLst>
          </p:cNvPr>
          <p:cNvSpPr txBox="1"/>
          <p:nvPr/>
        </p:nvSpPr>
        <p:spPr>
          <a:xfrm>
            <a:off x="3527541" y="2995774"/>
            <a:ext cx="3114419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</a:t>
            </a:r>
            <a:r>
              <a:rPr lang="ko-KR" altLang="en-US" sz="1300" spc="-40"/>
              <a:t>필요한 절차와 지침을 찾는데 시간 소요</a:t>
            </a:r>
            <a:endParaRPr lang="en-US" altLang="ko-KR" sz="1300" spc="-4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 spc="-40"/>
              <a:t> </a:t>
            </a:r>
            <a:r>
              <a:rPr lang="ko-KR" altLang="en-US" sz="1300"/>
              <a:t>담당자마다 처리 방식이 다름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업무 누락과 편차 발생</a:t>
            </a:r>
          </a:p>
        </p:txBody>
      </p:sp>
      <p:pic>
        <p:nvPicPr>
          <p:cNvPr id="16" name="그래픽 15" descr="물음표 단색으로 채워진">
            <a:extLst>
              <a:ext uri="{FF2B5EF4-FFF2-40B4-BE49-F238E27FC236}">
                <a16:creationId xmlns:a16="http://schemas.microsoft.com/office/drawing/2014/main" id="{37F2DC6D-0D3D-47E1-B656-D277CD737936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97946" y="1959127"/>
            <a:ext cx="755703" cy="755703"/>
          </a:xfrm>
          <a:prstGeom prst="rect">
            <a:avLst/>
          </a:prstGeom>
        </p:spPr>
      </p:pic>
      <p:sp>
        <p:nvSpPr>
          <p:cNvPr id="51" name="TextBox 50">
            <a:extLst>
              <a:ext uri="{FF2B5EF4-FFF2-40B4-BE49-F238E27FC236}">
                <a16:creationId xmlns:a16="http://schemas.microsoft.com/office/drawing/2014/main" id="{BFA5A8A9-28C1-465A-8FA8-791A2996B35D}"/>
              </a:ext>
            </a:extLst>
          </p:cNvPr>
          <p:cNvSpPr txBox="1"/>
          <p:nvPr/>
        </p:nvSpPr>
        <p:spPr>
          <a:xfrm>
            <a:off x="6713612" y="2995774"/>
            <a:ext cx="2985461" cy="8207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</a:t>
            </a:r>
            <a:r>
              <a:rPr lang="ko-KR" altLang="en-US" sz="1300" spc="-4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수행하려는 업무를 </a:t>
            </a:r>
            <a:r>
              <a:rPr lang="ko-KR" altLang="en-US" sz="1300"/>
              <a:t>입력하면 </a:t>
            </a:r>
            <a:endParaRPr lang="en-US" altLang="ko-KR" sz="1300"/>
          </a:p>
          <a:p>
            <a:pPr>
              <a:spcBef>
                <a:spcPts val="500"/>
              </a:spcBef>
              <a:buClr>
                <a:schemeClr val="accent1">
                  <a:lumMod val="60000"/>
                  <a:lumOff val="40000"/>
                </a:schemeClr>
              </a:buClr>
            </a:pPr>
            <a:r>
              <a:rPr lang="en-US" altLang="ko-KR" sz="1300"/>
              <a:t>   </a:t>
            </a:r>
            <a:r>
              <a:rPr lang="ko-KR" altLang="en-US" sz="1300" b="1"/>
              <a:t>처리 절차와 지침을 쉽게 안내하는</a:t>
            </a:r>
            <a:endParaRPr lang="en-US" altLang="ko-KR" sz="1300" b="1"/>
          </a:p>
          <a:p>
            <a:pPr>
              <a:spcBef>
                <a:spcPts val="500"/>
              </a:spcBef>
              <a:buClr>
                <a:schemeClr val="accent1">
                  <a:lumMod val="60000"/>
                  <a:lumOff val="40000"/>
                </a:schemeClr>
              </a:buClr>
            </a:pPr>
            <a:r>
              <a:rPr lang="en-US" altLang="ko-KR" sz="1300" b="1"/>
              <a:t>  </a:t>
            </a:r>
            <a:r>
              <a:rPr lang="ko-KR" altLang="en-US" sz="1300" b="1"/>
              <a:t> </a:t>
            </a:r>
            <a:r>
              <a:rPr lang="en-US" altLang="ko-KR" sz="1300" b="1"/>
              <a:t>『</a:t>
            </a:r>
            <a:r>
              <a:rPr lang="ko-KR" altLang="en-US" sz="1300" b="1"/>
              <a:t>업무 지침 네비게이터</a:t>
            </a:r>
            <a:r>
              <a:rPr lang="en-US" altLang="ko-KR" sz="1300" b="1"/>
              <a:t>』 </a:t>
            </a:r>
            <a:r>
              <a:rPr lang="ko-KR" altLang="en-US" sz="1300" b="1"/>
              <a:t>구축</a:t>
            </a:r>
            <a:endParaRPr lang="ko-KR" altLang="en-US" sz="1300"/>
          </a:p>
        </p:txBody>
      </p:sp>
      <p:pic>
        <p:nvPicPr>
          <p:cNvPr id="34" name="그림 33">
            <a:extLst>
              <a:ext uri="{FF2B5EF4-FFF2-40B4-BE49-F238E27FC236}">
                <a16:creationId xmlns:a16="http://schemas.microsoft.com/office/drawing/2014/main" id="{9D207778-395A-407B-BF36-D2E69C775692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56630" y="1814756"/>
            <a:ext cx="1899424" cy="1068994"/>
          </a:xfrm>
          <a:prstGeom prst="rect">
            <a:avLst/>
          </a:prstGeom>
        </p:spPr>
      </p:pic>
      <p:sp>
        <p:nvSpPr>
          <p:cNvPr id="56" name="TextBox 55">
            <a:extLst>
              <a:ext uri="{FF2B5EF4-FFF2-40B4-BE49-F238E27FC236}">
                <a16:creationId xmlns:a16="http://schemas.microsoft.com/office/drawing/2014/main" id="{84379734-9EBD-4B03-9465-8E1A8B1D887B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j-ea"/>
                <a:ea typeface="+mj-ea"/>
              </a:rPr>
              <a:t>(1/6)</a:t>
            </a:r>
            <a:endParaRPr lang="ko-KR" altLang="en-US" sz="14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grpSp>
        <p:nvGrpSpPr>
          <p:cNvPr id="49" name="그룹 48">
            <a:extLst>
              <a:ext uri="{FF2B5EF4-FFF2-40B4-BE49-F238E27FC236}">
                <a16:creationId xmlns:a16="http://schemas.microsoft.com/office/drawing/2014/main" id="{DB273691-F70E-4DA3-8FC4-27B912BBBBB3}"/>
              </a:ext>
            </a:extLst>
          </p:cNvPr>
          <p:cNvGrpSpPr/>
          <p:nvPr/>
        </p:nvGrpSpPr>
        <p:grpSpPr>
          <a:xfrm>
            <a:off x="325500" y="6138454"/>
            <a:ext cx="511817" cy="431452"/>
            <a:chOff x="-895525" y="3274733"/>
            <a:chExt cx="619300" cy="474597"/>
          </a:xfrm>
        </p:grpSpPr>
        <p:sp>
          <p:nvSpPr>
            <p:cNvPr id="53" name="타원 52">
              <a:extLst>
                <a:ext uri="{FF2B5EF4-FFF2-40B4-BE49-F238E27FC236}">
                  <a16:creationId xmlns:a16="http://schemas.microsoft.com/office/drawing/2014/main" id="{1FF74794-DBB2-42EC-9656-063B13795A7D}"/>
                </a:ext>
              </a:extLst>
            </p:cNvPr>
            <p:cNvSpPr/>
            <p:nvPr/>
          </p:nvSpPr>
          <p:spPr>
            <a:xfrm>
              <a:off x="-781050" y="3274733"/>
              <a:ext cx="504825" cy="47459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4" name="화살표: 오른쪽 53">
              <a:extLst>
                <a:ext uri="{FF2B5EF4-FFF2-40B4-BE49-F238E27FC236}">
                  <a16:creationId xmlns:a16="http://schemas.microsoft.com/office/drawing/2014/main" id="{8CA3DC86-BB4D-45F2-B178-FE7EBBAA57FA}"/>
                </a:ext>
              </a:extLst>
            </p:cNvPr>
            <p:cNvSpPr/>
            <p:nvPr/>
          </p:nvSpPr>
          <p:spPr>
            <a:xfrm>
              <a:off x="-895525" y="3297066"/>
              <a:ext cx="616600" cy="429929"/>
            </a:xfrm>
            <a:prstGeom prst="rightArrow">
              <a:avLst/>
            </a:prstGeom>
            <a:pattFill prst="pct25">
              <a:fgClr>
                <a:schemeClr val="accent1">
                  <a:lumMod val="40000"/>
                  <a:lumOff val="60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394B4FA3-299F-44A4-9814-DF7562FF7206}"/>
              </a:ext>
            </a:extLst>
          </p:cNvPr>
          <p:cNvSpPr txBox="1"/>
          <p:nvPr/>
        </p:nvSpPr>
        <p:spPr>
          <a:xfrm>
            <a:off x="3444544" y="5233067"/>
            <a:ext cx="17877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/>
              <a:t>키워드 </a:t>
            </a:r>
            <a:r>
              <a:rPr lang="en-US" altLang="ko-KR" sz="1400" b="1">
                <a:latin typeface="+mn-ea"/>
              </a:rPr>
              <a:t>·</a:t>
            </a:r>
            <a:r>
              <a:rPr lang="ko-KR" altLang="en-US" sz="1400" b="1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400" b="1"/>
              <a:t>유형 분석</a:t>
            </a:r>
            <a:endParaRPr lang="ko-KR" altLang="en-US" sz="1400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B7E26BA9-348C-4386-8306-840E1DB40BB1}"/>
              </a:ext>
            </a:extLst>
          </p:cNvPr>
          <p:cNvSpPr txBox="1"/>
          <p:nvPr/>
        </p:nvSpPr>
        <p:spPr>
          <a:xfrm>
            <a:off x="5489165" y="5233067"/>
            <a:ext cx="17877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/>
              <a:t>절차 </a:t>
            </a:r>
            <a:r>
              <a:rPr lang="en-US" altLang="ko-KR" sz="1400" b="1">
                <a:latin typeface="+mn-ea"/>
              </a:rPr>
              <a:t>·</a:t>
            </a:r>
            <a:r>
              <a:rPr lang="ko-KR" altLang="en-US" sz="1400" b="1">
                <a:latin typeface="맑은 고딕" panose="020B0503020000020004" pitchFamily="50" charset="-127"/>
                <a:ea typeface="맑은 고딕" panose="020B0503020000020004" pitchFamily="50" charset="-127"/>
              </a:rPr>
              <a:t> 지침 안내</a:t>
            </a:r>
            <a:endParaRPr lang="ko-KR" altLang="en-US" sz="1400"/>
          </a:p>
        </p:txBody>
      </p:sp>
    </p:spTree>
    <p:extLst>
      <p:ext uri="{BB962C8B-B14F-4D97-AF65-F5344CB8AC3E}">
        <p14:creationId xmlns:p14="http://schemas.microsoft.com/office/powerpoint/2010/main" val="35971740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직사각형 40">
            <a:extLst>
              <a:ext uri="{FF2B5EF4-FFF2-40B4-BE49-F238E27FC236}">
                <a16:creationId xmlns:a16="http://schemas.microsoft.com/office/drawing/2014/main" id="{5488D8FC-7792-4E02-9677-B9BDAB9C7ACB}"/>
              </a:ext>
            </a:extLst>
          </p:cNvPr>
          <p:cNvSpPr/>
          <p:nvPr/>
        </p:nvSpPr>
        <p:spPr>
          <a:xfrm>
            <a:off x="325500" y="6101535"/>
            <a:ext cx="9354428" cy="505290"/>
          </a:xfrm>
          <a:prstGeom prst="rect">
            <a:avLst/>
          </a:prstGeom>
          <a:pattFill prst="pct25">
            <a:fgClr>
              <a:schemeClr val="accent1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108000" rtlCol="0" anchor="ctr" anchorCtr="0"/>
          <a:lstStyle/>
          <a:p>
            <a:pPr algn="ctr"/>
            <a:r>
              <a:rPr lang="ko-KR" altLang="en-US" sz="1500" b="1" spc="-40">
                <a:solidFill>
                  <a:schemeClr val="tx1"/>
                </a:solidFill>
                <a:latin typeface="+mn-ea"/>
              </a:rPr>
              <a:t>       정성적 검증에서 정답 데이터</a:t>
            </a:r>
            <a:r>
              <a:rPr lang="en-US" altLang="ko-KR" sz="1500" b="1" spc="-40">
                <a:solidFill>
                  <a:schemeClr val="tx1"/>
                </a:solidFill>
                <a:latin typeface="+mn-ea"/>
              </a:rPr>
              <a:t>·RAGAS </a:t>
            </a:r>
            <a:r>
              <a:rPr lang="ko-KR" altLang="en-US" sz="1500" b="1" spc="-40">
                <a:solidFill>
                  <a:schemeClr val="tx1"/>
                </a:solidFill>
                <a:latin typeface="+mn-ea"/>
              </a:rPr>
              <a:t>기반 정량 평가로 발전 → 검색 품질 개선 및 반복 검증 체계 확보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2.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규칙 기반에서 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RAG</a:t>
            </a:r>
            <a:r>
              <a:rPr lang="ko-KR" altLang="en-US" sz="2000" b="1" spc="-10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검증 체계까지 </a:t>
            </a:r>
            <a:r>
              <a:rPr lang="en-US" altLang="ko-KR" sz="2000" b="1" spc="-10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3</a:t>
            </a:r>
            <a:r>
              <a:rPr lang="ko-KR" altLang="en-US" sz="2000" b="1" spc="-10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주간 개발 여정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AF15DD7A-DA56-4E27-B8B9-99D16B1EAAD7}"/>
              </a:ext>
            </a:extLst>
          </p:cNvPr>
          <p:cNvSpPr/>
          <p:nvPr/>
        </p:nvSpPr>
        <p:spPr>
          <a:xfrm>
            <a:off x="556287" y="702152"/>
            <a:ext cx="5271758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개발 과정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29476FCD-9DE7-46DD-B543-6C57D2954689}"/>
              </a:ext>
            </a:extLst>
          </p:cNvPr>
          <p:cNvGrpSpPr/>
          <p:nvPr/>
        </p:nvGrpSpPr>
        <p:grpSpPr>
          <a:xfrm>
            <a:off x="310399" y="812141"/>
            <a:ext cx="194324" cy="180020"/>
            <a:chOff x="416496" y="3577457"/>
            <a:chExt cx="194324" cy="180020"/>
          </a:xfrm>
        </p:grpSpPr>
        <p:sp>
          <p:nvSpPr>
            <p:cNvPr id="49" name="모서리가 둥근 직사각형 320">
              <a:extLst>
                <a:ext uri="{FF2B5EF4-FFF2-40B4-BE49-F238E27FC236}">
                  <a16:creationId xmlns:a16="http://schemas.microsoft.com/office/drawing/2014/main" id="{E9BE25AB-1104-4DD5-AC3E-6DDBF8D648F9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51" name="그림 50" descr="7.png">
              <a:extLst>
                <a:ext uri="{FF2B5EF4-FFF2-40B4-BE49-F238E27FC236}">
                  <a16:creationId xmlns:a16="http://schemas.microsoft.com/office/drawing/2014/main" id="{555C5E72-6381-4E1B-BA5E-ACD3D13B771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60" name="TextBox 59">
            <a:extLst>
              <a:ext uri="{FF2B5EF4-FFF2-40B4-BE49-F238E27FC236}">
                <a16:creationId xmlns:a16="http://schemas.microsoft.com/office/drawing/2014/main" id="{B8A0DD6D-FD42-4F2D-8B5C-7E3028B3CFB6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j-ea"/>
                <a:ea typeface="+mj-ea"/>
              </a:rPr>
              <a:t>(2/6)</a:t>
            </a:r>
            <a:endParaRPr lang="ko-KR" altLang="en-US" sz="14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1F7BC28A-8B0A-4781-A61B-331967B0BBBD}"/>
              </a:ext>
            </a:extLst>
          </p:cNvPr>
          <p:cNvSpPr/>
          <p:nvPr/>
        </p:nvSpPr>
        <p:spPr>
          <a:xfrm>
            <a:off x="279093" y="1848909"/>
            <a:ext cx="2237155" cy="1567394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839871CD-9C0F-406B-AADC-C37FA842222B}"/>
              </a:ext>
            </a:extLst>
          </p:cNvPr>
          <p:cNvSpPr/>
          <p:nvPr/>
        </p:nvSpPr>
        <p:spPr>
          <a:xfrm>
            <a:off x="279093" y="1848907"/>
            <a:ext cx="2237155" cy="532286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 spc="-100">
                <a:solidFill>
                  <a:schemeClr val="tx1"/>
                </a:solidFill>
                <a:latin typeface="+mn-ea"/>
              </a:rPr>
              <a:t>① 범위 및 대표부서 선정</a:t>
            </a:r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AC69ECFE-782A-40A2-9BA9-888C46599EE9}"/>
              </a:ext>
            </a:extLst>
          </p:cNvPr>
          <p:cNvSpPr/>
          <p:nvPr/>
        </p:nvSpPr>
        <p:spPr>
          <a:xfrm>
            <a:off x="2642487" y="1846300"/>
            <a:ext cx="2237155" cy="1567394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FF910A5D-2A7F-45DA-9187-7C5766E52393}"/>
              </a:ext>
            </a:extLst>
          </p:cNvPr>
          <p:cNvSpPr/>
          <p:nvPr/>
        </p:nvSpPr>
        <p:spPr>
          <a:xfrm>
            <a:off x="2642487" y="1846298"/>
            <a:ext cx="2237155" cy="532286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>
                <a:solidFill>
                  <a:schemeClr val="tx1"/>
                </a:solidFill>
                <a:latin typeface="+mn-ea"/>
              </a:rPr>
              <a:t>② 검증 데이터 확보</a:t>
            </a: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F699BC76-A765-4B9A-89E0-AD0291BC01F0}"/>
              </a:ext>
            </a:extLst>
          </p:cNvPr>
          <p:cNvSpPr/>
          <p:nvPr/>
        </p:nvSpPr>
        <p:spPr>
          <a:xfrm>
            <a:off x="5005881" y="1846300"/>
            <a:ext cx="2237155" cy="1542655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8451CED7-4E43-48BE-9EDB-E3F402E72EE1}"/>
              </a:ext>
            </a:extLst>
          </p:cNvPr>
          <p:cNvSpPr/>
          <p:nvPr/>
        </p:nvSpPr>
        <p:spPr>
          <a:xfrm>
            <a:off x="5005881" y="1846298"/>
            <a:ext cx="2237155" cy="532286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>
                <a:solidFill>
                  <a:schemeClr val="tx1"/>
                </a:solidFill>
                <a:latin typeface="+mn-ea"/>
              </a:rPr>
              <a:t>③ 대표 질의 선정</a:t>
            </a:r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49DDBDF5-E08E-457F-A863-9A7872E1953C}"/>
              </a:ext>
            </a:extLst>
          </p:cNvPr>
          <p:cNvSpPr/>
          <p:nvPr/>
        </p:nvSpPr>
        <p:spPr>
          <a:xfrm>
            <a:off x="7369275" y="1846300"/>
            <a:ext cx="2237155" cy="1567394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AE45B53C-1156-4964-83BB-AB1AAC3ED977}"/>
              </a:ext>
            </a:extLst>
          </p:cNvPr>
          <p:cNvSpPr/>
          <p:nvPr/>
        </p:nvSpPr>
        <p:spPr>
          <a:xfrm>
            <a:off x="7369275" y="1846298"/>
            <a:ext cx="2237155" cy="532286"/>
          </a:xfrm>
          <a:prstGeom prst="roundRect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>
                <a:solidFill>
                  <a:schemeClr val="tx1"/>
                </a:solidFill>
                <a:latin typeface="+mn-ea"/>
              </a:rPr>
              <a:t>④ 정확성 검토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및 보완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CFEFB37-48A3-4DF0-9B20-FFA75F35D809}"/>
              </a:ext>
            </a:extLst>
          </p:cNvPr>
          <p:cNvSpPr txBox="1"/>
          <p:nvPr/>
        </p:nvSpPr>
        <p:spPr>
          <a:xfrm>
            <a:off x="280255" y="2439977"/>
            <a:ext cx="2351825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>
                <a:latin typeface="+mn-ea"/>
              </a:rPr>
              <a:t> 사규</a:t>
            </a:r>
            <a:r>
              <a:rPr lang="ko-KR" altLang="en-US" sz="1300" spc="-40">
                <a:latin typeface="+mn-ea"/>
              </a:rPr>
              <a:t> · </a:t>
            </a:r>
            <a:r>
              <a:rPr lang="ko-KR" altLang="en-US" sz="1300">
                <a:latin typeface="+mn-ea"/>
              </a:rPr>
              <a:t>정책</a:t>
            </a:r>
            <a:r>
              <a:rPr lang="en-US" altLang="ko-KR" sz="1300">
                <a:latin typeface="+mn-ea"/>
              </a:rPr>
              <a:t> </a:t>
            </a:r>
            <a:r>
              <a:rPr lang="ko-KR" altLang="en-US" sz="1300">
                <a:latin typeface="+mn-ea"/>
              </a:rPr>
              <a:t>문서 </a:t>
            </a:r>
            <a:r>
              <a:rPr lang="en-US" altLang="ko-KR" sz="1300">
                <a:latin typeface="+mn-ea"/>
              </a:rPr>
              <a:t>3,450</a:t>
            </a:r>
            <a:r>
              <a:rPr lang="ko-KR" altLang="en-US" sz="1300">
                <a:latin typeface="+mn-ea"/>
              </a:rPr>
              <a:t>여개 </a:t>
            </a:r>
            <a:endParaRPr lang="en-US" altLang="ko-KR" sz="130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>
                <a:latin typeface="+mn-ea"/>
              </a:rPr>
              <a:t> </a:t>
            </a:r>
            <a:r>
              <a:rPr lang="ko-KR" altLang="en-US" sz="1300">
                <a:latin typeface="+mn-ea"/>
              </a:rPr>
              <a:t>조직 </a:t>
            </a:r>
            <a:r>
              <a:rPr lang="en-US" altLang="ko-KR" sz="1300">
                <a:latin typeface="+mn-ea"/>
              </a:rPr>
              <a:t>126</a:t>
            </a:r>
            <a:r>
              <a:rPr lang="ko-KR" altLang="en-US" sz="1300">
                <a:latin typeface="+mn-ea"/>
              </a:rPr>
              <a:t>개 </a:t>
            </a:r>
            <a:endParaRPr lang="en-US" altLang="ko-KR" sz="130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>
                <a:latin typeface="+mn-ea"/>
              </a:rPr>
              <a:t> 대표부서 선정</a:t>
            </a:r>
            <a:r>
              <a:rPr lang="en-US" altLang="ko-KR" sz="1300">
                <a:latin typeface="+mn-ea"/>
              </a:rPr>
              <a:t>(10 </a:t>
            </a:r>
            <a:r>
              <a:rPr lang="ko-KR" altLang="en-US" sz="1300" spc="-40">
                <a:latin typeface="+mn-ea"/>
              </a:rPr>
              <a:t>→</a:t>
            </a:r>
            <a:r>
              <a:rPr lang="ko-KR" altLang="en-US" sz="1300">
                <a:latin typeface="+mn-ea"/>
              </a:rPr>
              <a:t> </a:t>
            </a:r>
            <a:r>
              <a:rPr lang="en-US" altLang="ko-KR" sz="1300">
                <a:latin typeface="+mn-ea"/>
              </a:rPr>
              <a:t>35</a:t>
            </a:r>
            <a:r>
              <a:rPr lang="ko-KR" altLang="en-US" sz="1300">
                <a:latin typeface="+mn-ea"/>
              </a:rPr>
              <a:t>개</a:t>
            </a:r>
            <a:r>
              <a:rPr lang="en-US" altLang="ko-KR" sz="1300">
                <a:latin typeface="+mn-ea"/>
              </a:rPr>
              <a:t>)</a:t>
            </a:r>
            <a:endParaRPr lang="ko-KR" altLang="en-US" sz="1300">
              <a:latin typeface="+mn-ea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98615CA-2557-4029-87F2-2D6D0650B6EE}"/>
              </a:ext>
            </a:extLst>
          </p:cNvPr>
          <p:cNvSpPr txBox="1"/>
          <p:nvPr/>
        </p:nvSpPr>
        <p:spPr>
          <a:xfrm>
            <a:off x="2642487" y="2439977"/>
            <a:ext cx="2416771" cy="6206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업무</a:t>
            </a:r>
            <a:r>
              <a:rPr lang="en-US" altLang="ko-KR" sz="1300"/>
              <a:t> </a:t>
            </a:r>
            <a:r>
              <a:rPr lang="ko-KR" altLang="en-US" sz="1300"/>
              <a:t>절차</a:t>
            </a:r>
            <a:r>
              <a:rPr lang="en-US" altLang="ko-KR" sz="1300"/>
              <a:t>, </a:t>
            </a:r>
            <a:r>
              <a:rPr lang="ko-KR" altLang="en-US" sz="1300"/>
              <a:t>지침</a:t>
            </a:r>
            <a:r>
              <a:rPr lang="en-US" altLang="ko-KR" sz="1300"/>
              <a:t>, </a:t>
            </a:r>
            <a:r>
              <a:rPr lang="ko-KR" altLang="en-US" sz="1300"/>
              <a:t>조직 정보 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en-US" altLang="ko-KR" sz="1300" spc="-100">
                <a:latin typeface="+mn-ea"/>
              </a:rPr>
              <a:t>P-GPT</a:t>
            </a:r>
            <a:r>
              <a:rPr lang="ko-KR" altLang="en-US" sz="1300" spc="-100">
                <a:latin typeface="+mn-ea"/>
              </a:rPr>
              <a:t> 활용 더미 데이터 생성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9FDEEDF-9C10-4DE3-B44E-5E0063B4B8E2}"/>
              </a:ext>
            </a:extLst>
          </p:cNvPr>
          <p:cNvSpPr txBox="1"/>
          <p:nvPr/>
        </p:nvSpPr>
        <p:spPr>
          <a:xfrm>
            <a:off x="5005526" y="2439977"/>
            <a:ext cx="2363750" cy="6206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사용자 중심 대표 질의 검토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ko-KR" altLang="en-US" sz="1300" spc="-100">
                <a:latin typeface="+mn-ea"/>
              </a:rPr>
              <a:t>웹서비스 검색 결과 확인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9479621-151D-4A7F-938E-CF58FEE31A01}"/>
              </a:ext>
            </a:extLst>
          </p:cNvPr>
          <p:cNvSpPr txBox="1"/>
          <p:nvPr/>
        </p:nvSpPr>
        <p:spPr>
          <a:xfrm>
            <a:off x="7358884" y="2439977"/>
            <a:ext cx="2363750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질의와 결과 반복 검증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ko-KR" altLang="en-US" sz="1300"/>
              <a:t>검색 편중 확인 </a:t>
            </a:r>
            <a:endParaRPr lang="en-US" altLang="ko-KR" sz="1300"/>
          </a:p>
          <a:p>
            <a:pPr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</a:pPr>
            <a:r>
              <a:rPr lang="en-US" altLang="ko-KR" sz="1300"/>
              <a:t> </a:t>
            </a:r>
            <a:r>
              <a:rPr lang="ko-KR" altLang="en-US" sz="1300" spc="-40">
                <a:latin typeface="+mn-ea"/>
              </a:rPr>
              <a:t>→ </a:t>
            </a:r>
            <a:r>
              <a:rPr lang="ko-KR" altLang="en-US" sz="1300" spc="-40">
                <a:solidFill>
                  <a:srgbClr val="0000FF"/>
                </a:solidFill>
                <a:latin typeface="+mn-ea"/>
              </a:rPr>
              <a:t>투자</a:t>
            </a:r>
            <a:r>
              <a:rPr lang="en-US" altLang="ko-KR" sz="1200" b="1">
                <a:solidFill>
                  <a:srgbClr val="0000FF"/>
                </a:solidFill>
                <a:latin typeface="+mn-ea"/>
              </a:rPr>
              <a:t>·</a:t>
            </a:r>
            <a:r>
              <a:rPr lang="ko-KR" altLang="en-US" sz="1300" spc="-40">
                <a:solidFill>
                  <a:srgbClr val="0000FF"/>
                </a:solidFill>
                <a:latin typeface="+mn-ea"/>
              </a:rPr>
              <a:t>회계</a:t>
            </a:r>
            <a:r>
              <a:rPr lang="en-US" altLang="ko-KR" sz="1300" spc="-40">
                <a:solidFill>
                  <a:srgbClr val="0000FF"/>
                </a:solidFill>
                <a:latin typeface="+mn-ea"/>
              </a:rPr>
              <a:t> 9</a:t>
            </a:r>
            <a:r>
              <a:rPr lang="ko-KR" altLang="en-US" sz="1300" spc="-40">
                <a:solidFill>
                  <a:srgbClr val="0000FF"/>
                </a:solidFill>
                <a:latin typeface="+mn-ea"/>
              </a:rPr>
              <a:t>개부서로 조정</a:t>
            </a:r>
          </a:p>
        </p:txBody>
      </p:sp>
      <p:cxnSp>
        <p:nvCxnSpPr>
          <p:cNvPr id="11" name="연결선: 꺾임 10">
            <a:extLst>
              <a:ext uri="{FF2B5EF4-FFF2-40B4-BE49-F238E27FC236}">
                <a16:creationId xmlns:a16="http://schemas.microsoft.com/office/drawing/2014/main" id="{3A9AF10E-363D-4C5C-8D6C-FC84F0123DD6}"/>
              </a:ext>
            </a:extLst>
          </p:cNvPr>
          <p:cNvCxnSpPr>
            <a:cxnSpLocks/>
          </p:cNvCxnSpPr>
          <p:nvPr/>
        </p:nvCxnSpPr>
        <p:spPr>
          <a:xfrm rot="5400000" flipH="1">
            <a:off x="7296862" y="2219628"/>
            <a:ext cx="18586" cy="2363394"/>
          </a:xfrm>
          <a:prstGeom prst="bentConnector3">
            <a:avLst>
              <a:gd name="adj1" fmla="val -924047"/>
            </a:avLst>
          </a:prstGeom>
          <a:ln w="12700"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2E50DD97-7199-4C37-928C-3DB44A0EE9EF}"/>
              </a:ext>
            </a:extLst>
          </p:cNvPr>
          <p:cNvGrpSpPr/>
          <p:nvPr/>
        </p:nvGrpSpPr>
        <p:grpSpPr>
          <a:xfrm>
            <a:off x="269337" y="1185161"/>
            <a:ext cx="9337093" cy="532286"/>
            <a:chOff x="269337" y="1185161"/>
            <a:chExt cx="9337093" cy="532286"/>
          </a:xfrm>
        </p:grpSpPr>
        <p:sp>
          <p:nvSpPr>
            <p:cNvPr id="66" name="화살표: 오각형 65">
              <a:extLst>
                <a:ext uri="{FF2B5EF4-FFF2-40B4-BE49-F238E27FC236}">
                  <a16:creationId xmlns:a16="http://schemas.microsoft.com/office/drawing/2014/main" id="{795D8661-7EF7-466E-8604-8999B7F5D1D9}"/>
                </a:ext>
              </a:extLst>
            </p:cNvPr>
            <p:cNvSpPr/>
            <p:nvPr/>
          </p:nvSpPr>
          <p:spPr>
            <a:xfrm>
              <a:off x="6868208" y="1185161"/>
              <a:ext cx="2738222" cy="532286"/>
            </a:xfrm>
            <a:prstGeom prst="homePlat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3" name="화살표: 오각형 62">
              <a:extLst>
                <a:ext uri="{FF2B5EF4-FFF2-40B4-BE49-F238E27FC236}">
                  <a16:creationId xmlns:a16="http://schemas.microsoft.com/office/drawing/2014/main" id="{D95BD950-2E54-4BA9-84B1-6EDD02F58D33}"/>
                </a:ext>
              </a:extLst>
            </p:cNvPr>
            <p:cNvSpPr/>
            <p:nvPr/>
          </p:nvSpPr>
          <p:spPr>
            <a:xfrm>
              <a:off x="4743912" y="1185161"/>
              <a:ext cx="2402470" cy="532286"/>
            </a:xfrm>
            <a:prstGeom prst="homePlat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1" name="화살표: 오각형 60">
              <a:extLst>
                <a:ext uri="{FF2B5EF4-FFF2-40B4-BE49-F238E27FC236}">
                  <a16:creationId xmlns:a16="http://schemas.microsoft.com/office/drawing/2014/main" id="{6A3F156D-487C-447A-9CFB-F967BDF25AD0}"/>
                </a:ext>
              </a:extLst>
            </p:cNvPr>
            <p:cNvSpPr/>
            <p:nvPr/>
          </p:nvSpPr>
          <p:spPr>
            <a:xfrm>
              <a:off x="2632081" y="1185161"/>
              <a:ext cx="2402470" cy="532286"/>
            </a:xfrm>
            <a:prstGeom prst="homePlat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" name="화살표: 오각형 13">
              <a:extLst>
                <a:ext uri="{FF2B5EF4-FFF2-40B4-BE49-F238E27FC236}">
                  <a16:creationId xmlns:a16="http://schemas.microsoft.com/office/drawing/2014/main" id="{7878CD41-4983-42B3-B5AB-6773A45A2E6E}"/>
                </a:ext>
              </a:extLst>
            </p:cNvPr>
            <p:cNvSpPr/>
            <p:nvPr/>
          </p:nvSpPr>
          <p:spPr>
            <a:xfrm>
              <a:off x="269337" y="1185161"/>
              <a:ext cx="2663431" cy="532286"/>
            </a:xfrm>
            <a:prstGeom prst="homePlate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0296E0DF-4368-4548-8623-418ABF175C24}"/>
                </a:ext>
              </a:extLst>
            </p:cNvPr>
            <p:cNvSpPr txBox="1"/>
            <p:nvPr/>
          </p:nvSpPr>
          <p:spPr>
            <a:xfrm>
              <a:off x="1125516" y="1289722"/>
              <a:ext cx="1366576" cy="3231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500" b="1"/>
                <a:t>문제 정의</a:t>
              </a:r>
            </a:p>
          </p:txBody>
        </p:sp>
        <p:pic>
          <p:nvPicPr>
            <p:cNvPr id="17" name="그래픽 16" descr="돋보기 단색으로 채워진">
              <a:extLst>
                <a:ext uri="{FF2B5EF4-FFF2-40B4-BE49-F238E27FC236}">
                  <a16:creationId xmlns:a16="http://schemas.microsoft.com/office/drawing/2014/main" id="{4F214718-0AD9-4F4F-85CD-A4D47913A25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567315" y="1222704"/>
              <a:ext cx="457200" cy="457200"/>
            </a:xfrm>
            <a:prstGeom prst="rect">
              <a:avLst/>
            </a:prstGeom>
          </p:spPr>
        </p:pic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BDA78A4A-243C-4F1A-B041-F48CE4990FC8}"/>
                </a:ext>
              </a:extLst>
            </p:cNvPr>
            <p:cNvSpPr txBox="1"/>
            <p:nvPr/>
          </p:nvSpPr>
          <p:spPr>
            <a:xfrm>
              <a:off x="3467765" y="1289722"/>
              <a:ext cx="1366576" cy="3231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500" b="1">
                  <a:solidFill>
                    <a:schemeClr val="bg1"/>
                  </a:solidFill>
                </a:rPr>
                <a:t>시스템 구현</a:t>
              </a:r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6D53ADC6-6851-42E1-9D2F-5BA596FC4CFF}"/>
                </a:ext>
              </a:extLst>
            </p:cNvPr>
            <p:cNvSpPr txBox="1"/>
            <p:nvPr/>
          </p:nvSpPr>
          <p:spPr>
            <a:xfrm>
              <a:off x="5506663" y="1289722"/>
              <a:ext cx="1531603" cy="3231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500" b="1">
                  <a:solidFill>
                    <a:schemeClr val="bg1"/>
                  </a:solidFill>
                </a:rPr>
                <a:t>샘플링 테스트</a:t>
              </a:r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C85FF9FE-D0AC-430C-BD6D-6040A296D765}"/>
                </a:ext>
              </a:extLst>
            </p:cNvPr>
            <p:cNvSpPr txBox="1"/>
            <p:nvPr/>
          </p:nvSpPr>
          <p:spPr>
            <a:xfrm>
              <a:off x="7824759" y="1289722"/>
              <a:ext cx="1531603" cy="3231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500" b="1">
                  <a:solidFill>
                    <a:schemeClr val="bg1"/>
                  </a:solidFill>
                </a:rPr>
                <a:t>시스템 검증</a:t>
              </a:r>
            </a:p>
          </p:txBody>
        </p:sp>
        <p:pic>
          <p:nvPicPr>
            <p:cNvPr id="46" name="Image 1" descr="/tmp/claude-0/-home-claude/946d89a8-cd71-5282-af60-49c1ab8579af/scratchpad/work/assets/settings_white.png">
              <a:extLst>
                <a:ext uri="{FF2B5EF4-FFF2-40B4-BE49-F238E27FC236}">
                  <a16:creationId xmlns:a16="http://schemas.microsoft.com/office/drawing/2014/main" id="{F50BF36A-E2E7-4B22-9BAC-D166DEAA960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3067747" y="1285341"/>
              <a:ext cx="331927" cy="331927"/>
            </a:xfrm>
            <a:prstGeom prst="rect">
              <a:avLst/>
            </a:prstGeom>
          </p:spPr>
        </p:pic>
        <p:pic>
          <p:nvPicPr>
            <p:cNvPr id="50" name="Image 2" descr="/tmp/claude-0/-home-claude/946d89a8-cd71-5282-af60-49c1ab8579af/scratchpad/work/assets/activity_white.png">
              <a:extLst>
                <a:ext uri="{FF2B5EF4-FFF2-40B4-BE49-F238E27FC236}">
                  <a16:creationId xmlns:a16="http://schemas.microsoft.com/office/drawing/2014/main" id="{B340BAB1-EDB9-44F1-8C7E-EF1F75B3337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196412" y="1314144"/>
              <a:ext cx="274320" cy="274320"/>
            </a:xfrm>
            <a:prstGeom prst="rect">
              <a:avLst/>
            </a:prstGeom>
          </p:spPr>
        </p:pic>
        <p:pic>
          <p:nvPicPr>
            <p:cNvPr id="52" name="Image 3" descr="/tmp/claude-0/-home-claude/946d89a8-cd71-5282-af60-49c1ab8579af/scratchpad/work/assets/checkcircle_white.png">
              <a:extLst>
                <a:ext uri="{FF2B5EF4-FFF2-40B4-BE49-F238E27FC236}">
                  <a16:creationId xmlns:a16="http://schemas.microsoft.com/office/drawing/2014/main" id="{100100B4-CFBF-41D8-B7AF-FBFEB6C64059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7412932" y="1285341"/>
              <a:ext cx="331927" cy="331927"/>
            </a:xfrm>
            <a:prstGeom prst="rect">
              <a:avLst/>
            </a:prstGeom>
          </p:spPr>
        </p:pic>
      </p:grpSp>
      <p:grpSp>
        <p:nvGrpSpPr>
          <p:cNvPr id="9" name="그룹 8">
            <a:extLst>
              <a:ext uri="{FF2B5EF4-FFF2-40B4-BE49-F238E27FC236}">
                <a16:creationId xmlns:a16="http://schemas.microsoft.com/office/drawing/2014/main" id="{FC687BFB-2DC8-477E-B1A6-81A068793BE8}"/>
              </a:ext>
            </a:extLst>
          </p:cNvPr>
          <p:cNvGrpSpPr/>
          <p:nvPr/>
        </p:nvGrpSpPr>
        <p:grpSpPr>
          <a:xfrm>
            <a:off x="6736701" y="3436911"/>
            <a:ext cx="1138908" cy="307777"/>
            <a:chOff x="6729243" y="3790205"/>
            <a:chExt cx="1138908" cy="307777"/>
          </a:xfrm>
        </p:grpSpPr>
        <p:sp>
          <p:nvSpPr>
            <p:cNvPr id="2" name="순서도: 수행의 시작/종료 1">
              <a:extLst>
                <a:ext uri="{FF2B5EF4-FFF2-40B4-BE49-F238E27FC236}">
                  <a16:creationId xmlns:a16="http://schemas.microsoft.com/office/drawing/2014/main" id="{17091B63-E7E3-43D4-8802-AC987D370FEF}"/>
                </a:ext>
              </a:extLst>
            </p:cNvPr>
            <p:cNvSpPr/>
            <p:nvPr/>
          </p:nvSpPr>
          <p:spPr>
            <a:xfrm>
              <a:off x="6862188" y="3799131"/>
              <a:ext cx="873019" cy="265622"/>
            </a:xfrm>
            <a:prstGeom prst="flowChartTerminator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DA4C810-13B8-4A1C-9DA1-DD82DC11B8E9}"/>
                </a:ext>
              </a:extLst>
            </p:cNvPr>
            <p:cNvSpPr txBox="1"/>
            <p:nvPr/>
          </p:nvSpPr>
          <p:spPr>
            <a:xfrm>
              <a:off x="6729243" y="3790205"/>
              <a:ext cx="1138908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400" b="1">
                  <a:solidFill>
                    <a:schemeClr val="bg1"/>
                  </a:solidFill>
                </a:rPr>
                <a:t>반복 검증</a:t>
              </a:r>
            </a:p>
          </p:txBody>
        </p:sp>
      </p:grpSp>
      <p:sp>
        <p:nvSpPr>
          <p:cNvPr id="55" name="사각형: 둥근 모서리 54">
            <a:extLst>
              <a:ext uri="{FF2B5EF4-FFF2-40B4-BE49-F238E27FC236}">
                <a16:creationId xmlns:a16="http://schemas.microsoft.com/office/drawing/2014/main" id="{B7084B80-B74C-4C08-810A-65D48EE75768}"/>
              </a:ext>
            </a:extLst>
          </p:cNvPr>
          <p:cNvSpPr/>
          <p:nvPr/>
        </p:nvSpPr>
        <p:spPr>
          <a:xfrm>
            <a:off x="278540" y="4085703"/>
            <a:ext cx="2985462" cy="1722535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사각형: 둥근 모서리 55">
            <a:extLst>
              <a:ext uri="{FF2B5EF4-FFF2-40B4-BE49-F238E27FC236}">
                <a16:creationId xmlns:a16="http://schemas.microsoft.com/office/drawing/2014/main" id="{00E481D7-F35E-40BC-9D34-8C59C52A6368}"/>
              </a:ext>
            </a:extLst>
          </p:cNvPr>
          <p:cNvSpPr/>
          <p:nvPr/>
        </p:nvSpPr>
        <p:spPr>
          <a:xfrm>
            <a:off x="3465194" y="4085703"/>
            <a:ext cx="2985462" cy="1722535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사각형: 둥근 모서리 56">
            <a:extLst>
              <a:ext uri="{FF2B5EF4-FFF2-40B4-BE49-F238E27FC236}">
                <a16:creationId xmlns:a16="http://schemas.microsoft.com/office/drawing/2014/main" id="{02F8F77D-5F76-4CB9-A976-17C1B8431A31}"/>
              </a:ext>
            </a:extLst>
          </p:cNvPr>
          <p:cNvSpPr/>
          <p:nvPr/>
        </p:nvSpPr>
        <p:spPr>
          <a:xfrm>
            <a:off x="6640874" y="4085703"/>
            <a:ext cx="2985462" cy="1722535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62" name="직선 연결선 61">
            <a:extLst>
              <a:ext uri="{FF2B5EF4-FFF2-40B4-BE49-F238E27FC236}">
                <a16:creationId xmlns:a16="http://schemas.microsoft.com/office/drawing/2014/main" id="{C2AB7FE7-9857-4180-8A8D-F2593EB0252B}"/>
              </a:ext>
            </a:extLst>
          </p:cNvPr>
          <p:cNvCxnSpPr>
            <a:cxnSpLocks/>
          </p:cNvCxnSpPr>
          <p:nvPr/>
        </p:nvCxnSpPr>
        <p:spPr>
          <a:xfrm>
            <a:off x="418603" y="4617488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직선 연결선 63">
            <a:extLst>
              <a:ext uri="{FF2B5EF4-FFF2-40B4-BE49-F238E27FC236}">
                <a16:creationId xmlns:a16="http://schemas.microsoft.com/office/drawing/2014/main" id="{270489A1-A9CE-4284-A951-808A02CAF920}"/>
              </a:ext>
            </a:extLst>
          </p:cNvPr>
          <p:cNvCxnSpPr>
            <a:cxnSpLocks/>
          </p:cNvCxnSpPr>
          <p:nvPr/>
        </p:nvCxnSpPr>
        <p:spPr>
          <a:xfrm>
            <a:off x="3605257" y="4617488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직선 연결선 64">
            <a:extLst>
              <a:ext uri="{FF2B5EF4-FFF2-40B4-BE49-F238E27FC236}">
                <a16:creationId xmlns:a16="http://schemas.microsoft.com/office/drawing/2014/main" id="{D3AD09C5-3FF6-40FB-992F-5FF47231E8E6}"/>
              </a:ext>
            </a:extLst>
          </p:cNvPr>
          <p:cNvCxnSpPr>
            <a:cxnSpLocks/>
          </p:cNvCxnSpPr>
          <p:nvPr/>
        </p:nvCxnSpPr>
        <p:spPr>
          <a:xfrm>
            <a:off x="6780937" y="4617488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D18A1409-4FAA-4684-B91E-7BC9030361B0}"/>
              </a:ext>
            </a:extLst>
          </p:cNvPr>
          <p:cNvSpPr txBox="1"/>
          <p:nvPr/>
        </p:nvSpPr>
        <p:spPr>
          <a:xfrm>
            <a:off x="541991" y="4276554"/>
            <a:ext cx="2520908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b="1"/>
              <a:t>일단 </a:t>
            </a:r>
            <a:r>
              <a:rPr lang="ko-KR" altLang="en-US" sz="1500" b="1">
                <a:solidFill>
                  <a:srgbClr val="0000FF"/>
                </a:solidFill>
              </a:rPr>
              <a:t>동작</a:t>
            </a:r>
            <a:r>
              <a:rPr lang="ko-KR" altLang="en-US" sz="1500" b="1"/>
              <a:t>하게 만들기</a:t>
            </a:r>
          </a:p>
        </p:txBody>
      </p:sp>
      <p:sp>
        <p:nvSpPr>
          <p:cNvPr id="70" name="사각형: 둥근 모서리 69">
            <a:extLst>
              <a:ext uri="{FF2B5EF4-FFF2-40B4-BE49-F238E27FC236}">
                <a16:creationId xmlns:a16="http://schemas.microsoft.com/office/drawing/2014/main" id="{EAD1CE62-B09A-4942-8724-BD99F5F5D652}"/>
              </a:ext>
            </a:extLst>
          </p:cNvPr>
          <p:cNvSpPr/>
          <p:nvPr/>
        </p:nvSpPr>
        <p:spPr>
          <a:xfrm>
            <a:off x="278540" y="3894825"/>
            <a:ext cx="820647" cy="247920"/>
          </a:xfrm>
          <a:prstGeom prst="roundRect">
            <a:avLst/>
          </a:prstGeom>
          <a:solidFill>
            <a:srgbClr val="DEEBF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spc="-100">
                <a:solidFill>
                  <a:schemeClr val="tx1"/>
                </a:solidFill>
                <a:latin typeface="+mn-ea"/>
              </a:rPr>
              <a:t>1~2</a:t>
            </a:r>
            <a:r>
              <a:rPr lang="ko-KR" altLang="en-US" sz="1200" b="1" spc="-100">
                <a:solidFill>
                  <a:schemeClr val="tx1"/>
                </a:solidFill>
                <a:latin typeface="+mn-ea"/>
              </a:rPr>
              <a:t>주차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83D50405-FE7C-48A4-8D57-6DA743923DE1}"/>
              </a:ext>
            </a:extLst>
          </p:cNvPr>
          <p:cNvSpPr txBox="1"/>
          <p:nvPr/>
        </p:nvSpPr>
        <p:spPr>
          <a:xfrm>
            <a:off x="278540" y="4738902"/>
            <a:ext cx="2985462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질문의 키워드</a:t>
            </a:r>
            <a:r>
              <a:rPr lang="en-US" altLang="ko-KR" sz="1300"/>
              <a:t>, </a:t>
            </a:r>
            <a:r>
              <a:rPr lang="ko-KR" altLang="en-US" sz="1300"/>
              <a:t>조건 분석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ko-KR" altLang="en-US" sz="1300"/>
              <a:t>사전에 정의한 </a:t>
            </a:r>
            <a:r>
              <a:rPr lang="ko-KR" altLang="en-US" sz="1300" b="1">
                <a:solidFill>
                  <a:srgbClr val="0000FF"/>
                </a:solidFill>
              </a:rPr>
              <a:t>규칙 기반 부서</a:t>
            </a:r>
            <a:r>
              <a:rPr lang="en-US" altLang="ko-KR" sz="1300" b="1">
                <a:solidFill>
                  <a:srgbClr val="0000FF"/>
                </a:solidFill>
              </a:rPr>
              <a:t> </a:t>
            </a:r>
            <a:r>
              <a:rPr lang="ko-KR" altLang="en-US" sz="1300"/>
              <a:t>탐색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규칙에 설정된 추천 결과와 사유 제공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7FFDD4A2-0B1D-4364-A72B-046E84ED795D}"/>
              </a:ext>
            </a:extLst>
          </p:cNvPr>
          <p:cNvSpPr txBox="1"/>
          <p:nvPr/>
        </p:nvSpPr>
        <p:spPr>
          <a:xfrm>
            <a:off x="3475479" y="4276554"/>
            <a:ext cx="2975177" cy="3355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b="1">
                <a:latin typeface="+mn-ea"/>
              </a:rPr>
              <a:t>의미 기반 </a:t>
            </a:r>
            <a:r>
              <a:rPr lang="en-US" altLang="ko-KR" sz="1500" b="1">
                <a:solidFill>
                  <a:srgbClr val="0000FF"/>
                </a:solidFill>
                <a:latin typeface="+mn-ea"/>
              </a:rPr>
              <a:t>RAG </a:t>
            </a:r>
            <a:r>
              <a:rPr lang="ko-KR" altLang="en-US" sz="1500" b="1">
                <a:solidFill>
                  <a:srgbClr val="0000FF"/>
                </a:solidFill>
                <a:latin typeface="+mn-ea"/>
              </a:rPr>
              <a:t>적용</a:t>
            </a:r>
          </a:p>
        </p:txBody>
      </p:sp>
      <p:sp>
        <p:nvSpPr>
          <p:cNvPr id="74" name="사각형: 둥근 모서리 73">
            <a:extLst>
              <a:ext uri="{FF2B5EF4-FFF2-40B4-BE49-F238E27FC236}">
                <a16:creationId xmlns:a16="http://schemas.microsoft.com/office/drawing/2014/main" id="{CB47F781-9C02-49D6-B353-D2D75C834CC9}"/>
              </a:ext>
            </a:extLst>
          </p:cNvPr>
          <p:cNvSpPr/>
          <p:nvPr/>
        </p:nvSpPr>
        <p:spPr>
          <a:xfrm>
            <a:off x="3465194" y="3894825"/>
            <a:ext cx="820647" cy="247920"/>
          </a:xfrm>
          <a:prstGeom prst="roundRect">
            <a:avLst/>
          </a:prstGeom>
          <a:solidFill>
            <a:srgbClr val="DEEBF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spc="-100">
                <a:solidFill>
                  <a:schemeClr val="tx1"/>
                </a:solidFill>
                <a:latin typeface="+mn-ea"/>
              </a:rPr>
              <a:t>2~3</a:t>
            </a:r>
            <a:r>
              <a:rPr lang="ko-KR" altLang="en-US" sz="1200" b="1" spc="-100">
                <a:solidFill>
                  <a:schemeClr val="tx1"/>
                </a:solidFill>
                <a:latin typeface="+mn-ea"/>
              </a:rPr>
              <a:t>주차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143C3A94-281E-4546-BCD0-9C717D1DBCA3}"/>
              </a:ext>
            </a:extLst>
          </p:cNvPr>
          <p:cNvSpPr txBox="1"/>
          <p:nvPr/>
        </p:nvSpPr>
        <p:spPr>
          <a:xfrm>
            <a:off x="3475478" y="4738902"/>
            <a:ext cx="3027903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>
                <a:latin typeface="+mn-ea"/>
              </a:rPr>
              <a:t> </a:t>
            </a:r>
            <a:r>
              <a:rPr lang="en-US" altLang="ko-KR" sz="1300">
                <a:latin typeface="+mn-ea"/>
              </a:rPr>
              <a:t>Embedding </a:t>
            </a:r>
            <a:r>
              <a:rPr lang="ko-KR" altLang="en-US" sz="1300">
                <a:latin typeface="+mn-ea"/>
              </a:rPr>
              <a:t>기반 </a:t>
            </a:r>
            <a:r>
              <a:rPr lang="ko-KR" altLang="en-US" sz="1300" b="1">
                <a:solidFill>
                  <a:srgbClr val="0000FF"/>
                </a:solidFill>
                <a:latin typeface="+mn-ea"/>
              </a:rPr>
              <a:t>의미</a:t>
            </a:r>
            <a:r>
              <a:rPr lang="ko-KR" altLang="en-US" sz="1300">
                <a:latin typeface="+mn-ea"/>
              </a:rPr>
              <a:t> 검색 </a:t>
            </a:r>
            <a:endParaRPr lang="en-US" altLang="ko-KR" sz="130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>
                <a:latin typeface="+mn-ea"/>
              </a:rPr>
              <a:t> </a:t>
            </a:r>
            <a:r>
              <a:rPr lang="en-US" altLang="ko-KR" sz="1300" spc="-40">
                <a:latin typeface="+mn-ea"/>
              </a:rPr>
              <a:t>Metadata </a:t>
            </a:r>
            <a:r>
              <a:rPr lang="ko-KR" altLang="en-US" sz="1300" spc="-40">
                <a:latin typeface="+mn-ea"/>
              </a:rPr>
              <a:t>활용 부서</a:t>
            </a:r>
            <a:r>
              <a:rPr lang="en-US" altLang="ko-KR" sz="1300" spc="-40">
                <a:latin typeface="+mn-ea"/>
              </a:rPr>
              <a:t>,</a:t>
            </a:r>
            <a:r>
              <a:rPr lang="ko-KR" altLang="en-US" sz="1300" spc="-40">
                <a:latin typeface="+mn-ea"/>
              </a:rPr>
              <a:t>문서</a:t>
            </a:r>
            <a:r>
              <a:rPr lang="en-US" altLang="ko-KR" sz="1300" spc="-40">
                <a:latin typeface="+mn-ea"/>
              </a:rPr>
              <a:t>,</a:t>
            </a:r>
            <a:r>
              <a:rPr lang="ko-KR" altLang="en-US" sz="1300" spc="-40">
                <a:latin typeface="+mn-ea"/>
              </a:rPr>
              <a:t>출처 필터링</a:t>
            </a:r>
            <a:endParaRPr lang="en-US" altLang="ko-KR" sz="1300" spc="-4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>
                <a:latin typeface="+mn-ea"/>
              </a:rPr>
              <a:t> 검색 근거 바탕 추천 이유 제시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AC0C0494-F9D5-4E04-A2DA-9FC6B4334384}"/>
              </a:ext>
            </a:extLst>
          </p:cNvPr>
          <p:cNvSpPr txBox="1"/>
          <p:nvPr/>
        </p:nvSpPr>
        <p:spPr>
          <a:xfrm>
            <a:off x="6578898" y="4276554"/>
            <a:ext cx="3133345" cy="3239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500" b="1" spc="-40">
                <a:latin typeface="+mn-ea"/>
              </a:rPr>
              <a:t>RAGAS </a:t>
            </a:r>
            <a:r>
              <a:rPr lang="ko-KR" altLang="en-US" sz="1500" b="1" spc="-40">
                <a:latin typeface="+mn-ea"/>
              </a:rPr>
              <a:t>활용 </a:t>
            </a:r>
            <a:r>
              <a:rPr lang="ko-KR" altLang="en-US" sz="1500" b="1" spc="-40">
                <a:solidFill>
                  <a:srgbClr val="0000FF"/>
                </a:solidFill>
                <a:latin typeface="+mn-ea"/>
              </a:rPr>
              <a:t>검색 품질 고도화</a:t>
            </a:r>
          </a:p>
        </p:txBody>
      </p:sp>
      <p:sp>
        <p:nvSpPr>
          <p:cNvPr id="77" name="사각형: 둥근 모서리 76">
            <a:extLst>
              <a:ext uri="{FF2B5EF4-FFF2-40B4-BE49-F238E27FC236}">
                <a16:creationId xmlns:a16="http://schemas.microsoft.com/office/drawing/2014/main" id="{DC062B4C-208A-4E1B-AD33-7E6C1C36E566}"/>
              </a:ext>
            </a:extLst>
          </p:cNvPr>
          <p:cNvSpPr/>
          <p:nvPr/>
        </p:nvSpPr>
        <p:spPr>
          <a:xfrm>
            <a:off x="6640874" y="3912142"/>
            <a:ext cx="820647" cy="247920"/>
          </a:xfrm>
          <a:prstGeom prst="roundRect">
            <a:avLst/>
          </a:prstGeom>
          <a:solidFill>
            <a:srgbClr val="DEEBF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spc="-100">
                <a:solidFill>
                  <a:schemeClr val="tx1"/>
                </a:solidFill>
                <a:latin typeface="+mn-ea"/>
              </a:rPr>
              <a:t>3</a:t>
            </a:r>
            <a:r>
              <a:rPr lang="ko-KR" altLang="en-US" sz="1200" b="1" spc="-100">
                <a:solidFill>
                  <a:schemeClr val="tx1"/>
                </a:solidFill>
                <a:latin typeface="+mn-ea"/>
              </a:rPr>
              <a:t>주차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D0CA5A2D-FD63-4290-A2D2-0482E8F00835}"/>
              </a:ext>
            </a:extLst>
          </p:cNvPr>
          <p:cNvSpPr txBox="1"/>
          <p:nvPr/>
        </p:nvSpPr>
        <p:spPr>
          <a:xfrm>
            <a:off x="6651635" y="4738902"/>
            <a:ext cx="2985462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>
                <a:latin typeface="+mn-ea"/>
              </a:rPr>
              <a:t> 평가용 테스트셋</a:t>
            </a:r>
            <a:r>
              <a:rPr lang="en-US" altLang="ko-KR" sz="1300">
                <a:latin typeface="+mn-ea"/>
              </a:rPr>
              <a:t>(</a:t>
            </a:r>
            <a:r>
              <a:rPr lang="ko-KR" altLang="en-US" sz="1300">
                <a:latin typeface="+mn-ea"/>
              </a:rPr>
              <a:t>정답지</a:t>
            </a:r>
            <a:r>
              <a:rPr lang="en-US" altLang="ko-KR" sz="1300">
                <a:latin typeface="+mn-ea"/>
              </a:rPr>
              <a:t>)</a:t>
            </a:r>
            <a:r>
              <a:rPr lang="ko-KR" altLang="en-US" sz="1300">
                <a:latin typeface="+mn-ea"/>
              </a:rPr>
              <a:t> 생성</a:t>
            </a:r>
            <a:endParaRPr lang="en-US" altLang="ko-KR" sz="130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>
                <a:latin typeface="+mn-ea"/>
              </a:rPr>
              <a:t> </a:t>
            </a:r>
            <a:r>
              <a:rPr lang="en-US" altLang="ko-KR" sz="1300" kern="0">
                <a:latin typeface="+mn-ea"/>
              </a:rPr>
              <a:t>LangSmith</a:t>
            </a:r>
            <a:r>
              <a:rPr lang="ko-KR" altLang="en-US" sz="1300">
                <a:latin typeface="+mn-ea"/>
              </a:rPr>
              <a:t>로 채점 자동화</a:t>
            </a:r>
            <a:endParaRPr lang="en-US" altLang="ko-KR" sz="130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>
                <a:latin typeface="+mn-ea"/>
              </a:rPr>
              <a:t> 채점결과 반영 추가 문제점 개선</a:t>
            </a:r>
          </a:p>
        </p:txBody>
      </p:sp>
      <p:sp>
        <p:nvSpPr>
          <p:cNvPr id="80" name="이등변 삼각형 79">
            <a:extLst>
              <a:ext uri="{FF2B5EF4-FFF2-40B4-BE49-F238E27FC236}">
                <a16:creationId xmlns:a16="http://schemas.microsoft.com/office/drawing/2014/main" id="{9B55912F-4B67-4B5C-835C-47C2FEEF12FD}"/>
              </a:ext>
            </a:extLst>
          </p:cNvPr>
          <p:cNvSpPr/>
          <p:nvPr/>
        </p:nvSpPr>
        <p:spPr>
          <a:xfrm rot="5400000">
            <a:off x="3281622" y="4871135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1" name="이등변 삼각형 80">
            <a:extLst>
              <a:ext uri="{FF2B5EF4-FFF2-40B4-BE49-F238E27FC236}">
                <a16:creationId xmlns:a16="http://schemas.microsoft.com/office/drawing/2014/main" id="{EBDFF46A-7DE0-4236-9D84-39C5232600A4}"/>
              </a:ext>
            </a:extLst>
          </p:cNvPr>
          <p:cNvSpPr/>
          <p:nvPr/>
        </p:nvSpPr>
        <p:spPr>
          <a:xfrm rot="5400000">
            <a:off x="6468171" y="4871135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82" name="그룹 81">
            <a:extLst>
              <a:ext uri="{FF2B5EF4-FFF2-40B4-BE49-F238E27FC236}">
                <a16:creationId xmlns:a16="http://schemas.microsoft.com/office/drawing/2014/main" id="{6145DA41-BC38-4528-BF35-80A7EC9C7771}"/>
              </a:ext>
            </a:extLst>
          </p:cNvPr>
          <p:cNvGrpSpPr/>
          <p:nvPr/>
        </p:nvGrpSpPr>
        <p:grpSpPr>
          <a:xfrm>
            <a:off x="325500" y="6138454"/>
            <a:ext cx="511817" cy="431452"/>
            <a:chOff x="-895525" y="3274733"/>
            <a:chExt cx="619300" cy="474597"/>
          </a:xfrm>
        </p:grpSpPr>
        <p:sp>
          <p:nvSpPr>
            <p:cNvPr id="83" name="타원 82">
              <a:extLst>
                <a:ext uri="{FF2B5EF4-FFF2-40B4-BE49-F238E27FC236}">
                  <a16:creationId xmlns:a16="http://schemas.microsoft.com/office/drawing/2014/main" id="{16FF509C-8177-4F2F-9D93-F5312620F652}"/>
                </a:ext>
              </a:extLst>
            </p:cNvPr>
            <p:cNvSpPr/>
            <p:nvPr/>
          </p:nvSpPr>
          <p:spPr>
            <a:xfrm>
              <a:off x="-781050" y="3274733"/>
              <a:ext cx="504825" cy="47459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4" name="화살표: 오른쪽 83">
              <a:extLst>
                <a:ext uri="{FF2B5EF4-FFF2-40B4-BE49-F238E27FC236}">
                  <a16:creationId xmlns:a16="http://schemas.microsoft.com/office/drawing/2014/main" id="{9A89337C-753D-4F4A-89D4-87DE20AD0384}"/>
                </a:ext>
              </a:extLst>
            </p:cNvPr>
            <p:cNvSpPr/>
            <p:nvPr/>
          </p:nvSpPr>
          <p:spPr>
            <a:xfrm>
              <a:off x="-895525" y="3297066"/>
              <a:ext cx="616600" cy="429929"/>
            </a:xfrm>
            <a:prstGeom prst="rightArrow">
              <a:avLst/>
            </a:prstGeom>
            <a:pattFill prst="pct25">
              <a:fgClr>
                <a:schemeClr val="accent1">
                  <a:lumMod val="40000"/>
                  <a:lumOff val="60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7317875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사각형: 둥근 모서리 85">
            <a:extLst>
              <a:ext uri="{FF2B5EF4-FFF2-40B4-BE49-F238E27FC236}">
                <a16:creationId xmlns:a16="http://schemas.microsoft.com/office/drawing/2014/main" id="{F3C05E7C-CB4F-4E36-B2BF-94B965EB8077}"/>
              </a:ext>
            </a:extLst>
          </p:cNvPr>
          <p:cNvSpPr>
            <a:spLocks noGrp="1"/>
          </p:cNvSpPr>
          <p:nvPr/>
        </p:nvSpPr>
        <p:spPr>
          <a:xfrm>
            <a:off x="417123" y="4586732"/>
            <a:ext cx="9159954" cy="1365105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2000" b="1" spc="-100">
                <a:solidFill>
                  <a:prstClr val="black"/>
                </a:solidFill>
                <a:latin typeface="+mn-ea"/>
              </a:rPr>
              <a:t>3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rPr>
              <a:t>. (2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rPr>
              <a:t>주차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rPr>
              <a:t>) </a:t>
            </a:r>
            <a:r>
              <a:rPr lang="en-US" altLang="ko-KR" sz="2000" b="1" spc="-100">
                <a:solidFill>
                  <a:prstClr val="black"/>
                </a:solidFill>
                <a:latin typeface="+mn-ea"/>
              </a:rPr>
              <a:t>RAG</a:t>
            </a:r>
            <a:r>
              <a:rPr lang="ko-KR" altLang="en-US" sz="2000" b="1" spc="-100">
                <a:solidFill>
                  <a:prstClr val="black"/>
                </a:solidFill>
                <a:latin typeface="+mn-ea"/>
              </a:rPr>
              <a:t> 시도를 통한</a:t>
            </a:r>
            <a:r>
              <a:rPr lang="en-US" altLang="ko-KR" sz="2000" b="1" spc="-100">
                <a:solidFill>
                  <a:prstClr val="black"/>
                </a:solidFill>
                <a:latin typeface="+mn-ea"/>
              </a:rPr>
              <a:t> </a:t>
            </a:r>
            <a:r>
              <a:rPr lang="ko-KR" altLang="en-US" sz="2000" b="1" spc="-100">
                <a:solidFill>
                  <a:prstClr val="black"/>
                </a:solidFill>
                <a:latin typeface="+mn-ea"/>
              </a:rPr>
              <a:t>신규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rPr>
              <a:t>설비 구매 매칭 오류 발견과 보완 검증 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9A72A77-AD14-4143-AAAB-858BFD97C62C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n-ea"/>
              </a:rPr>
              <a:t>(3/6)</a:t>
            </a:r>
            <a:endParaRPr lang="ko-KR" altLang="en-US" sz="1400" b="1">
              <a:solidFill>
                <a:schemeClr val="bg1"/>
              </a:solidFill>
              <a:latin typeface="+mn-ea"/>
            </a:endParaRPr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45981C6C-8822-4233-9480-4913D845F441}"/>
              </a:ext>
            </a:extLst>
          </p:cNvPr>
          <p:cNvSpPr/>
          <p:nvPr/>
        </p:nvSpPr>
        <p:spPr>
          <a:xfrm>
            <a:off x="4257155" y="1186982"/>
            <a:ext cx="1657198" cy="406475"/>
          </a:xfrm>
          <a:prstGeom prst="roundRect">
            <a:avLst/>
          </a:prstGeom>
          <a:solidFill>
            <a:srgbClr val="EDF1F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solidFill>
                  <a:srgbClr val="003D9B"/>
                </a:solidFill>
                <a:latin typeface="+mn-ea"/>
              </a:rPr>
              <a:t>1.</a:t>
            </a:r>
            <a:r>
              <a:rPr lang="ko-KR" altLang="en-US" sz="1500" b="1">
                <a:solidFill>
                  <a:srgbClr val="003D9B"/>
                </a:solidFill>
                <a:latin typeface="+mn-ea"/>
              </a:rPr>
              <a:t>문제 발견</a:t>
            </a:r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E7ECEBBB-44B4-462C-9FD9-E0DD183C58EA}"/>
              </a:ext>
            </a:extLst>
          </p:cNvPr>
          <p:cNvSpPr/>
          <p:nvPr/>
        </p:nvSpPr>
        <p:spPr>
          <a:xfrm>
            <a:off x="4257155" y="1992525"/>
            <a:ext cx="1657198" cy="406475"/>
          </a:xfrm>
          <a:prstGeom prst="roundRect">
            <a:avLst/>
          </a:prstGeom>
          <a:solidFill>
            <a:srgbClr val="157CC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solidFill>
                  <a:schemeClr val="bg1"/>
                </a:solidFill>
                <a:latin typeface="+mn-ea"/>
              </a:rPr>
              <a:t>2.</a:t>
            </a:r>
            <a:r>
              <a:rPr lang="ko-KR" altLang="en-US" sz="1500" b="1">
                <a:solidFill>
                  <a:schemeClr val="bg1"/>
                </a:solidFill>
                <a:latin typeface="+mn-ea"/>
              </a:rPr>
              <a:t>원인 진단</a:t>
            </a:r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76166D3E-CD2A-46AD-B0D6-633036C7B855}"/>
              </a:ext>
            </a:extLst>
          </p:cNvPr>
          <p:cNvSpPr/>
          <p:nvPr/>
        </p:nvSpPr>
        <p:spPr>
          <a:xfrm>
            <a:off x="4257156" y="2853120"/>
            <a:ext cx="1657197" cy="406475"/>
          </a:xfrm>
          <a:prstGeom prst="roundRect">
            <a:avLst/>
          </a:prstGeom>
          <a:solidFill>
            <a:srgbClr val="003D9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latin typeface="+mn-ea"/>
              </a:rPr>
              <a:t>3.</a:t>
            </a:r>
            <a:r>
              <a:rPr lang="ko-KR" altLang="en-US" sz="1500" b="1">
                <a:latin typeface="+mn-ea"/>
              </a:rPr>
              <a:t>보완 조치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9F1F9FE-BEAD-4DC4-84A8-B812553A8B16}"/>
              </a:ext>
            </a:extLst>
          </p:cNvPr>
          <p:cNvSpPr txBox="1"/>
          <p:nvPr/>
        </p:nvSpPr>
        <p:spPr>
          <a:xfrm>
            <a:off x="5924403" y="1124762"/>
            <a:ext cx="3765573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"생산설비 신규구매" 질의 매칭 누락 </a:t>
            </a:r>
            <a:r>
              <a:rPr lang="en-US" altLang="ko-KR" sz="1300" spc="-40">
                <a:latin typeface="+mn-ea"/>
              </a:rPr>
              <a:t>(</a:t>
            </a:r>
            <a:r>
              <a:rPr lang="ko-KR" altLang="en-US" sz="1300" spc="-40">
                <a:latin typeface="+mn-ea"/>
              </a:rPr>
              <a:t>유사도 </a:t>
            </a:r>
            <a:r>
              <a:rPr lang="en-US" altLang="ko-KR" sz="1300" spc="-40">
                <a:latin typeface="+mn-ea"/>
              </a:rPr>
              <a:t>0.4)</a:t>
            </a: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60">
                <a:latin typeface="+mn-ea"/>
              </a:rPr>
              <a:t>정비성 투자 등 유사 케이스도 재현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1513667-2318-4EE2-9E0A-47E1A6AC3126}"/>
              </a:ext>
            </a:extLst>
          </p:cNvPr>
          <p:cNvSpPr txBox="1"/>
          <p:nvPr/>
        </p:nvSpPr>
        <p:spPr>
          <a:xfrm>
            <a:off x="5924403" y="1930305"/>
            <a:ext cx="3709182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검색 핵심어 사전 부족 · 유사도 기준 미달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투자관리그룹 문서에 문구 · 점수 부족</a:t>
            </a:r>
            <a:endParaRPr lang="en-US" altLang="ko-KR" sz="1300" spc="-40">
              <a:latin typeface="+mn-ea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63172E6-297C-454C-8084-7AAAB8AA8108}"/>
              </a:ext>
            </a:extLst>
          </p:cNvPr>
          <p:cNvSpPr txBox="1"/>
          <p:nvPr/>
        </p:nvSpPr>
        <p:spPr>
          <a:xfrm>
            <a:off x="5924402" y="2671637"/>
            <a:ext cx="395982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>
                <a:latin typeface="+mn-ea"/>
              </a:rPr>
              <a:t>도메인 핵심 키워드 사전 확장 </a:t>
            </a:r>
            <a:r>
              <a:rPr lang="en-US" altLang="ko-KR" sz="1300" spc="-40">
                <a:latin typeface="+mn-ea"/>
              </a:rPr>
              <a:t>·</a:t>
            </a:r>
            <a:r>
              <a:rPr lang="ko-KR" altLang="en-US" sz="1300">
                <a:latin typeface="+mn-ea"/>
              </a:rPr>
              <a:t> 근거 문서 보강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프롬프트 규칙 추가</a:t>
            </a:r>
            <a:r>
              <a:rPr lang="en-US" altLang="ko-KR" sz="1300" spc="-40">
                <a:latin typeface="+mn-ea"/>
              </a:rPr>
              <a:t> · </a:t>
            </a:r>
            <a:r>
              <a:rPr lang="ko-KR" altLang="en-US" sz="1300" spc="-40">
                <a:latin typeface="+mn-ea"/>
              </a:rPr>
              <a:t>보완 검색 로직 개선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5개 시나리오 재검증, 회귀 0건</a:t>
            </a:r>
            <a:endParaRPr lang="en-US" altLang="ko-KR" sz="1300" spc="-40">
              <a:latin typeface="+mn-ea"/>
            </a:endParaRPr>
          </a:p>
        </p:txBody>
      </p:sp>
      <p:pic>
        <p:nvPicPr>
          <p:cNvPr id="54" name="그래픽 53" descr="갈매기형 화살표 단색으로 채워진">
            <a:extLst>
              <a:ext uri="{FF2B5EF4-FFF2-40B4-BE49-F238E27FC236}">
                <a16:creationId xmlns:a16="http://schemas.microsoft.com/office/drawing/2014/main" id="{6D602B2A-3F13-479E-932C-9CE5E2D13BA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5400000">
            <a:off x="4904443" y="1483819"/>
            <a:ext cx="362623" cy="624548"/>
          </a:xfrm>
          <a:prstGeom prst="rect">
            <a:avLst/>
          </a:prstGeom>
        </p:spPr>
      </p:pic>
      <p:pic>
        <p:nvPicPr>
          <p:cNvPr id="55" name="그래픽 54" descr="갈매기형 화살표 단색으로 채워진">
            <a:extLst>
              <a:ext uri="{FF2B5EF4-FFF2-40B4-BE49-F238E27FC236}">
                <a16:creationId xmlns:a16="http://schemas.microsoft.com/office/drawing/2014/main" id="{A41834EC-F964-4C89-85D1-2ED9B6371E6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5400000">
            <a:off x="4904443" y="2311136"/>
            <a:ext cx="362623" cy="624548"/>
          </a:xfrm>
          <a:prstGeom prst="rect">
            <a:avLst/>
          </a:prstGeom>
        </p:spPr>
      </p:pic>
      <p:cxnSp>
        <p:nvCxnSpPr>
          <p:cNvPr id="56" name="직선 연결선 55">
            <a:extLst>
              <a:ext uri="{FF2B5EF4-FFF2-40B4-BE49-F238E27FC236}">
                <a16:creationId xmlns:a16="http://schemas.microsoft.com/office/drawing/2014/main" id="{1C771CE0-A909-4638-A86F-DBE3ABE4EA63}"/>
              </a:ext>
            </a:extLst>
          </p:cNvPr>
          <p:cNvCxnSpPr>
            <a:cxnSpLocks/>
          </p:cNvCxnSpPr>
          <p:nvPr/>
        </p:nvCxnSpPr>
        <p:spPr>
          <a:xfrm>
            <a:off x="717795" y="4954599"/>
            <a:ext cx="8454183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F34A31BE-698E-4EED-9F0B-142B22C271F2}"/>
              </a:ext>
            </a:extLst>
          </p:cNvPr>
          <p:cNvSpPr txBox="1"/>
          <p:nvPr/>
        </p:nvSpPr>
        <p:spPr>
          <a:xfrm>
            <a:off x="862949" y="4623985"/>
            <a:ext cx="216897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latin typeface="+mn-ea"/>
              </a:rPr>
              <a:t>① 발견된 문제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7DFE27D1-3AA1-4DA8-BC7D-4845152C606C}"/>
              </a:ext>
            </a:extLst>
          </p:cNvPr>
          <p:cNvSpPr txBox="1"/>
          <p:nvPr/>
        </p:nvSpPr>
        <p:spPr>
          <a:xfrm>
            <a:off x="970098" y="5165431"/>
            <a:ext cx="2223741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60">
                <a:latin typeface="+mn-ea"/>
              </a:rPr>
              <a:t>생산설비 매칭 오류 3건 발견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60D05675-3CB6-49F0-A215-9E6D7D8882CE}"/>
              </a:ext>
            </a:extLst>
          </p:cNvPr>
          <p:cNvSpPr txBox="1"/>
          <p:nvPr/>
        </p:nvSpPr>
        <p:spPr>
          <a:xfrm>
            <a:off x="3604098" y="5165431"/>
            <a:ext cx="3013056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Bef>
                <a:spcPts val="300"/>
              </a:spcBef>
            </a:pPr>
            <a:r>
              <a:rPr lang="ko-KR" altLang="en-US" sz="1300" spc="-40">
                <a:latin typeface="+mn-ea"/>
              </a:rPr>
              <a:t>핵심 키워드 사전</a:t>
            </a:r>
            <a:r>
              <a:rPr lang="en-US" altLang="ko-KR" sz="1300" spc="-40">
                <a:latin typeface="+mn-ea"/>
              </a:rPr>
              <a:t> · </a:t>
            </a:r>
            <a:r>
              <a:rPr lang="ko-KR" altLang="en-US" sz="1300" spc="-40">
                <a:latin typeface="+mn-ea"/>
              </a:rPr>
              <a:t>임계값 2가지 원인</a:t>
            </a:r>
            <a:endParaRPr lang="en-US" altLang="ko-KR" sz="1300" spc="-40">
              <a:latin typeface="+mn-ea"/>
            </a:endParaRPr>
          </a:p>
          <a:p>
            <a:pPr algn="ctr">
              <a:spcBef>
                <a:spcPts val="300"/>
              </a:spcBef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→ 유사도 점수로 진단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A0AEE09C-9804-4EC5-802E-F5E99F7DC864}"/>
              </a:ext>
            </a:extLst>
          </p:cNvPr>
          <p:cNvSpPr txBox="1"/>
          <p:nvPr/>
        </p:nvSpPr>
        <p:spPr>
          <a:xfrm>
            <a:off x="3755846" y="5659449"/>
            <a:ext cx="270956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40">
                <a:latin typeface="+mn-ea"/>
              </a:rPr>
              <a:t>근거 문서 </a:t>
            </a:r>
            <a:r>
              <a:rPr lang="en-US" altLang="ko-KR" sz="1300" spc="-40">
                <a:latin typeface="+mn-ea"/>
              </a:rPr>
              <a:t>2</a:t>
            </a:r>
            <a:r>
              <a:rPr lang="ko-KR" altLang="en-US" sz="1300" spc="-40">
                <a:latin typeface="+mn-ea"/>
              </a:rPr>
              <a:t>건 신설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CF621287-5AF0-467C-95AB-19A462CB5238}"/>
              </a:ext>
            </a:extLst>
          </p:cNvPr>
          <p:cNvSpPr txBox="1"/>
          <p:nvPr/>
        </p:nvSpPr>
        <p:spPr>
          <a:xfrm>
            <a:off x="4062908" y="4623985"/>
            <a:ext cx="1854286" cy="307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latin typeface="+mn-ea"/>
              </a:rPr>
              <a:t>② 원인 진단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33C61194-C9B0-437F-9FC2-BCD1B486A971}"/>
              </a:ext>
            </a:extLst>
          </p:cNvPr>
          <p:cNvSpPr txBox="1"/>
          <p:nvPr/>
        </p:nvSpPr>
        <p:spPr>
          <a:xfrm>
            <a:off x="6803192" y="4623985"/>
            <a:ext cx="2391888" cy="307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latin typeface="+mn-ea"/>
              </a:rPr>
              <a:t>③ 보완 및 재검증</a:t>
            </a:r>
          </a:p>
        </p:txBody>
      </p:sp>
      <p:sp>
        <p:nvSpPr>
          <p:cNvPr id="87" name="직사각형 86">
            <a:extLst>
              <a:ext uri="{FF2B5EF4-FFF2-40B4-BE49-F238E27FC236}">
                <a16:creationId xmlns:a16="http://schemas.microsoft.com/office/drawing/2014/main" id="{24807FFB-D7F2-4A8E-8656-4617AEFDA05F}"/>
              </a:ext>
            </a:extLst>
          </p:cNvPr>
          <p:cNvSpPr/>
          <p:nvPr/>
        </p:nvSpPr>
        <p:spPr>
          <a:xfrm>
            <a:off x="556286" y="4103557"/>
            <a:ext cx="9020791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재검증</a:t>
            </a:r>
            <a:r>
              <a:rPr kumimoji="0" lang="en-US" altLang="ko-KR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: </a:t>
            </a:r>
            <a:r>
              <a:rPr lang="ko-KR" altLang="en-US" sz="1400" spc="-20">
                <a:solidFill>
                  <a:prstClr val="black"/>
                </a:solidFill>
                <a:latin typeface="+mn-ea"/>
                <a:sym typeface="Wingdings" pitchFamily="2" charset="2"/>
              </a:rPr>
              <a:t>설비 구매 매칭 오류 재현 및 </a:t>
            </a:r>
            <a:r>
              <a:rPr lang="en-US" altLang="ko-KR" sz="1400" spc="-20">
                <a:solidFill>
                  <a:prstClr val="black"/>
                </a:solidFill>
                <a:latin typeface="+mn-ea"/>
                <a:sym typeface="Wingdings" pitchFamily="2" charset="2"/>
              </a:rPr>
              <a:t>수정</a:t>
            </a:r>
            <a:r>
              <a:rPr lang="ko-KR" altLang="en-US" sz="1400" spc="-20">
                <a:solidFill>
                  <a:prstClr val="black"/>
                </a:solidFill>
                <a:latin typeface="+mn-ea"/>
                <a:sym typeface="Wingdings" pitchFamily="2" charset="2"/>
              </a:rPr>
              <a:t> 후 동작 재검증</a:t>
            </a:r>
            <a:endParaRPr kumimoji="0" lang="en-US" altLang="ko-KR" sz="140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88" name="그룹 87">
            <a:extLst>
              <a:ext uri="{FF2B5EF4-FFF2-40B4-BE49-F238E27FC236}">
                <a16:creationId xmlns:a16="http://schemas.microsoft.com/office/drawing/2014/main" id="{658B2224-EF71-4CE7-ACE4-6325C2AB62E9}"/>
              </a:ext>
            </a:extLst>
          </p:cNvPr>
          <p:cNvGrpSpPr/>
          <p:nvPr/>
        </p:nvGrpSpPr>
        <p:grpSpPr>
          <a:xfrm>
            <a:off x="310399" y="4213546"/>
            <a:ext cx="194324" cy="180020"/>
            <a:chOff x="416496" y="3577457"/>
            <a:chExt cx="194324" cy="180020"/>
          </a:xfrm>
        </p:grpSpPr>
        <p:sp>
          <p:nvSpPr>
            <p:cNvPr id="89" name="모서리가 둥근 직사각형 320">
              <a:extLst>
                <a:ext uri="{FF2B5EF4-FFF2-40B4-BE49-F238E27FC236}">
                  <a16:creationId xmlns:a16="http://schemas.microsoft.com/office/drawing/2014/main" id="{F1230FAB-EAE2-49BF-94C7-F4C677DCB12F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+mn-ea"/>
                <a:cs typeface="Arial" panose="020B0604020202020204" pitchFamily="34" charset="0"/>
              </a:endParaRPr>
            </a:p>
          </p:txBody>
        </p:sp>
        <p:pic>
          <p:nvPicPr>
            <p:cNvPr id="90" name="그림 89" descr="7.png">
              <a:extLst>
                <a:ext uri="{FF2B5EF4-FFF2-40B4-BE49-F238E27FC236}">
                  <a16:creationId xmlns:a16="http://schemas.microsoft.com/office/drawing/2014/main" id="{6A204FBD-E43F-45F1-9812-47291227CED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pic>
        <p:nvPicPr>
          <p:cNvPr id="34" name="그림 33">
            <a:extLst>
              <a:ext uri="{FF2B5EF4-FFF2-40B4-BE49-F238E27FC236}">
                <a16:creationId xmlns:a16="http://schemas.microsoft.com/office/drawing/2014/main" id="{E98EEE92-2BAD-48E7-A9E1-5FE5B50C593C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tretch/>
        </p:blipFill>
        <p:spPr>
          <a:xfrm>
            <a:off x="417123" y="1261354"/>
            <a:ext cx="3709182" cy="2007715"/>
          </a:xfrm>
          <a:prstGeom prst="roundRect">
            <a:avLst>
              <a:gd name="adj" fmla="val 3500"/>
            </a:avLst>
          </a:prstGeom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B75B54E4-3DB9-4357-89F4-5D95D4E300D3}"/>
              </a:ext>
            </a:extLst>
          </p:cNvPr>
          <p:cNvSpPr txBox="1"/>
          <p:nvPr/>
        </p:nvSpPr>
        <p:spPr>
          <a:xfrm>
            <a:off x="826814" y="5473402"/>
            <a:ext cx="251030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60">
                <a:latin typeface="+mn-ea"/>
              </a:rPr>
              <a:t>(미매칭 · 금액오판 · 임계값 미달)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5CADF0F-B5DE-493B-9922-4CC6E10A3F57}"/>
              </a:ext>
            </a:extLst>
          </p:cNvPr>
          <p:cNvSpPr txBox="1"/>
          <p:nvPr/>
        </p:nvSpPr>
        <p:spPr>
          <a:xfrm>
            <a:off x="6941126" y="5165431"/>
            <a:ext cx="225395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300"/>
              </a:spcBef>
            </a:pPr>
            <a:r>
              <a:rPr lang="ko-KR" altLang="en-US" sz="1300">
                <a:latin typeface="+mn-ea"/>
              </a:rPr>
              <a:t>핵심 키워드 · 문서 ·</a:t>
            </a:r>
            <a:endParaRPr lang="en-US" altLang="ko-KR" sz="1300">
              <a:latin typeface="+mn-ea"/>
            </a:endParaRPr>
          </a:p>
          <a:p>
            <a:pPr algn="ctr">
              <a:spcBef>
                <a:spcPts val="300"/>
              </a:spcBef>
            </a:pPr>
            <a:r>
              <a:rPr lang="ko-KR" altLang="en-US" sz="1300">
                <a:latin typeface="+mn-ea"/>
              </a:rPr>
              <a:t> 프롬프트 · 보완 검색 로직</a:t>
            </a:r>
            <a:endParaRPr lang="en-US" altLang="ko-KR" sz="1300">
              <a:latin typeface="+mn-ea"/>
            </a:endParaRPr>
          </a:p>
          <a:p>
            <a:pPr algn="ctr">
              <a:spcBef>
                <a:spcPts val="300"/>
              </a:spcBef>
            </a:pPr>
            <a:r>
              <a:rPr lang="ko-KR" altLang="en-US" sz="1300">
                <a:latin typeface="+mn-ea"/>
              </a:rPr>
              <a:t>4개 영역 개선</a:t>
            </a:r>
            <a:endParaRPr lang="en-US" altLang="ko-KR" sz="1300">
              <a:latin typeface="+mn-ea"/>
            </a:endParaRPr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91768DFA-DE01-4FC5-924E-1BF0F95E4258}"/>
              </a:ext>
            </a:extLst>
          </p:cNvPr>
          <p:cNvSpPr>
            <a:spLocks noGrp="1"/>
          </p:cNvSpPr>
          <p:nvPr/>
        </p:nvSpPr>
        <p:spPr>
          <a:xfrm>
            <a:off x="438755" y="6097268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796FA834-84F7-42EF-A7D9-0ACE0A3491BA}"/>
              </a:ext>
            </a:extLst>
          </p:cNvPr>
          <p:cNvSpPr>
            <a:spLocks noGrp="1"/>
          </p:cNvSpPr>
          <p:nvPr/>
        </p:nvSpPr>
        <p:spPr>
          <a:xfrm>
            <a:off x="3543116" y="6097268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12E0B78B-1636-40A6-93C5-055AB120C6E9}"/>
              </a:ext>
            </a:extLst>
          </p:cNvPr>
          <p:cNvSpPr>
            <a:spLocks noGrp="1"/>
          </p:cNvSpPr>
          <p:nvPr/>
        </p:nvSpPr>
        <p:spPr>
          <a:xfrm>
            <a:off x="6648327" y="6097268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3B0CA3A-152D-4015-BBF7-BD90D455AEAC}"/>
              </a:ext>
            </a:extLst>
          </p:cNvPr>
          <p:cNvSpPr txBox="1"/>
          <p:nvPr/>
        </p:nvSpPr>
        <p:spPr>
          <a:xfrm>
            <a:off x="577919" y="6114236"/>
            <a:ext cx="1044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5/5</a:t>
            </a:r>
            <a:r>
              <a:rPr lang="ko-KR" altLang="en-US" b="1">
                <a:latin typeface="+mn-ea"/>
              </a:rPr>
              <a:t>건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CFEDA02-0213-41AC-B4B0-4E942FE28EDC}"/>
              </a:ext>
            </a:extLst>
          </p:cNvPr>
          <p:cNvSpPr txBox="1"/>
          <p:nvPr/>
        </p:nvSpPr>
        <p:spPr>
          <a:xfrm>
            <a:off x="1386219" y="6152708"/>
            <a:ext cx="167073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재검증 통과율 </a:t>
            </a:r>
            <a:r>
              <a:rPr lang="en-US" altLang="ko-KR" sz="1300" spc="-40">
                <a:latin typeface="+mn-ea"/>
              </a:rPr>
              <a:t>100%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08E6DD0-C667-46B6-B5D2-A493891973EB}"/>
              </a:ext>
            </a:extLst>
          </p:cNvPr>
          <p:cNvSpPr txBox="1"/>
          <p:nvPr/>
        </p:nvSpPr>
        <p:spPr>
          <a:xfrm>
            <a:off x="3680485" y="6103671"/>
            <a:ext cx="11033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0.43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D616FD4-E477-4107-9693-14F0216A0FD6}"/>
              </a:ext>
            </a:extLst>
          </p:cNvPr>
          <p:cNvSpPr txBox="1"/>
          <p:nvPr/>
        </p:nvSpPr>
        <p:spPr>
          <a:xfrm>
            <a:off x="4398735" y="6142143"/>
            <a:ext cx="197058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solidFill>
                  <a:schemeClr val="tx1">
                    <a:lumMod val="95000"/>
                    <a:lumOff val="5000"/>
                  </a:schemeClr>
                </a:solidFill>
                <a:latin typeface="+mn-ea"/>
              </a:rPr>
              <a:t>정비성 투자 유사도 개선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70307BE-6598-47A1-83FA-D9EE14EEC7A5}"/>
              </a:ext>
            </a:extLst>
          </p:cNvPr>
          <p:cNvSpPr txBox="1"/>
          <p:nvPr/>
        </p:nvSpPr>
        <p:spPr>
          <a:xfrm>
            <a:off x="6742343" y="6103671"/>
            <a:ext cx="10492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2</a:t>
            </a:r>
            <a:r>
              <a:rPr lang="ko-KR" altLang="en-US" b="1">
                <a:latin typeface="+mn-ea"/>
              </a:rPr>
              <a:t>건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A5407AD-CFBC-43CC-BCBD-A292FFBDCFD8}"/>
              </a:ext>
            </a:extLst>
          </p:cNvPr>
          <p:cNvSpPr txBox="1"/>
          <p:nvPr/>
        </p:nvSpPr>
        <p:spPr>
          <a:xfrm>
            <a:off x="7419028" y="6142143"/>
            <a:ext cx="220010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근거 문서 보강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C34FC04-8356-4F3E-9921-3AEE8CC855B1}"/>
              </a:ext>
            </a:extLst>
          </p:cNvPr>
          <p:cNvSpPr txBox="1"/>
          <p:nvPr/>
        </p:nvSpPr>
        <p:spPr>
          <a:xfrm>
            <a:off x="7419028" y="6463972"/>
            <a:ext cx="208531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</a:rPr>
              <a:t>회귀 없음 (기존 4건 유지)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866ACBC-4164-4D24-94BA-CF7A8D749112}"/>
              </a:ext>
            </a:extLst>
          </p:cNvPr>
          <p:cNvSpPr txBox="1"/>
          <p:nvPr/>
        </p:nvSpPr>
        <p:spPr>
          <a:xfrm>
            <a:off x="4398735" y="6463972"/>
            <a:ext cx="21397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0.40 </a:t>
            </a:r>
            <a:r>
              <a:rPr lang="ko-KR" altLang="en-US" sz="1200" spc="-40">
                <a:solidFill>
                  <a:srgbClr val="2082C8"/>
                </a:solidFill>
                <a:latin typeface="+mn-ea"/>
              </a:rPr>
              <a:t>→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0.43, 임계값 통과 </a:t>
            </a:r>
            <a:endParaRPr lang="ko-KR" altLang="en-US" sz="1200" b="1" spc="-6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1B1D1D1-F6F2-44BE-8FB7-60AF49C853F4}"/>
              </a:ext>
            </a:extLst>
          </p:cNvPr>
          <p:cNvSpPr txBox="1"/>
          <p:nvPr/>
        </p:nvSpPr>
        <p:spPr>
          <a:xfrm>
            <a:off x="1386220" y="6463972"/>
            <a:ext cx="195090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 </a:t>
            </a:r>
            <a:r>
              <a:rPr lang="en-US" altLang="ko-KR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매칭 근거 확보</a:t>
            </a:r>
            <a:endParaRPr lang="ko-KR" altLang="en-US" sz="1200" b="1" spc="-80">
              <a:solidFill>
                <a:srgbClr val="0F64C0"/>
              </a:solidFill>
              <a:latin typeface="+mn-ea"/>
            </a:endParaRPr>
          </a:p>
        </p:txBody>
      </p:sp>
      <p:pic>
        <p:nvPicPr>
          <p:cNvPr id="65" name="Image 4" descr="/tmp/claude-0/-home-claude/946d89a8-cd71-5282-af60-49c1ab8579af/scratchpad/work/assets/cpu_blue.png">
            <a:extLst>
              <a:ext uri="{FF2B5EF4-FFF2-40B4-BE49-F238E27FC236}">
                <a16:creationId xmlns:a16="http://schemas.microsoft.com/office/drawing/2014/main" id="{885DEA6F-B991-4C40-8C05-D6FD0F18A53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04519" y="4934795"/>
            <a:ext cx="329184" cy="329184"/>
          </a:xfrm>
          <a:prstGeom prst="rect">
            <a:avLst/>
          </a:prstGeom>
        </p:spPr>
      </p:pic>
      <p:pic>
        <p:nvPicPr>
          <p:cNvPr id="66" name="Image 3" descr="/tmp/claude-0/-home-claude/946d89a8-cd71-5282-af60-49c1ab8579af/scratchpad/work/assets/users_blue.png">
            <a:extLst>
              <a:ext uri="{FF2B5EF4-FFF2-40B4-BE49-F238E27FC236}">
                <a16:creationId xmlns:a16="http://schemas.microsoft.com/office/drawing/2014/main" id="{1EA4566F-5A70-4095-8FBB-BCF2BAE1242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7176" y="4965968"/>
            <a:ext cx="329184" cy="329184"/>
          </a:xfrm>
          <a:prstGeom prst="rect">
            <a:avLst/>
          </a:prstGeom>
        </p:spPr>
      </p:pic>
      <p:pic>
        <p:nvPicPr>
          <p:cNvPr id="8" name="그래픽 7" descr="전자 메일 단색으로 채워진">
            <a:extLst>
              <a:ext uri="{FF2B5EF4-FFF2-40B4-BE49-F238E27FC236}">
                <a16:creationId xmlns:a16="http://schemas.microsoft.com/office/drawing/2014/main" id="{448C896C-0F04-42CA-9C1A-CD4ACF47AA49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801164" y="4965968"/>
            <a:ext cx="352541" cy="352541"/>
          </a:xfrm>
          <a:prstGeom prst="rect">
            <a:avLst/>
          </a:prstGeom>
        </p:spPr>
      </p:pic>
      <p:sp>
        <p:nvSpPr>
          <p:cNvPr id="51" name="직사각형 50">
            <a:extLst>
              <a:ext uri="{FF2B5EF4-FFF2-40B4-BE49-F238E27FC236}">
                <a16:creationId xmlns:a16="http://schemas.microsoft.com/office/drawing/2014/main" id="{B1E69C4D-ADC3-431D-9705-D37264BD7D82}"/>
              </a:ext>
            </a:extLst>
          </p:cNvPr>
          <p:cNvSpPr/>
          <p:nvPr/>
        </p:nvSpPr>
        <p:spPr>
          <a:xfrm>
            <a:off x="400396" y="3556652"/>
            <a:ext cx="9176682" cy="505290"/>
          </a:xfrm>
          <a:prstGeom prst="rect">
            <a:avLst/>
          </a:prstGeom>
          <a:pattFill prst="pct25">
            <a:fgClr>
              <a:schemeClr val="accent1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>
                <a:solidFill>
                  <a:schemeClr val="tx1"/>
                </a:solidFill>
                <a:latin typeface="+mn-ea"/>
              </a:rPr>
              <a:t>임계값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(0.4)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 조정 없이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,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필요 조건 개선으로 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‘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정비성 투자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’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통과 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&amp; ‘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결산 처리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’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멀어지게 보완</a:t>
            </a:r>
          </a:p>
        </p:txBody>
      </p:sp>
      <p:grpSp>
        <p:nvGrpSpPr>
          <p:cNvPr id="63" name="그룹 62">
            <a:extLst>
              <a:ext uri="{FF2B5EF4-FFF2-40B4-BE49-F238E27FC236}">
                <a16:creationId xmlns:a16="http://schemas.microsoft.com/office/drawing/2014/main" id="{BBA3CC4C-109D-46B8-93DD-3494A90BF862}"/>
              </a:ext>
            </a:extLst>
          </p:cNvPr>
          <p:cNvGrpSpPr/>
          <p:nvPr/>
        </p:nvGrpSpPr>
        <p:grpSpPr>
          <a:xfrm>
            <a:off x="408628" y="3593571"/>
            <a:ext cx="511817" cy="431452"/>
            <a:chOff x="-895525" y="3274733"/>
            <a:chExt cx="619300" cy="474597"/>
          </a:xfrm>
        </p:grpSpPr>
        <p:sp>
          <p:nvSpPr>
            <p:cNvPr id="64" name="타원 63">
              <a:extLst>
                <a:ext uri="{FF2B5EF4-FFF2-40B4-BE49-F238E27FC236}">
                  <a16:creationId xmlns:a16="http://schemas.microsoft.com/office/drawing/2014/main" id="{AD398BF7-2A26-4E0B-969F-A094DA129D76}"/>
                </a:ext>
              </a:extLst>
            </p:cNvPr>
            <p:cNvSpPr/>
            <p:nvPr/>
          </p:nvSpPr>
          <p:spPr>
            <a:xfrm>
              <a:off x="-781050" y="3274733"/>
              <a:ext cx="504825" cy="47459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+mn-ea"/>
              </a:endParaRPr>
            </a:p>
          </p:txBody>
        </p:sp>
        <p:sp>
          <p:nvSpPr>
            <p:cNvPr id="67" name="화살표: 오른쪽 66">
              <a:extLst>
                <a:ext uri="{FF2B5EF4-FFF2-40B4-BE49-F238E27FC236}">
                  <a16:creationId xmlns:a16="http://schemas.microsoft.com/office/drawing/2014/main" id="{BB44404D-E889-40AE-91F9-8DA32BC9729D}"/>
                </a:ext>
              </a:extLst>
            </p:cNvPr>
            <p:cNvSpPr/>
            <p:nvPr/>
          </p:nvSpPr>
          <p:spPr>
            <a:xfrm>
              <a:off x="-895525" y="3297066"/>
              <a:ext cx="616600" cy="429929"/>
            </a:xfrm>
            <a:prstGeom prst="rightArrow">
              <a:avLst/>
            </a:prstGeom>
            <a:pattFill prst="pct25">
              <a:fgClr>
                <a:schemeClr val="accent1">
                  <a:lumMod val="40000"/>
                  <a:lumOff val="60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+mn-ea"/>
              </a:endParaRPr>
            </a:p>
          </p:txBody>
        </p:sp>
      </p:grpSp>
      <p:sp>
        <p:nvSpPr>
          <p:cNvPr id="68" name="직사각형 67">
            <a:extLst>
              <a:ext uri="{FF2B5EF4-FFF2-40B4-BE49-F238E27FC236}">
                <a16:creationId xmlns:a16="http://schemas.microsoft.com/office/drawing/2014/main" id="{634B68E6-9691-49B5-8BB6-98FDE372DE7C}"/>
              </a:ext>
            </a:extLst>
          </p:cNvPr>
          <p:cNvSpPr/>
          <p:nvPr/>
        </p:nvSpPr>
        <p:spPr>
          <a:xfrm>
            <a:off x="556286" y="702152"/>
            <a:ext cx="5271758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400" b="1" spc="-20">
                <a:solidFill>
                  <a:prstClr val="black"/>
                </a:solidFill>
                <a:latin typeface="+mn-ea"/>
                <a:sym typeface="Wingdings" pitchFamily="2" charset="2"/>
              </a:rPr>
              <a:t>LangChain 기반 RAG 매칭 개선 결과</a:t>
            </a:r>
            <a:endParaRPr kumimoji="0" lang="en-US" altLang="ko-KR" sz="1400" b="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69" name="그룹 68">
            <a:extLst>
              <a:ext uri="{FF2B5EF4-FFF2-40B4-BE49-F238E27FC236}">
                <a16:creationId xmlns:a16="http://schemas.microsoft.com/office/drawing/2014/main" id="{B85791DF-C4D1-4E47-B17C-E202D45B3F5B}"/>
              </a:ext>
            </a:extLst>
          </p:cNvPr>
          <p:cNvGrpSpPr/>
          <p:nvPr/>
        </p:nvGrpSpPr>
        <p:grpSpPr>
          <a:xfrm>
            <a:off x="310399" y="812141"/>
            <a:ext cx="194324" cy="180020"/>
            <a:chOff x="416496" y="3577457"/>
            <a:chExt cx="194324" cy="180020"/>
          </a:xfrm>
        </p:grpSpPr>
        <p:sp>
          <p:nvSpPr>
            <p:cNvPr id="70" name="모서리가 둥근 직사각형 320">
              <a:extLst>
                <a:ext uri="{FF2B5EF4-FFF2-40B4-BE49-F238E27FC236}">
                  <a16:creationId xmlns:a16="http://schemas.microsoft.com/office/drawing/2014/main" id="{2D2D06E9-8C50-4536-8A0A-68B55762539C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+mn-ea"/>
                <a:cs typeface="Arial" panose="020B0604020202020204" pitchFamily="34" charset="0"/>
              </a:endParaRPr>
            </a:p>
          </p:txBody>
        </p:sp>
        <p:pic>
          <p:nvPicPr>
            <p:cNvPr id="71" name="그림 70" descr="7.png">
              <a:extLst>
                <a:ext uri="{FF2B5EF4-FFF2-40B4-BE49-F238E27FC236}">
                  <a16:creationId xmlns:a16="http://schemas.microsoft.com/office/drawing/2014/main" id="{87BBC54F-1B09-4544-A016-1A45EBFA7F9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FCC4792D-B291-4AD2-AA5E-0457BC61338D}"/>
              </a:ext>
            </a:extLst>
          </p:cNvPr>
          <p:cNvSpPr/>
          <p:nvPr/>
        </p:nvSpPr>
        <p:spPr>
          <a:xfrm>
            <a:off x="1974273" y="1645286"/>
            <a:ext cx="571500" cy="1603918"/>
          </a:xfrm>
          <a:prstGeom prst="roundRect">
            <a:avLst>
              <a:gd name="adj" fmla="val 11212"/>
            </a:avLst>
          </a:prstGeom>
          <a:noFill/>
          <a:ln w="19050">
            <a:solidFill>
              <a:srgbClr val="0000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+mn-ea"/>
            </a:endParaRPr>
          </a:p>
        </p:txBody>
      </p:sp>
      <p:sp>
        <p:nvSpPr>
          <p:cNvPr id="72" name="사각형: 둥근 모서리 71">
            <a:extLst>
              <a:ext uri="{FF2B5EF4-FFF2-40B4-BE49-F238E27FC236}">
                <a16:creationId xmlns:a16="http://schemas.microsoft.com/office/drawing/2014/main" id="{0EB8DD7F-1748-4877-8360-AF42995E2A78}"/>
              </a:ext>
            </a:extLst>
          </p:cNvPr>
          <p:cNvSpPr/>
          <p:nvPr/>
        </p:nvSpPr>
        <p:spPr>
          <a:xfrm>
            <a:off x="3246975" y="1791097"/>
            <a:ext cx="571500" cy="1458107"/>
          </a:xfrm>
          <a:prstGeom prst="roundRect">
            <a:avLst>
              <a:gd name="adj" fmla="val 11212"/>
            </a:avLst>
          </a:prstGeom>
          <a:noFill/>
          <a:ln w="19050">
            <a:solidFill>
              <a:srgbClr val="0000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2511273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7" y="118834"/>
            <a:ext cx="950061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rPr>
              <a:t>4. (3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rPr>
              <a:t>주차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rPr>
              <a:t>) </a:t>
            </a:r>
            <a:r>
              <a:rPr lang="en-US" altLang="ko-KR" sz="2000" b="1" spc="-100">
                <a:solidFill>
                  <a:prstClr val="black"/>
                </a:solidFill>
                <a:latin typeface="+mn-ea"/>
              </a:rPr>
              <a:t>RAGAS</a:t>
            </a:r>
            <a:r>
              <a:rPr lang="ko-KR" altLang="en-US" sz="2000" b="1" spc="-100">
                <a:solidFill>
                  <a:prstClr val="black"/>
                </a:solidFill>
                <a:latin typeface="+mn-ea"/>
              </a:rPr>
              <a:t> 적용</a:t>
            </a:r>
            <a:r>
              <a:rPr lang="en-US" altLang="ko-KR" sz="2000" b="1" spc="-100">
                <a:solidFill>
                  <a:prstClr val="black"/>
                </a:solidFill>
                <a:latin typeface="+mn-ea"/>
              </a:rPr>
              <a:t> + </a:t>
            </a:r>
            <a:r>
              <a:rPr lang="en-US" altLang="ko-KR" sz="2000" b="1">
                <a:latin typeface="+mn-ea"/>
              </a:rPr>
              <a:t>LangSmith </a:t>
            </a:r>
            <a:r>
              <a:rPr lang="ko-KR" altLang="en-US" sz="2000" b="1">
                <a:latin typeface="+mn-ea"/>
              </a:rPr>
              <a:t>기반 자동 평가 도입과 검색 품질 고도화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9A72A77-AD14-4143-AAAB-858BFD97C62C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n-ea"/>
              </a:rPr>
              <a:t>(4/6)</a:t>
            </a:r>
            <a:endParaRPr lang="ko-KR" altLang="en-US" sz="1400" b="1">
              <a:solidFill>
                <a:schemeClr val="bg1"/>
              </a:solidFill>
              <a:latin typeface="+mn-ea"/>
            </a:endParaRPr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91768DFA-DE01-4FC5-924E-1BF0F95E4258}"/>
              </a:ext>
            </a:extLst>
          </p:cNvPr>
          <p:cNvSpPr>
            <a:spLocks noGrp="1"/>
          </p:cNvSpPr>
          <p:nvPr/>
        </p:nvSpPr>
        <p:spPr>
          <a:xfrm>
            <a:off x="6652514" y="4975043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796FA834-84F7-42EF-A7D9-0ACE0A3491BA}"/>
              </a:ext>
            </a:extLst>
          </p:cNvPr>
          <p:cNvSpPr>
            <a:spLocks noGrp="1"/>
          </p:cNvSpPr>
          <p:nvPr/>
        </p:nvSpPr>
        <p:spPr>
          <a:xfrm>
            <a:off x="661367" y="4975043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12E0B78B-1636-40A6-93C5-055AB120C6E9}"/>
              </a:ext>
            </a:extLst>
          </p:cNvPr>
          <p:cNvSpPr>
            <a:spLocks noGrp="1"/>
          </p:cNvSpPr>
          <p:nvPr/>
        </p:nvSpPr>
        <p:spPr>
          <a:xfrm>
            <a:off x="3655741" y="4975043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3B0CA3A-152D-4015-BBF7-BD90D455AEAC}"/>
              </a:ext>
            </a:extLst>
          </p:cNvPr>
          <p:cNvSpPr txBox="1"/>
          <p:nvPr/>
        </p:nvSpPr>
        <p:spPr>
          <a:xfrm>
            <a:off x="6652514" y="4986728"/>
            <a:ext cx="1044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68%</a:t>
            </a:r>
            <a:endParaRPr lang="ko-KR" altLang="en-US" b="1">
              <a:latin typeface="+mn-ea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CFEDA02-0213-41AC-B4B0-4E942FE28EDC}"/>
              </a:ext>
            </a:extLst>
          </p:cNvPr>
          <p:cNvSpPr txBox="1"/>
          <p:nvPr/>
        </p:nvSpPr>
        <p:spPr>
          <a:xfrm>
            <a:off x="7423332" y="5025200"/>
            <a:ext cx="211548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테스트셋 정답률 상승 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08E6DD0-C667-46B6-B5D2-A493891973EB}"/>
              </a:ext>
            </a:extLst>
          </p:cNvPr>
          <p:cNvSpPr txBox="1"/>
          <p:nvPr/>
        </p:nvSpPr>
        <p:spPr>
          <a:xfrm>
            <a:off x="661367" y="4986728"/>
            <a:ext cx="7596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79%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D616FD4-E477-4107-9693-14F0216A0FD6}"/>
              </a:ext>
            </a:extLst>
          </p:cNvPr>
          <p:cNvSpPr txBox="1"/>
          <p:nvPr/>
        </p:nvSpPr>
        <p:spPr>
          <a:xfrm>
            <a:off x="1478886" y="5025200"/>
            <a:ext cx="2176854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solidFill>
                  <a:schemeClr val="tx1">
                    <a:lumMod val="95000"/>
                    <a:lumOff val="5000"/>
                  </a:schemeClr>
                </a:solidFill>
                <a:latin typeface="+mn-ea"/>
              </a:rPr>
              <a:t>주관부서 매칭 정확도 개선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70307BE-6598-47A1-83FA-D9EE14EEC7A5}"/>
              </a:ext>
            </a:extLst>
          </p:cNvPr>
          <p:cNvSpPr txBox="1"/>
          <p:nvPr/>
        </p:nvSpPr>
        <p:spPr>
          <a:xfrm>
            <a:off x="3655741" y="4986728"/>
            <a:ext cx="7286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89%</a:t>
            </a:r>
            <a:endParaRPr lang="ko-KR" altLang="en-US" b="1">
              <a:latin typeface="+mn-ea"/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A5407AD-CFBC-43CC-BCBD-A292FFBDCFD8}"/>
              </a:ext>
            </a:extLst>
          </p:cNvPr>
          <p:cNvSpPr txBox="1"/>
          <p:nvPr/>
        </p:nvSpPr>
        <p:spPr>
          <a:xfrm>
            <a:off x="4426442" y="5025200"/>
            <a:ext cx="220010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협업부서 정확도 대폭 향상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C34FC04-8356-4F3E-9921-3AEE8CC855B1}"/>
              </a:ext>
            </a:extLst>
          </p:cNvPr>
          <p:cNvSpPr txBox="1"/>
          <p:nvPr/>
        </p:nvSpPr>
        <p:spPr>
          <a:xfrm>
            <a:off x="4426442" y="5341747"/>
            <a:ext cx="220010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</a:rPr>
              <a:t>45 </a:t>
            </a:r>
            <a:r>
              <a:rPr lang="ko-KR" altLang="en-US" sz="1200" spc="-40">
                <a:solidFill>
                  <a:srgbClr val="2082C8"/>
                </a:solidFill>
                <a:latin typeface="+mn-ea"/>
              </a:rPr>
              <a:t>→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89%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</a:rPr>
              <a:t> </a:t>
            </a:r>
            <a:endParaRPr lang="ko-KR" altLang="en-US" sz="1200" b="1" spc="-6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866ACBC-4164-4D24-94BA-CF7A8D749112}"/>
              </a:ext>
            </a:extLst>
          </p:cNvPr>
          <p:cNvSpPr txBox="1"/>
          <p:nvPr/>
        </p:nvSpPr>
        <p:spPr>
          <a:xfrm>
            <a:off x="1520450" y="5341747"/>
            <a:ext cx="21397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63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ko-KR" altLang="en-US" sz="1200" spc="-40">
                <a:solidFill>
                  <a:srgbClr val="2082C8"/>
                </a:solidFill>
                <a:latin typeface="+mn-ea"/>
              </a:rPr>
              <a:t>→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79%</a:t>
            </a:r>
            <a:endParaRPr lang="ko-KR" altLang="en-US" sz="1200" b="1" spc="-6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1B1D1D1-F6F2-44BE-8FB7-60AF49C853F4}"/>
              </a:ext>
            </a:extLst>
          </p:cNvPr>
          <p:cNvSpPr txBox="1"/>
          <p:nvPr/>
        </p:nvSpPr>
        <p:spPr>
          <a:xfrm>
            <a:off x="7423332" y="5341747"/>
            <a:ext cx="22522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 </a:t>
            </a:r>
            <a:r>
              <a:rPr lang="en-US" altLang="ko-KR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37 </a:t>
            </a:r>
            <a:r>
              <a:rPr lang="ko-KR" altLang="en-US" sz="1200" b="1" spc="-40">
                <a:solidFill>
                  <a:srgbClr val="2082C8"/>
                </a:solidFill>
                <a:latin typeface="+mn-ea"/>
              </a:rPr>
              <a:t>→ </a:t>
            </a:r>
            <a:r>
              <a:rPr lang="en-US" altLang="ko-KR" sz="1200" b="1" spc="-40">
                <a:solidFill>
                  <a:srgbClr val="2082C8"/>
                </a:solidFill>
                <a:latin typeface="+mn-ea"/>
              </a:rPr>
              <a:t>58 </a:t>
            </a:r>
            <a:r>
              <a:rPr lang="ko-KR" altLang="en-US" sz="1200" b="1" spc="-40">
                <a:solidFill>
                  <a:srgbClr val="2082C8"/>
                </a:solidFill>
                <a:latin typeface="+mn-ea"/>
              </a:rPr>
              <a:t>→</a:t>
            </a:r>
            <a:r>
              <a:rPr lang="en-US" altLang="ko-KR" sz="1200" b="1" spc="-40">
                <a:solidFill>
                  <a:srgbClr val="2082C8"/>
                </a:solidFill>
                <a:latin typeface="+mn-ea"/>
              </a:rPr>
              <a:t> 68%</a:t>
            </a:r>
            <a:r>
              <a:rPr lang="en-US" altLang="ko-KR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endParaRPr lang="ko-KR" altLang="en-US" sz="1200" b="1" spc="-8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B1E69C4D-ADC3-431D-9705-D37264BD7D82}"/>
              </a:ext>
            </a:extLst>
          </p:cNvPr>
          <p:cNvSpPr/>
          <p:nvPr/>
        </p:nvSpPr>
        <p:spPr>
          <a:xfrm>
            <a:off x="351453" y="4003465"/>
            <a:ext cx="9267683" cy="505290"/>
          </a:xfrm>
          <a:prstGeom prst="rect">
            <a:avLst/>
          </a:prstGeom>
          <a:pattFill prst="pct25">
            <a:fgClr>
              <a:schemeClr val="accent1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>
                <a:solidFill>
                  <a:schemeClr val="tx1"/>
                </a:solidFill>
                <a:latin typeface="+mn-ea"/>
              </a:rPr>
              <a:t>점수 격차 기준 판정 도입으로 주관부서 매칭 및 협업부서 판단 정확도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,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테스트셋 정답률 개선 </a:t>
            </a:r>
          </a:p>
        </p:txBody>
      </p:sp>
      <p:grpSp>
        <p:nvGrpSpPr>
          <p:cNvPr id="63" name="그룹 62">
            <a:extLst>
              <a:ext uri="{FF2B5EF4-FFF2-40B4-BE49-F238E27FC236}">
                <a16:creationId xmlns:a16="http://schemas.microsoft.com/office/drawing/2014/main" id="{BBA3CC4C-109D-46B8-93DD-3494A90BF862}"/>
              </a:ext>
            </a:extLst>
          </p:cNvPr>
          <p:cNvGrpSpPr/>
          <p:nvPr/>
        </p:nvGrpSpPr>
        <p:grpSpPr>
          <a:xfrm>
            <a:off x="408628" y="4040384"/>
            <a:ext cx="511817" cy="431452"/>
            <a:chOff x="-895525" y="3274733"/>
            <a:chExt cx="619300" cy="474597"/>
          </a:xfrm>
        </p:grpSpPr>
        <p:sp>
          <p:nvSpPr>
            <p:cNvPr id="64" name="타원 63">
              <a:extLst>
                <a:ext uri="{FF2B5EF4-FFF2-40B4-BE49-F238E27FC236}">
                  <a16:creationId xmlns:a16="http://schemas.microsoft.com/office/drawing/2014/main" id="{AD398BF7-2A26-4E0B-969F-A094DA129D76}"/>
                </a:ext>
              </a:extLst>
            </p:cNvPr>
            <p:cNvSpPr/>
            <p:nvPr/>
          </p:nvSpPr>
          <p:spPr>
            <a:xfrm>
              <a:off x="-781050" y="3274733"/>
              <a:ext cx="504825" cy="47459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+mn-ea"/>
              </a:endParaRPr>
            </a:p>
          </p:txBody>
        </p:sp>
        <p:sp>
          <p:nvSpPr>
            <p:cNvPr id="67" name="화살표: 오른쪽 66">
              <a:extLst>
                <a:ext uri="{FF2B5EF4-FFF2-40B4-BE49-F238E27FC236}">
                  <a16:creationId xmlns:a16="http://schemas.microsoft.com/office/drawing/2014/main" id="{BB44404D-E889-40AE-91F9-8DA32BC9729D}"/>
                </a:ext>
              </a:extLst>
            </p:cNvPr>
            <p:cNvSpPr/>
            <p:nvPr/>
          </p:nvSpPr>
          <p:spPr>
            <a:xfrm>
              <a:off x="-895525" y="3297066"/>
              <a:ext cx="616600" cy="429929"/>
            </a:xfrm>
            <a:prstGeom prst="rightArrow">
              <a:avLst/>
            </a:prstGeom>
            <a:pattFill prst="pct25">
              <a:fgClr>
                <a:schemeClr val="accent1">
                  <a:lumMod val="40000"/>
                  <a:lumOff val="60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+mn-ea"/>
              </a:endParaRPr>
            </a:p>
          </p:txBody>
        </p:sp>
      </p:grpSp>
      <p:sp>
        <p:nvSpPr>
          <p:cNvPr id="68" name="직사각형 67">
            <a:extLst>
              <a:ext uri="{FF2B5EF4-FFF2-40B4-BE49-F238E27FC236}">
                <a16:creationId xmlns:a16="http://schemas.microsoft.com/office/drawing/2014/main" id="{634B68E6-9691-49B5-8BB6-98FDE372DE7C}"/>
              </a:ext>
            </a:extLst>
          </p:cNvPr>
          <p:cNvSpPr/>
          <p:nvPr/>
        </p:nvSpPr>
        <p:spPr>
          <a:xfrm>
            <a:off x="556286" y="702152"/>
            <a:ext cx="9020792" cy="4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400" b="1">
                <a:latin typeface="+mn-ea"/>
              </a:rPr>
              <a:t>RAGAS </a:t>
            </a:r>
            <a:r>
              <a:rPr lang="ko-KR" altLang="en-US" sz="1400" b="1">
                <a:latin typeface="+mn-ea"/>
              </a:rPr>
              <a:t>평가와 </a:t>
            </a:r>
            <a:r>
              <a:rPr lang="en-US" altLang="ko-KR" sz="1400" b="1">
                <a:latin typeface="+mn-ea"/>
              </a:rPr>
              <a:t>LangSmith</a:t>
            </a:r>
            <a:r>
              <a:rPr lang="ko-KR" altLang="en-US" sz="1400" b="1">
                <a:latin typeface="+mn-ea"/>
              </a:rPr>
              <a:t>를 활용해 판정 로직을 정밀화하고 검색 품질을 단계적으로 개선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69" name="그룹 68">
            <a:extLst>
              <a:ext uri="{FF2B5EF4-FFF2-40B4-BE49-F238E27FC236}">
                <a16:creationId xmlns:a16="http://schemas.microsoft.com/office/drawing/2014/main" id="{B85791DF-C4D1-4E47-B17C-E202D45B3F5B}"/>
              </a:ext>
            </a:extLst>
          </p:cNvPr>
          <p:cNvGrpSpPr/>
          <p:nvPr/>
        </p:nvGrpSpPr>
        <p:grpSpPr>
          <a:xfrm>
            <a:off x="310399" y="815379"/>
            <a:ext cx="194324" cy="180020"/>
            <a:chOff x="416496" y="3577457"/>
            <a:chExt cx="194324" cy="180020"/>
          </a:xfrm>
        </p:grpSpPr>
        <p:sp>
          <p:nvSpPr>
            <p:cNvPr id="70" name="모서리가 둥근 직사각형 320">
              <a:extLst>
                <a:ext uri="{FF2B5EF4-FFF2-40B4-BE49-F238E27FC236}">
                  <a16:creationId xmlns:a16="http://schemas.microsoft.com/office/drawing/2014/main" id="{2D2D06E9-8C50-4536-8A0A-68B55762539C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+mn-ea"/>
                <a:cs typeface="Arial" panose="020B0604020202020204" pitchFamily="34" charset="0"/>
              </a:endParaRPr>
            </a:p>
          </p:txBody>
        </p:sp>
        <p:pic>
          <p:nvPicPr>
            <p:cNvPr id="71" name="그림 70" descr="7.png">
              <a:extLst>
                <a:ext uri="{FF2B5EF4-FFF2-40B4-BE49-F238E27FC236}">
                  <a16:creationId xmlns:a16="http://schemas.microsoft.com/office/drawing/2014/main" id="{87BBC54F-1B09-4544-A016-1A45EBFA7F9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grpSp>
        <p:nvGrpSpPr>
          <p:cNvPr id="2" name="그룹 1">
            <a:extLst>
              <a:ext uri="{FF2B5EF4-FFF2-40B4-BE49-F238E27FC236}">
                <a16:creationId xmlns:a16="http://schemas.microsoft.com/office/drawing/2014/main" id="{437953E7-6F79-4584-A170-1EE178228B77}"/>
              </a:ext>
            </a:extLst>
          </p:cNvPr>
          <p:cNvGrpSpPr/>
          <p:nvPr/>
        </p:nvGrpSpPr>
        <p:grpSpPr>
          <a:xfrm>
            <a:off x="353354" y="1148234"/>
            <a:ext cx="4667625" cy="2740566"/>
            <a:chOff x="5083914" y="1148234"/>
            <a:chExt cx="4667625" cy="2740566"/>
          </a:xfrm>
        </p:grpSpPr>
        <p:sp>
          <p:nvSpPr>
            <p:cNvPr id="91" name="Shape 10">
              <a:extLst>
                <a:ext uri="{FF2B5EF4-FFF2-40B4-BE49-F238E27FC236}">
                  <a16:creationId xmlns:a16="http://schemas.microsoft.com/office/drawing/2014/main" id="{77EBBBFD-D2F1-4392-809F-F0195F6E44BA}"/>
                </a:ext>
              </a:extLst>
            </p:cNvPr>
            <p:cNvSpPr/>
            <p:nvPr/>
          </p:nvSpPr>
          <p:spPr>
            <a:xfrm>
              <a:off x="5083914" y="1306107"/>
              <a:ext cx="4535223" cy="2582693"/>
            </a:xfrm>
            <a:prstGeom prst="roundRect">
              <a:avLst>
                <a:gd name="adj" fmla="val 2633"/>
              </a:avLst>
            </a:prstGeom>
            <a:solidFill>
              <a:srgbClr val="FFFFFF"/>
            </a:solidFill>
            <a:ln w="12700">
              <a:solidFill>
                <a:srgbClr val="E1E6F0"/>
              </a:solidFill>
              <a:prstDash val="solid"/>
            </a:ln>
            <a:effectLst>
              <a:outerShdw blurRad="101600" dist="25400" dir="5400000" algn="bl" rotWithShape="0">
                <a:srgbClr val="6B7CA8">
                  <a:alpha val="12000"/>
                </a:srgbClr>
              </a:outerShdw>
            </a:effectLst>
          </p:spPr>
        </p: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7B672848-9232-48EB-84F0-A2D7E7FC53E4}"/>
                </a:ext>
              </a:extLst>
            </p:cNvPr>
            <p:cNvSpPr txBox="1"/>
            <p:nvPr/>
          </p:nvSpPr>
          <p:spPr>
            <a:xfrm>
              <a:off x="5481206" y="1509840"/>
              <a:ext cx="4270333" cy="54373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spcBef>
                  <a:spcPts val="400"/>
                </a:spcBef>
              </a:pPr>
              <a:r>
                <a:rPr lang="ko-KR" altLang="en-US" sz="1300" spc="-40">
                  <a:latin typeface="+mn-ea"/>
                </a:rPr>
                <a:t>기존 </a:t>
              </a:r>
              <a:r>
                <a:rPr lang="en-US" altLang="ko-KR" sz="1300" spc="-40">
                  <a:latin typeface="+mn-ea"/>
                </a:rPr>
                <a:t>LLM </a:t>
              </a:r>
              <a:r>
                <a:rPr lang="ko-KR" altLang="en-US" sz="1300" spc="-40">
                  <a:latin typeface="+mn-ea"/>
                </a:rPr>
                <a:t>판단을 먼저 확인하고 보완하던 로직을 </a:t>
              </a:r>
              <a:endParaRPr lang="en-US" altLang="ko-KR" sz="1300" spc="-40">
                <a:latin typeface="+mn-ea"/>
              </a:endParaRPr>
            </a:p>
            <a:p>
              <a:pPr>
                <a:spcBef>
                  <a:spcPts val="400"/>
                </a:spcBef>
              </a:pPr>
              <a:r>
                <a:rPr lang="ko-KR" altLang="en-US" sz="1300" spc="-40">
                  <a:latin typeface="+mn-ea"/>
                </a:rPr>
                <a:t>부서 간 유사도 점수 격차 기반 판정으로 정밀화</a:t>
              </a:r>
            </a:p>
          </p:txBody>
        </p:sp>
        <p:sp>
          <p:nvSpPr>
            <p:cNvPr id="77" name="사각형: 둥근 모서리 76">
              <a:extLst>
                <a:ext uri="{FF2B5EF4-FFF2-40B4-BE49-F238E27FC236}">
                  <a16:creationId xmlns:a16="http://schemas.microsoft.com/office/drawing/2014/main" id="{9B9AAB53-0B27-4520-97FA-828CD93836DC}"/>
                </a:ext>
              </a:extLst>
            </p:cNvPr>
            <p:cNvSpPr/>
            <p:nvPr/>
          </p:nvSpPr>
          <p:spPr>
            <a:xfrm>
              <a:off x="5084181" y="1148234"/>
              <a:ext cx="4534956" cy="315690"/>
            </a:xfrm>
            <a:prstGeom prst="roundRect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500" b="1" spc="-30">
                  <a:latin typeface="+mn-ea"/>
                </a:rPr>
                <a:t>핵심 개선 포인트</a:t>
              </a:r>
              <a:endParaRPr lang="ko-KR" altLang="en-US" sz="1500" b="1" spc="-30"/>
            </a:p>
          </p:txBody>
        </p:sp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1DFF6387-7555-4BF0-9DD1-E09D88E6A124}"/>
                </a:ext>
              </a:extLst>
            </p:cNvPr>
            <p:cNvSpPr txBox="1"/>
            <p:nvPr/>
          </p:nvSpPr>
          <p:spPr>
            <a:xfrm>
              <a:off x="5481206" y="2278539"/>
              <a:ext cx="3891395" cy="29238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ko-KR" altLang="en-US" sz="1300" spc="-40">
                  <a:latin typeface="+mn-ea"/>
                </a:rPr>
                <a:t>협업부서 과다 포함 문제 개선</a:t>
              </a:r>
            </a:p>
          </p:txBody>
        </p:sp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E4900A9D-240F-436D-89BF-AE73FC002740}"/>
                </a:ext>
              </a:extLst>
            </p:cNvPr>
            <p:cNvSpPr txBox="1"/>
            <p:nvPr/>
          </p:nvSpPr>
          <p:spPr>
            <a:xfrm>
              <a:off x="5481206" y="2773463"/>
              <a:ext cx="4057606" cy="29238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spcBef>
                  <a:spcPts val="400"/>
                </a:spcBef>
              </a:pPr>
              <a:r>
                <a:rPr lang="ko-KR" altLang="en-US" sz="1300" spc="-40">
                  <a:latin typeface="+mn-ea"/>
                </a:rPr>
                <a:t>금액 비교 </a:t>
              </a:r>
              <a:r>
                <a:rPr lang="en-US" altLang="ko-KR" sz="1300" spc="-40">
                  <a:latin typeface="+mn-ea"/>
                </a:rPr>
                <a:t>:</a:t>
              </a:r>
              <a:r>
                <a:rPr lang="ko-KR" altLang="en-US" sz="1300" spc="-40">
                  <a:latin typeface="+mn-ea"/>
                </a:rPr>
                <a:t> </a:t>
              </a:r>
              <a:r>
                <a:rPr lang="en-US" altLang="ko-KR" sz="1300" spc="-40">
                  <a:latin typeface="+mn-ea"/>
                </a:rPr>
                <a:t>LLM </a:t>
              </a:r>
              <a:r>
                <a:rPr lang="ko-KR" altLang="en-US" sz="1300" spc="-40">
                  <a:latin typeface="+mn-ea"/>
                </a:rPr>
                <a:t>판단에서 직접 코드 계산으로 수정</a:t>
              </a:r>
            </a:p>
          </p:txBody>
        </p:sp>
        <p:sp>
          <p:nvSpPr>
            <p:cNvPr id="82" name="TextBox 81">
              <a:extLst>
                <a:ext uri="{FF2B5EF4-FFF2-40B4-BE49-F238E27FC236}">
                  <a16:creationId xmlns:a16="http://schemas.microsoft.com/office/drawing/2014/main" id="{5E2ABFA0-B640-4B8D-91A7-CD720C8B254A}"/>
                </a:ext>
              </a:extLst>
            </p:cNvPr>
            <p:cNvSpPr txBox="1"/>
            <p:nvPr/>
          </p:nvSpPr>
          <p:spPr>
            <a:xfrm>
              <a:off x="5481206" y="3235224"/>
              <a:ext cx="4070426" cy="54373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spcBef>
                  <a:spcPts val="400"/>
                </a:spcBef>
              </a:pPr>
              <a:r>
                <a:rPr lang="ko-KR" altLang="en-US" sz="1300" spc="-40">
                  <a:latin typeface="+mn-ea"/>
                </a:rPr>
                <a:t>반복 재평가로 개선 효과 정량적 확인 </a:t>
              </a:r>
              <a:endParaRPr lang="en-US" altLang="ko-KR" sz="1300" spc="-40">
                <a:latin typeface="+mn-ea"/>
              </a:endParaRPr>
            </a:p>
            <a:p>
              <a:pPr>
                <a:spcBef>
                  <a:spcPts val="400"/>
                </a:spcBef>
              </a:pPr>
              <a:r>
                <a:rPr lang="en-US" altLang="ko-KR" sz="1300" spc="-80">
                  <a:latin typeface="+mn-ea"/>
                </a:rPr>
                <a:t>3</a:t>
              </a:r>
              <a:r>
                <a:rPr lang="ko-KR" altLang="en-US" sz="1300" spc="-80">
                  <a:latin typeface="+mn-ea"/>
                </a:rPr>
                <a:t>라운드에 걸쳐 정답률 단계적 개선 </a:t>
              </a:r>
              <a:r>
                <a:rPr lang="en-US" altLang="ko-KR" sz="1300" spc="-80">
                  <a:latin typeface="+mn-ea"/>
                </a:rPr>
                <a:t>(37</a:t>
              </a:r>
              <a:r>
                <a:rPr lang="ko-KR" altLang="en-US" sz="1300" spc="-80">
                  <a:latin typeface="+mn-ea"/>
                </a:rPr>
                <a:t>→</a:t>
              </a:r>
              <a:r>
                <a:rPr lang="en-US" altLang="ko-KR" sz="1300" spc="-80">
                  <a:latin typeface="+mn-ea"/>
                </a:rPr>
                <a:t>58</a:t>
              </a:r>
              <a:r>
                <a:rPr lang="ko-KR" altLang="en-US" sz="1300" spc="-80">
                  <a:latin typeface="+mn-ea"/>
                </a:rPr>
                <a:t>→</a:t>
              </a:r>
              <a:r>
                <a:rPr lang="en-US" altLang="ko-KR" sz="1300" spc="-80">
                  <a:latin typeface="+mn-ea"/>
                </a:rPr>
                <a:t>68%)</a:t>
              </a:r>
              <a:endParaRPr lang="ko-KR" altLang="en-US" sz="1300" spc="-80">
                <a:latin typeface="+mn-ea"/>
              </a:endParaRPr>
            </a:p>
          </p:txBody>
        </p:sp>
        <p:sp>
          <p:nvSpPr>
            <p:cNvPr id="83" name="Shape 13">
              <a:extLst>
                <a:ext uri="{FF2B5EF4-FFF2-40B4-BE49-F238E27FC236}">
                  <a16:creationId xmlns:a16="http://schemas.microsoft.com/office/drawing/2014/main" id="{43B3D376-C513-46D1-9C26-F6D7752A13E3}"/>
                </a:ext>
              </a:extLst>
            </p:cNvPr>
            <p:cNvSpPr/>
            <p:nvPr/>
          </p:nvSpPr>
          <p:spPr>
            <a:xfrm>
              <a:off x="5142201" y="2139561"/>
              <a:ext cx="4409431" cy="0"/>
            </a:xfrm>
            <a:prstGeom prst="line">
              <a:avLst/>
            </a:prstGeom>
            <a:noFill/>
            <a:ln w="9525">
              <a:solidFill>
                <a:srgbClr val="E1E6F0"/>
              </a:solidFill>
              <a:prstDash val="dash"/>
            </a:ln>
          </p:spPr>
        </p:sp>
        <p:sp>
          <p:nvSpPr>
            <p:cNvPr id="92" name="Shape 13">
              <a:extLst>
                <a:ext uri="{FF2B5EF4-FFF2-40B4-BE49-F238E27FC236}">
                  <a16:creationId xmlns:a16="http://schemas.microsoft.com/office/drawing/2014/main" id="{51DCD47B-4DFF-40D8-B95D-6FB1EC923583}"/>
                </a:ext>
              </a:extLst>
            </p:cNvPr>
            <p:cNvSpPr/>
            <p:nvPr/>
          </p:nvSpPr>
          <p:spPr>
            <a:xfrm>
              <a:off x="5142201" y="2666037"/>
              <a:ext cx="4409431" cy="0"/>
            </a:xfrm>
            <a:prstGeom prst="line">
              <a:avLst/>
            </a:prstGeom>
            <a:noFill/>
            <a:ln w="9525">
              <a:solidFill>
                <a:srgbClr val="E1E6F0"/>
              </a:solidFill>
              <a:prstDash val="dash"/>
            </a:ln>
          </p:spPr>
        </p:sp>
        <p:sp>
          <p:nvSpPr>
            <p:cNvPr id="93" name="Shape 13">
              <a:extLst>
                <a:ext uri="{FF2B5EF4-FFF2-40B4-BE49-F238E27FC236}">
                  <a16:creationId xmlns:a16="http://schemas.microsoft.com/office/drawing/2014/main" id="{9941CAED-E556-4C11-8F86-414A92C0FA47}"/>
                </a:ext>
              </a:extLst>
            </p:cNvPr>
            <p:cNvSpPr/>
            <p:nvPr/>
          </p:nvSpPr>
          <p:spPr>
            <a:xfrm>
              <a:off x="5142201" y="3161340"/>
              <a:ext cx="4409431" cy="0"/>
            </a:xfrm>
            <a:prstGeom prst="line">
              <a:avLst/>
            </a:prstGeom>
            <a:noFill/>
            <a:ln w="9525">
              <a:solidFill>
                <a:srgbClr val="E1E6F0"/>
              </a:solidFill>
              <a:prstDash val="dash"/>
            </a:ln>
          </p:spPr>
        </p:sp>
        <p:grpSp>
          <p:nvGrpSpPr>
            <p:cNvPr id="13" name="그룹 12">
              <a:extLst>
                <a:ext uri="{FF2B5EF4-FFF2-40B4-BE49-F238E27FC236}">
                  <a16:creationId xmlns:a16="http://schemas.microsoft.com/office/drawing/2014/main" id="{B625F4FE-8A54-4D58-9822-FCE06239A855}"/>
                </a:ext>
              </a:extLst>
            </p:cNvPr>
            <p:cNvGrpSpPr/>
            <p:nvPr/>
          </p:nvGrpSpPr>
          <p:grpSpPr>
            <a:xfrm>
              <a:off x="5167245" y="1635405"/>
              <a:ext cx="302999" cy="292608"/>
              <a:chOff x="5104899" y="1637275"/>
              <a:chExt cx="302999" cy="292608"/>
            </a:xfrm>
          </p:grpSpPr>
          <p:sp>
            <p:nvSpPr>
              <p:cNvPr id="94" name="Shape 30">
                <a:extLst>
                  <a:ext uri="{FF2B5EF4-FFF2-40B4-BE49-F238E27FC236}">
                    <a16:creationId xmlns:a16="http://schemas.microsoft.com/office/drawing/2014/main" id="{CD81A531-94E3-4523-997E-14DD3635E491}"/>
                  </a:ext>
                </a:extLst>
              </p:cNvPr>
              <p:cNvSpPr/>
              <p:nvPr/>
            </p:nvSpPr>
            <p:spPr>
              <a:xfrm>
                <a:off x="5115290" y="1637275"/>
                <a:ext cx="292608" cy="292608"/>
              </a:xfrm>
              <a:prstGeom prst="ellipse">
                <a:avLst/>
              </a:prstGeom>
              <a:solidFill>
                <a:srgbClr val="6795DD"/>
              </a:solidFill>
              <a:ln/>
            </p:spPr>
          </p:sp>
          <p:sp>
            <p:nvSpPr>
              <p:cNvPr id="95" name="Text 31">
                <a:extLst>
                  <a:ext uri="{FF2B5EF4-FFF2-40B4-BE49-F238E27FC236}">
                    <a16:creationId xmlns:a16="http://schemas.microsoft.com/office/drawing/2014/main" id="{92B37005-93DC-4E2A-BE51-A581879D47A5}"/>
                  </a:ext>
                </a:extLst>
              </p:cNvPr>
              <p:cNvSpPr txBox="1"/>
              <p:nvPr/>
            </p:nvSpPr>
            <p:spPr>
              <a:xfrm>
                <a:off x="5104899" y="1637275"/>
                <a:ext cx="292608" cy="29260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r>
                  <a:rPr lang="en-US" sz="1100" b="1">
                    <a:solidFill>
                      <a:srgbClr val="FFFFFF"/>
                    </a:solidFill>
                    <a:latin typeface="HY견고딕" pitchFamily="34" charset="0"/>
                    <a:ea typeface="HY견고딕" pitchFamily="34" charset="-122"/>
                    <a:cs typeface="HY견고딕" pitchFamily="34" charset="-120"/>
                  </a:rPr>
                  <a:t>1</a:t>
                </a:r>
                <a:endParaRPr lang="en-US" sz="1100" dirty="0"/>
              </a:p>
            </p:txBody>
          </p:sp>
        </p:grpSp>
        <p:grpSp>
          <p:nvGrpSpPr>
            <p:cNvPr id="12" name="그룹 11">
              <a:extLst>
                <a:ext uri="{FF2B5EF4-FFF2-40B4-BE49-F238E27FC236}">
                  <a16:creationId xmlns:a16="http://schemas.microsoft.com/office/drawing/2014/main" id="{7244287C-C3BD-435E-B1A5-C00D3FC74BA6}"/>
                </a:ext>
              </a:extLst>
            </p:cNvPr>
            <p:cNvGrpSpPr/>
            <p:nvPr/>
          </p:nvGrpSpPr>
          <p:grpSpPr>
            <a:xfrm>
              <a:off x="5172440" y="2275225"/>
              <a:ext cx="292608" cy="299016"/>
              <a:chOff x="5136072" y="2166708"/>
              <a:chExt cx="292608" cy="299016"/>
            </a:xfrm>
          </p:grpSpPr>
          <p:sp>
            <p:nvSpPr>
              <p:cNvPr id="97" name="Shape 37">
                <a:extLst>
                  <a:ext uri="{FF2B5EF4-FFF2-40B4-BE49-F238E27FC236}">
                    <a16:creationId xmlns:a16="http://schemas.microsoft.com/office/drawing/2014/main" id="{1B148B0F-10A7-4F4E-8A58-BC82DB48E4BD}"/>
                  </a:ext>
                </a:extLst>
              </p:cNvPr>
              <p:cNvSpPr/>
              <p:nvPr/>
            </p:nvSpPr>
            <p:spPr>
              <a:xfrm>
                <a:off x="5136072" y="2166708"/>
                <a:ext cx="292608" cy="292608"/>
              </a:xfrm>
              <a:prstGeom prst="ellipse">
                <a:avLst/>
              </a:prstGeom>
              <a:solidFill>
                <a:srgbClr val="6795DD"/>
              </a:solidFill>
              <a:ln/>
            </p:spPr>
          </p:sp>
          <p:sp>
            <p:nvSpPr>
              <p:cNvPr id="98" name="Text 38">
                <a:extLst>
                  <a:ext uri="{FF2B5EF4-FFF2-40B4-BE49-F238E27FC236}">
                    <a16:creationId xmlns:a16="http://schemas.microsoft.com/office/drawing/2014/main" id="{C2E0313E-BD3A-4030-92D2-32CA044D15B8}"/>
                  </a:ext>
                </a:extLst>
              </p:cNvPr>
              <p:cNvSpPr txBox="1"/>
              <p:nvPr/>
            </p:nvSpPr>
            <p:spPr>
              <a:xfrm>
                <a:off x="5136072" y="2173116"/>
                <a:ext cx="292608" cy="29260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r>
                  <a:rPr lang="en-US" sz="1100" b="1">
                    <a:solidFill>
                      <a:srgbClr val="FFFFFF"/>
                    </a:solidFill>
                    <a:latin typeface="HY견고딕" pitchFamily="34" charset="0"/>
                    <a:ea typeface="HY견고딕" pitchFamily="34" charset="-122"/>
                    <a:cs typeface="HY견고딕" pitchFamily="34" charset="-120"/>
                  </a:rPr>
                  <a:t>2</a:t>
                </a:r>
                <a:endParaRPr lang="en-US" sz="1100" dirty="0"/>
              </a:p>
            </p:txBody>
          </p:sp>
        </p:grpSp>
        <p:grpSp>
          <p:nvGrpSpPr>
            <p:cNvPr id="14" name="그룹 13">
              <a:extLst>
                <a:ext uri="{FF2B5EF4-FFF2-40B4-BE49-F238E27FC236}">
                  <a16:creationId xmlns:a16="http://schemas.microsoft.com/office/drawing/2014/main" id="{069D93BA-3E5C-4002-ACDD-7BEA859B8BB1}"/>
                </a:ext>
              </a:extLst>
            </p:cNvPr>
            <p:cNvGrpSpPr/>
            <p:nvPr/>
          </p:nvGrpSpPr>
          <p:grpSpPr>
            <a:xfrm>
              <a:off x="5172440" y="2773353"/>
              <a:ext cx="292608" cy="292608"/>
              <a:chOff x="5169505" y="2581811"/>
              <a:chExt cx="292608" cy="292608"/>
            </a:xfrm>
          </p:grpSpPr>
          <p:sp>
            <p:nvSpPr>
              <p:cNvPr id="99" name="Shape 44">
                <a:extLst>
                  <a:ext uri="{FF2B5EF4-FFF2-40B4-BE49-F238E27FC236}">
                    <a16:creationId xmlns:a16="http://schemas.microsoft.com/office/drawing/2014/main" id="{77E93DDA-3659-417A-AA88-5CC2EF9C9722}"/>
                  </a:ext>
                </a:extLst>
              </p:cNvPr>
              <p:cNvSpPr/>
              <p:nvPr/>
            </p:nvSpPr>
            <p:spPr>
              <a:xfrm>
                <a:off x="5169505" y="2581811"/>
                <a:ext cx="292608" cy="292608"/>
              </a:xfrm>
              <a:prstGeom prst="ellipse">
                <a:avLst/>
              </a:prstGeom>
              <a:solidFill>
                <a:srgbClr val="6795DD"/>
              </a:solidFill>
              <a:ln/>
            </p:spPr>
          </p:sp>
          <p:sp>
            <p:nvSpPr>
              <p:cNvPr id="100" name="Text 45">
                <a:extLst>
                  <a:ext uri="{FF2B5EF4-FFF2-40B4-BE49-F238E27FC236}">
                    <a16:creationId xmlns:a16="http://schemas.microsoft.com/office/drawing/2014/main" id="{1B11820E-2590-4B03-BCD9-CD2AFC647CDC}"/>
                  </a:ext>
                </a:extLst>
              </p:cNvPr>
              <p:cNvSpPr txBox="1"/>
              <p:nvPr/>
            </p:nvSpPr>
            <p:spPr>
              <a:xfrm>
                <a:off x="5169505" y="2581811"/>
                <a:ext cx="292608" cy="29260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r>
                  <a:rPr lang="en-US" sz="1100" b="1">
                    <a:solidFill>
                      <a:srgbClr val="FFFFFF"/>
                    </a:solidFill>
                    <a:latin typeface="HY견고딕" pitchFamily="34" charset="0"/>
                    <a:ea typeface="HY견고딕" pitchFamily="34" charset="-122"/>
                    <a:cs typeface="HY견고딕" pitchFamily="34" charset="-120"/>
                  </a:rPr>
                  <a:t>3</a:t>
                </a:r>
                <a:endParaRPr lang="en-US" sz="1100" dirty="0"/>
              </a:p>
            </p:txBody>
          </p:sp>
        </p:grpSp>
        <p:grpSp>
          <p:nvGrpSpPr>
            <p:cNvPr id="15" name="그룹 14">
              <a:extLst>
                <a:ext uri="{FF2B5EF4-FFF2-40B4-BE49-F238E27FC236}">
                  <a16:creationId xmlns:a16="http://schemas.microsoft.com/office/drawing/2014/main" id="{51B0BF19-3E8E-425D-A7F3-CC7FF5E35BD2}"/>
                </a:ext>
              </a:extLst>
            </p:cNvPr>
            <p:cNvGrpSpPr/>
            <p:nvPr/>
          </p:nvGrpSpPr>
          <p:grpSpPr>
            <a:xfrm>
              <a:off x="5172440" y="3360789"/>
              <a:ext cx="292608" cy="292608"/>
              <a:chOff x="5138700" y="3133064"/>
              <a:chExt cx="292608" cy="292608"/>
            </a:xfrm>
          </p:grpSpPr>
          <p:sp>
            <p:nvSpPr>
              <p:cNvPr id="102" name="Shape 51">
                <a:extLst>
                  <a:ext uri="{FF2B5EF4-FFF2-40B4-BE49-F238E27FC236}">
                    <a16:creationId xmlns:a16="http://schemas.microsoft.com/office/drawing/2014/main" id="{B511D697-374B-459E-A7D8-8DAB1E6E896A}"/>
                  </a:ext>
                </a:extLst>
              </p:cNvPr>
              <p:cNvSpPr/>
              <p:nvPr/>
            </p:nvSpPr>
            <p:spPr>
              <a:xfrm>
                <a:off x="5138700" y="3133064"/>
                <a:ext cx="292608" cy="292608"/>
              </a:xfrm>
              <a:prstGeom prst="ellipse">
                <a:avLst/>
              </a:prstGeom>
              <a:solidFill>
                <a:srgbClr val="6795DD"/>
              </a:solidFill>
              <a:ln/>
            </p:spPr>
          </p:sp>
          <p:sp>
            <p:nvSpPr>
              <p:cNvPr id="103" name="Text 52">
                <a:extLst>
                  <a:ext uri="{FF2B5EF4-FFF2-40B4-BE49-F238E27FC236}">
                    <a16:creationId xmlns:a16="http://schemas.microsoft.com/office/drawing/2014/main" id="{650677A3-60D1-4616-A467-94C0107E73F4}"/>
                  </a:ext>
                </a:extLst>
              </p:cNvPr>
              <p:cNvSpPr txBox="1"/>
              <p:nvPr/>
            </p:nvSpPr>
            <p:spPr>
              <a:xfrm>
                <a:off x="5138700" y="3133064"/>
                <a:ext cx="292608" cy="29260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r>
                  <a:rPr lang="en-US" sz="1100" b="1">
                    <a:solidFill>
                      <a:srgbClr val="FFFFFF"/>
                    </a:solidFill>
                    <a:latin typeface="HY견고딕" pitchFamily="34" charset="0"/>
                    <a:ea typeface="HY견고딕" pitchFamily="34" charset="-122"/>
                    <a:cs typeface="HY견고딕" pitchFamily="34" charset="-120"/>
                  </a:rPr>
                  <a:t>4</a:t>
                </a:r>
                <a:endParaRPr lang="en-US" sz="1100" dirty="0"/>
              </a:p>
            </p:txBody>
          </p:sp>
        </p:grpSp>
      </p:grpSp>
      <p:sp>
        <p:nvSpPr>
          <p:cNvPr id="106" name="Shape 42">
            <a:extLst>
              <a:ext uri="{FF2B5EF4-FFF2-40B4-BE49-F238E27FC236}">
                <a16:creationId xmlns:a16="http://schemas.microsoft.com/office/drawing/2014/main" id="{AC315E1C-02E3-484C-84B2-8A3F76AEDD56}"/>
              </a:ext>
            </a:extLst>
          </p:cNvPr>
          <p:cNvSpPr/>
          <p:nvPr/>
        </p:nvSpPr>
        <p:spPr>
          <a:xfrm>
            <a:off x="400396" y="5733441"/>
            <a:ext cx="707535" cy="276999"/>
          </a:xfrm>
          <a:prstGeom prst="roundRect">
            <a:avLst>
              <a:gd name="adj" fmla="val 6579"/>
            </a:avLst>
          </a:prstGeom>
          <a:solidFill>
            <a:srgbClr val="EEF2FB"/>
          </a:solidFill>
          <a:ln w="15875">
            <a:solidFill>
              <a:srgbClr val="F5F6F7"/>
            </a:solidFill>
            <a:prstDash val="solid"/>
          </a:ln>
          <a:effectLst>
            <a:outerShdw blurRad="127000" dist="38100" dir="5400000" algn="bl" rotWithShape="0">
              <a:srgbClr val="6B7CA8">
                <a:alpha val="16000"/>
              </a:srgbClr>
            </a:outerShdw>
          </a:effectLst>
        </p:spPr>
        <p:txBody>
          <a:bodyPr anchor="ctr" anchorCtr="0"/>
          <a:lstStyle/>
          <a:p>
            <a:pPr algn="ctr"/>
            <a:r>
              <a:rPr lang="en-US" altLang="ko-KR" sz="1200" b="1">
                <a:latin typeface="+mn-ea"/>
              </a:rPr>
              <a:t>2</a:t>
            </a:r>
            <a:r>
              <a:rPr lang="ko-KR" altLang="en-US" sz="1200" b="1">
                <a:latin typeface="+mn-ea"/>
              </a:rPr>
              <a:t>단계</a:t>
            </a:r>
          </a:p>
        </p:txBody>
      </p:sp>
      <p:sp>
        <p:nvSpPr>
          <p:cNvPr id="107" name="Shape 28">
            <a:extLst>
              <a:ext uri="{FF2B5EF4-FFF2-40B4-BE49-F238E27FC236}">
                <a16:creationId xmlns:a16="http://schemas.microsoft.com/office/drawing/2014/main" id="{0CFB4321-FE9B-4AAD-9EF6-52376E8AACEE}"/>
              </a:ext>
            </a:extLst>
          </p:cNvPr>
          <p:cNvSpPr/>
          <p:nvPr/>
        </p:nvSpPr>
        <p:spPr>
          <a:xfrm>
            <a:off x="400396" y="4632082"/>
            <a:ext cx="707535" cy="276999"/>
          </a:xfrm>
          <a:prstGeom prst="roundRect">
            <a:avLst>
              <a:gd name="adj" fmla="val 6579"/>
            </a:avLst>
          </a:prstGeom>
          <a:solidFill>
            <a:srgbClr val="F9FAFB"/>
          </a:solidFill>
          <a:ln w="12700">
            <a:noFill/>
            <a:prstDash val="solid"/>
          </a:ln>
          <a:effectLst>
            <a:outerShdw blurRad="127000" dist="38100" dir="5400000" algn="bl" rotWithShape="0">
              <a:srgbClr val="6B7CA8">
                <a:alpha val="16000"/>
              </a:srgbClr>
            </a:outerShdw>
          </a:effectLst>
        </p:spPr>
        <p:txBody>
          <a:bodyPr anchor="ctr" anchorCtr="0"/>
          <a:lstStyle/>
          <a:p>
            <a:pPr algn="ctr"/>
            <a:r>
              <a:rPr lang="en-US" altLang="ko-KR" sz="1200" b="1">
                <a:latin typeface="+mn-ea"/>
              </a:rPr>
              <a:t>1</a:t>
            </a:r>
            <a:r>
              <a:rPr lang="ko-KR" altLang="en-US" sz="1200" b="1">
                <a:latin typeface="+mn-ea"/>
              </a:rPr>
              <a:t>단계</a:t>
            </a:r>
          </a:p>
        </p:txBody>
      </p: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C9CF1A2E-1375-47D1-B83A-B95CC2923E08}"/>
              </a:ext>
            </a:extLst>
          </p:cNvPr>
          <p:cNvCxnSpPr/>
          <p:nvPr/>
        </p:nvCxnSpPr>
        <p:spPr>
          <a:xfrm>
            <a:off x="500611" y="4938602"/>
            <a:ext cx="0" cy="7476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1B45540B-BDCA-4D49-8046-4282C800EB23}"/>
              </a:ext>
            </a:extLst>
          </p:cNvPr>
          <p:cNvSpPr txBox="1"/>
          <p:nvPr/>
        </p:nvSpPr>
        <p:spPr>
          <a:xfrm>
            <a:off x="1193870" y="5717419"/>
            <a:ext cx="7875945" cy="3090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>
                <a:latin typeface="+mn-ea"/>
              </a:rPr>
              <a:t>모델 교체 성능 실험 </a:t>
            </a:r>
            <a:r>
              <a:rPr lang="en-US" altLang="ko-KR" sz="1400">
                <a:latin typeface="+mn-ea"/>
              </a:rPr>
              <a:t>(</a:t>
            </a:r>
            <a:r>
              <a:rPr lang="en-US" altLang="ko-KR" sz="1400" b="0" i="0">
                <a:solidFill>
                  <a:srgbClr val="1A1A1A"/>
                </a:solidFill>
                <a:effectLst/>
                <a:latin typeface="+mn-ea"/>
              </a:rPr>
              <a:t>gpt-4o-mini </a:t>
            </a:r>
            <a:r>
              <a:rPr lang="ko-KR" altLang="en-US" sz="1400" b="0" i="0">
                <a:solidFill>
                  <a:srgbClr val="1A1A1A"/>
                </a:solidFill>
                <a:effectLst/>
                <a:latin typeface="+mn-ea"/>
              </a:rPr>
              <a:t>→</a:t>
            </a:r>
            <a:r>
              <a:rPr lang="en-US" altLang="ko-KR" sz="1400" b="0" i="0">
                <a:solidFill>
                  <a:srgbClr val="1A1A1A"/>
                </a:solidFill>
                <a:effectLst/>
                <a:latin typeface="+mn-ea"/>
              </a:rPr>
              <a:t> GPT-5.6 Luna) </a:t>
            </a:r>
            <a:r>
              <a:rPr lang="ko-KR" altLang="en-US" sz="1400" b="1" i="0">
                <a:solidFill>
                  <a:srgbClr val="0000FF"/>
                </a:solidFill>
                <a:effectLst/>
                <a:latin typeface="+mn-ea"/>
              </a:rPr>
              <a:t>→ </a:t>
            </a:r>
            <a:r>
              <a:rPr lang="en-US" altLang="ko-KR" sz="1400" b="1" i="0">
                <a:solidFill>
                  <a:srgbClr val="0000FF"/>
                </a:solidFill>
                <a:effectLst/>
                <a:latin typeface="+mn-ea"/>
              </a:rPr>
              <a:t>GPT-5.6 Luna </a:t>
            </a:r>
            <a:r>
              <a:rPr lang="ko-KR" altLang="en-US" sz="1400" b="1">
                <a:solidFill>
                  <a:srgbClr val="0000FF"/>
                </a:solidFill>
                <a:latin typeface="+mn-ea"/>
              </a:rPr>
              <a:t>최종 채택</a:t>
            </a:r>
            <a:r>
              <a:rPr lang="en-US" altLang="ko-KR" sz="1400" b="1" i="0">
                <a:solidFill>
                  <a:srgbClr val="0000FF"/>
                </a:solidFill>
                <a:effectLst/>
                <a:latin typeface="+mn-ea"/>
              </a:rPr>
              <a:t> </a:t>
            </a:r>
            <a:endParaRPr lang="ko-KR" altLang="en-US" sz="1400" b="1">
              <a:solidFill>
                <a:srgbClr val="0000FF"/>
              </a:solidFill>
              <a:latin typeface="+mn-ea"/>
            </a:endParaRPr>
          </a:p>
        </p:txBody>
      </p:sp>
      <p:sp>
        <p:nvSpPr>
          <p:cNvPr id="108" name="사각형: 둥근 모서리 107">
            <a:extLst>
              <a:ext uri="{FF2B5EF4-FFF2-40B4-BE49-F238E27FC236}">
                <a16:creationId xmlns:a16="http://schemas.microsoft.com/office/drawing/2014/main" id="{720C8211-3D31-46E6-82E2-C5EFC19C1B26}"/>
              </a:ext>
            </a:extLst>
          </p:cNvPr>
          <p:cNvSpPr>
            <a:spLocks noGrp="1"/>
          </p:cNvSpPr>
          <p:nvPr/>
        </p:nvSpPr>
        <p:spPr>
          <a:xfrm>
            <a:off x="6652514" y="6083404"/>
            <a:ext cx="2928750" cy="634989"/>
          </a:xfrm>
          <a:prstGeom prst="roundRect">
            <a:avLst>
              <a:gd name="adj" fmla="val 5139"/>
            </a:avLst>
          </a:prstGeom>
          <a:solidFill>
            <a:srgbClr val="EDF1FA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109" name="사각형: 둥근 모서리 108">
            <a:extLst>
              <a:ext uri="{FF2B5EF4-FFF2-40B4-BE49-F238E27FC236}">
                <a16:creationId xmlns:a16="http://schemas.microsoft.com/office/drawing/2014/main" id="{088DAAA8-9DC5-4548-8047-C9B3703B54A9}"/>
              </a:ext>
            </a:extLst>
          </p:cNvPr>
          <p:cNvSpPr>
            <a:spLocks noGrp="1"/>
          </p:cNvSpPr>
          <p:nvPr/>
        </p:nvSpPr>
        <p:spPr>
          <a:xfrm>
            <a:off x="661367" y="6083404"/>
            <a:ext cx="2928750" cy="634989"/>
          </a:xfrm>
          <a:prstGeom prst="roundRect">
            <a:avLst>
              <a:gd name="adj" fmla="val 5139"/>
            </a:avLst>
          </a:prstGeom>
          <a:solidFill>
            <a:srgbClr val="EDF1FA"/>
          </a:solidFill>
          <a:ln>
            <a:solidFill>
              <a:srgbClr val="F4F5F9"/>
            </a:solidFill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110" name="사각형: 둥근 모서리 109">
            <a:extLst>
              <a:ext uri="{FF2B5EF4-FFF2-40B4-BE49-F238E27FC236}">
                <a16:creationId xmlns:a16="http://schemas.microsoft.com/office/drawing/2014/main" id="{84B7389D-3461-44C3-B2CA-DE323DAC97B3}"/>
              </a:ext>
            </a:extLst>
          </p:cNvPr>
          <p:cNvSpPr>
            <a:spLocks noGrp="1"/>
          </p:cNvSpPr>
          <p:nvPr/>
        </p:nvSpPr>
        <p:spPr>
          <a:xfrm>
            <a:off x="3655741" y="6083404"/>
            <a:ext cx="2928750" cy="634989"/>
          </a:xfrm>
          <a:prstGeom prst="roundRect">
            <a:avLst>
              <a:gd name="adj" fmla="val 5139"/>
            </a:avLst>
          </a:prstGeom>
          <a:solidFill>
            <a:srgbClr val="EDF1FA"/>
          </a:solidFill>
          <a:ln>
            <a:solidFill>
              <a:srgbClr val="F5F6F8"/>
            </a:solidFill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255D3001-8037-48DC-9746-440618D449FD}"/>
              </a:ext>
            </a:extLst>
          </p:cNvPr>
          <p:cNvSpPr txBox="1"/>
          <p:nvPr/>
        </p:nvSpPr>
        <p:spPr>
          <a:xfrm>
            <a:off x="6652514" y="6095089"/>
            <a:ext cx="1044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2</a:t>
            </a:r>
            <a:r>
              <a:rPr lang="ko-KR" altLang="en-US" b="1">
                <a:latin typeface="+mn-ea"/>
              </a:rPr>
              <a:t>배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C37BB6A8-827D-4EDC-AE6B-565E6BEBFDB2}"/>
              </a:ext>
            </a:extLst>
          </p:cNvPr>
          <p:cNvSpPr txBox="1"/>
          <p:nvPr/>
        </p:nvSpPr>
        <p:spPr>
          <a:xfrm>
            <a:off x="7430259" y="6133561"/>
            <a:ext cx="167073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응답속도 향상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088ED905-E046-44DE-9BDA-0006DD8D3C5D}"/>
              </a:ext>
            </a:extLst>
          </p:cNvPr>
          <p:cNvSpPr txBox="1"/>
          <p:nvPr/>
        </p:nvSpPr>
        <p:spPr>
          <a:xfrm>
            <a:off x="661367" y="6095089"/>
            <a:ext cx="7596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95%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9AFDB677-106A-4343-962D-6C91C9884C51}"/>
              </a:ext>
            </a:extLst>
          </p:cNvPr>
          <p:cNvSpPr txBox="1"/>
          <p:nvPr/>
        </p:nvSpPr>
        <p:spPr>
          <a:xfrm>
            <a:off x="1475422" y="6133561"/>
            <a:ext cx="2176854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solidFill>
                  <a:schemeClr val="tx1">
                    <a:lumMod val="95000"/>
                    <a:lumOff val="5000"/>
                  </a:schemeClr>
                </a:solidFill>
                <a:latin typeface="+mn-ea"/>
              </a:rPr>
              <a:t>주관부서 매칭 정확도 확보</a:t>
            </a: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DBE40E45-98C2-4793-8AC8-477FC71108C5}"/>
              </a:ext>
            </a:extLst>
          </p:cNvPr>
          <p:cNvSpPr txBox="1"/>
          <p:nvPr/>
        </p:nvSpPr>
        <p:spPr>
          <a:xfrm>
            <a:off x="3655741" y="6095089"/>
            <a:ext cx="7286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82%</a:t>
            </a:r>
            <a:endParaRPr lang="ko-KR" altLang="en-US" b="1">
              <a:latin typeface="+mn-ea"/>
            </a:endParaRP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43EA2E87-4185-45FC-A668-E8AC01F88D80}"/>
              </a:ext>
            </a:extLst>
          </p:cNvPr>
          <p:cNvSpPr txBox="1"/>
          <p:nvPr/>
        </p:nvSpPr>
        <p:spPr>
          <a:xfrm>
            <a:off x="4433369" y="6133561"/>
            <a:ext cx="220010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협업부서 정확도 소폭 감소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983B3707-0892-4A08-A7FB-6485BE76E4F4}"/>
              </a:ext>
            </a:extLst>
          </p:cNvPr>
          <p:cNvSpPr txBox="1"/>
          <p:nvPr/>
        </p:nvSpPr>
        <p:spPr>
          <a:xfrm>
            <a:off x="4433369" y="6450108"/>
            <a:ext cx="220010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89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</a:rPr>
              <a:t> </a:t>
            </a:r>
            <a:r>
              <a:rPr lang="ko-KR" altLang="en-US" sz="1200" spc="-40">
                <a:solidFill>
                  <a:srgbClr val="2082C8"/>
                </a:solidFill>
                <a:latin typeface="+mn-ea"/>
              </a:rPr>
              <a:t>→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82%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</a:rPr>
              <a:t> </a:t>
            </a:r>
            <a:endParaRPr lang="ko-KR" altLang="en-US" sz="1200" b="1" spc="-6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4BBE5666-1965-47CC-B8D8-0BF7ECE02400}"/>
              </a:ext>
            </a:extLst>
          </p:cNvPr>
          <p:cNvSpPr txBox="1"/>
          <p:nvPr/>
        </p:nvSpPr>
        <p:spPr>
          <a:xfrm>
            <a:off x="1516986" y="6450108"/>
            <a:ext cx="21397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79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ko-KR" altLang="en-US" sz="1200" spc="-40">
                <a:solidFill>
                  <a:srgbClr val="2082C8"/>
                </a:solidFill>
                <a:latin typeface="+mn-ea"/>
              </a:rPr>
              <a:t>→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95%</a:t>
            </a:r>
            <a:endParaRPr lang="ko-KR" altLang="en-US" sz="1200" b="1" spc="-6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5C6FC901-95A0-44B7-B609-F3A9F3CFDA35}"/>
              </a:ext>
            </a:extLst>
          </p:cNvPr>
          <p:cNvSpPr txBox="1"/>
          <p:nvPr/>
        </p:nvSpPr>
        <p:spPr>
          <a:xfrm>
            <a:off x="7430259" y="6450108"/>
            <a:ext cx="22522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 정답률은 </a:t>
            </a:r>
            <a:r>
              <a:rPr lang="en-US" altLang="ko-KR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68%</a:t>
            </a:r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로 동일</a:t>
            </a:r>
            <a:endParaRPr lang="ko-KR" altLang="en-US" sz="1200" b="1" spc="-8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D8F83686-E8B4-4E25-B19C-27817329F608}"/>
              </a:ext>
            </a:extLst>
          </p:cNvPr>
          <p:cNvSpPr txBox="1"/>
          <p:nvPr/>
        </p:nvSpPr>
        <p:spPr>
          <a:xfrm>
            <a:off x="1193870" y="4616693"/>
            <a:ext cx="495126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>
                <a:latin typeface="+mn-ea"/>
              </a:rPr>
              <a:t>RAGAS·LangSmith </a:t>
            </a:r>
            <a:r>
              <a:rPr lang="ko-KR" altLang="en-US" sz="1400">
                <a:latin typeface="+mn-ea"/>
              </a:rPr>
              <a:t>기반 평가 및 검색 로직 개선</a:t>
            </a:r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5A3DDC95-2A12-4E49-9088-F184AAF0B7B6}"/>
              </a:ext>
            </a:extLst>
          </p:cNvPr>
          <p:cNvGrpSpPr/>
          <p:nvPr/>
        </p:nvGrpSpPr>
        <p:grpSpPr>
          <a:xfrm>
            <a:off x="5033223" y="1148234"/>
            <a:ext cx="4535223" cy="2788065"/>
            <a:chOff x="351453" y="1148234"/>
            <a:chExt cx="4535223" cy="2788065"/>
          </a:xfrm>
        </p:grpSpPr>
        <p:sp>
          <p:nvSpPr>
            <p:cNvPr id="65" name="Shape 10">
              <a:extLst>
                <a:ext uri="{FF2B5EF4-FFF2-40B4-BE49-F238E27FC236}">
                  <a16:creationId xmlns:a16="http://schemas.microsoft.com/office/drawing/2014/main" id="{22591E7D-BAF5-475C-94CC-AFCA136B26C8}"/>
                </a:ext>
              </a:extLst>
            </p:cNvPr>
            <p:cNvSpPr/>
            <p:nvPr/>
          </p:nvSpPr>
          <p:spPr>
            <a:xfrm>
              <a:off x="351453" y="1306107"/>
              <a:ext cx="4535223" cy="2582693"/>
            </a:xfrm>
            <a:prstGeom prst="roundRect">
              <a:avLst>
                <a:gd name="adj" fmla="val 2633"/>
              </a:avLst>
            </a:prstGeom>
            <a:solidFill>
              <a:srgbClr val="FFFFFF"/>
            </a:solidFill>
            <a:ln w="12700">
              <a:solidFill>
                <a:srgbClr val="E1E6F0"/>
              </a:solidFill>
              <a:prstDash val="solid"/>
            </a:ln>
            <a:effectLst>
              <a:outerShdw blurRad="101600" dist="25400" dir="5400000" algn="bl" rotWithShape="0">
                <a:srgbClr val="6B7CA8">
                  <a:alpha val="12000"/>
                </a:srgbClr>
              </a:outerShdw>
            </a:effectLst>
          </p:spPr>
        </p:sp>
        <p:pic>
          <p:nvPicPr>
            <p:cNvPr id="5" name="그림 4">
              <a:extLst>
                <a:ext uri="{FF2B5EF4-FFF2-40B4-BE49-F238E27FC236}">
                  <a16:creationId xmlns:a16="http://schemas.microsoft.com/office/drawing/2014/main" id="{E0C020AD-6E54-46E0-97B0-59A01BE4046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98361" y="1459854"/>
              <a:ext cx="4445565" cy="2254216"/>
            </a:xfrm>
            <a:prstGeom prst="rect">
              <a:avLst/>
            </a:prstGeom>
          </p:spPr>
        </p:pic>
        <p:sp>
          <p:nvSpPr>
            <p:cNvPr id="74" name="사각형: 둥근 모서리 73">
              <a:extLst>
                <a:ext uri="{FF2B5EF4-FFF2-40B4-BE49-F238E27FC236}">
                  <a16:creationId xmlns:a16="http://schemas.microsoft.com/office/drawing/2014/main" id="{8C1FA852-ED91-4F3E-B886-6380C80049D8}"/>
                </a:ext>
              </a:extLst>
            </p:cNvPr>
            <p:cNvSpPr/>
            <p:nvPr/>
          </p:nvSpPr>
          <p:spPr>
            <a:xfrm>
              <a:off x="351453" y="1148234"/>
              <a:ext cx="4534956" cy="307315"/>
            </a:xfrm>
            <a:prstGeom prst="roundRect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500" b="1" spc="-30">
                  <a:latin typeface="+mn-ea"/>
                </a:rPr>
                <a:t>LangSmith</a:t>
              </a:r>
              <a:r>
                <a:rPr lang="ko-KR" altLang="en-US" sz="1500" b="1" spc="-30">
                  <a:latin typeface="+mn-ea"/>
                </a:rPr>
                <a:t>로 자동 채점된 테스트셋 평가 결과</a:t>
              </a:r>
              <a:r>
                <a:rPr lang="en-US" altLang="ko-KR" sz="1500" b="1" spc="-30">
                  <a:latin typeface="+mn-ea"/>
                </a:rPr>
                <a:t>*</a:t>
              </a:r>
              <a:endParaRPr lang="ko-KR" altLang="en-US" sz="1500" b="1" spc="-30"/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9F1399A8-F879-4FEC-9DFB-1D11467EC11B}"/>
                </a:ext>
              </a:extLst>
            </p:cNvPr>
            <p:cNvSpPr txBox="1"/>
            <p:nvPr/>
          </p:nvSpPr>
          <p:spPr>
            <a:xfrm>
              <a:off x="2566555" y="3674689"/>
              <a:ext cx="2286571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1100">
                  <a:latin typeface="+mn-ea"/>
                </a:rPr>
                <a:t>* </a:t>
              </a:r>
              <a:r>
                <a:rPr lang="ko-KR" altLang="en-US" sz="1100">
                  <a:latin typeface="+mn-ea"/>
                </a:rPr>
                <a:t>테스트셋 </a:t>
              </a:r>
              <a:r>
                <a:rPr lang="en-US" altLang="ko-KR" sz="1100">
                  <a:latin typeface="+mn-ea"/>
                </a:rPr>
                <a:t>19</a:t>
              </a:r>
              <a:r>
                <a:rPr lang="ko-KR" altLang="en-US" sz="1100">
                  <a:latin typeface="+mn-ea"/>
                </a:rPr>
                <a:t>건 기준</a:t>
              </a:r>
            </a:p>
          </p:txBody>
        </p:sp>
        <p:grpSp>
          <p:nvGrpSpPr>
            <p:cNvPr id="10" name="그룹 9">
              <a:extLst>
                <a:ext uri="{FF2B5EF4-FFF2-40B4-BE49-F238E27FC236}">
                  <a16:creationId xmlns:a16="http://schemas.microsoft.com/office/drawing/2014/main" id="{A879A11C-BFE7-4663-8070-C7683062E7FC}"/>
                </a:ext>
              </a:extLst>
            </p:cNvPr>
            <p:cNvGrpSpPr/>
            <p:nvPr/>
          </p:nvGrpSpPr>
          <p:grpSpPr>
            <a:xfrm>
              <a:off x="1065233" y="2172115"/>
              <a:ext cx="3820041" cy="551408"/>
              <a:chOff x="-3319430" y="2677076"/>
              <a:chExt cx="3820041" cy="551408"/>
            </a:xfrm>
          </p:grpSpPr>
          <p:sp>
            <p:nvSpPr>
              <p:cNvPr id="9" name="사각형: 둥근 모서리 8">
                <a:extLst>
                  <a:ext uri="{FF2B5EF4-FFF2-40B4-BE49-F238E27FC236}">
                    <a16:creationId xmlns:a16="http://schemas.microsoft.com/office/drawing/2014/main" id="{7034B27B-D7F7-49BF-8CF1-7AA52843A412}"/>
                  </a:ext>
                </a:extLst>
              </p:cNvPr>
              <p:cNvSpPr/>
              <p:nvPr/>
            </p:nvSpPr>
            <p:spPr>
              <a:xfrm>
                <a:off x="-3319430" y="2677076"/>
                <a:ext cx="3820041" cy="551408"/>
              </a:xfrm>
              <a:prstGeom prst="roundRect">
                <a:avLst/>
              </a:prstGeom>
              <a:noFill/>
              <a:ln w="19050">
                <a:solidFill>
                  <a:srgbClr val="0070C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pic>
            <p:nvPicPr>
              <p:cNvPr id="73" name="그림 72">
                <a:extLst>
                  <a:ext uri="{FF2B5EF4-FFF2-40B4-BE49-F238E27FC236}">
                    <a16:creationId xmlns:a16="http://schemas.microsoft.com/office/drawing/2014/main" id="{B2414B01-EA20-4F93-BFED-40DAB6411FC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-3254283" y="2706981"/>
                <a:ext cx="3711262" cy="487624"/>
              </a:xfrm>
              <a:prstGeom prst="rect">
                <a:avLst/>
              </a:prstGeom>
              <a:noFill/>
              <a:ln w="19050">
                <a:noFill/>
              </a:ln>
            </p:spPr>
          </p:pic>
        </p:grpSp>
        <p:sp>
          <p:nvSpPr>
            <p:cNvPr id="75" name="사각형: 둥근 모서리 74">
              <a:extLst>
                <a:ext uri="{FF2B5EF4-FFF2-40B4-BE49-F238E27FC236}">
                  <a16:creationId xmlns:a16="http://schemas.microsoft.com/office/drawing/2014/main" id="{B3369A65-3330-4382-810B-16F512116A9D}"/>
                </a:ext>
              </a:extLst>
            </p:cNvPr>
            <p:cNvSpPr/>
            <p:nvPr/>
          </p:nvSpPr>
          <p:spPr>
            <a:xfrm>
              <a:off x="3278007" y="1601231"/>
              <a:ext cx="1597664" cy="169741"/>
            </a:xfrm>
            <a:prstGeom prst="roundRect">
              <a:avLst/>
            </a:prstGeom>
            <a:noFill/>
            <a:ln w="1905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408059580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사각형: 둥근 모서리 85">
            <a:extLst>
              <a:ext uri="{FF2B5EF4-FFF2-40B4-BE49-F238E27FC236}">
                <a16:creationId xmlns:a16="http://schemas.microsoft.com/office/drawing/2014/main" id="{F3C05E7C-CB4F-4E36-B2BF-94B965EB8077}"/>
              </a:ext>
            </a:extLst>
          </p:cNvPr>
          <p:cNvSpPr>
            <a:spLocks noGrp="1"/>
          </p:cNvSpPr>
          <p:nvPr/>
        </p:nvSpPr>
        <p:spPr>
          <a:xfrm>
            <a:off x="417123" y="4295784"/>
            <a:ext cx="9159954" cy="1483130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5.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업무 입력부터 협업 요청까지 연결 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9A72A77-AD14-4143-AAAB-858BFD97C62C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j-ea"/>
                <a:ea typeface="+mj-ea"/>
              </a:rPr>
              <a:t>(5/6)</a:t>
            </a:r>
            <a:endParaRPr lang="ko-KR" altLang="en-US" sz="14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45981C6C-8822-4233-9480-4913D845F441}"/>
              </a:ext>
            </a:extLst>
          </p:cNvPr>
          <p:cNvSpPr/>
          <p:nvPr/>
        </p:nvSpPr>
        <p:spPr>
          <a:xfrm>
            <a:off x="4018162" y="1290892"/>
            <a:ext cx="1657198" cy="406475"/>
          </a:xfrm>
          <a:prstGeom prst="roundRect">
            <a:avLst/>
          </a:prstGeom>
          <a:solidFill>
            <a:srgbClr val="EDF1F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solidFill>
                  <a:srgbClr val="003D9B"/>
                </a:solidFill>
                <a:latin typeface="+mn-ea"/>
              </a:rPr>
              <a:t>1.</a:t>
            </a:r>
            <a:r>
              <a:rPr lang="ko-KR" altLang="en-US" sz="1500" b="1">
                <a:solidFill>
                  <a:srgbClr val="003D9B"/>
                </a:solidFill>
                <a:latin typeface="+mn-ea"/>
              </a:rPr>
              <a:t>업무 입력</a:t>
            </a:r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E7ECEBBB-44B4-462C-9FD9-E0DD183C58EA}"/>
              </a:ext>
            </a:extLst>
          </p:cNvPr>
          <p:cNvSpPr/>
          <p:nvPr/>
        </p:nvSpPr>
        <p:spPr>
          <a:xfrm>
            <a:off x="4018162" y="2096435"/>
            <a:ext cx="1657198" cy="406475"/>
          </a:xfrm>
          <a:prstGeom prst="roundRect">
            <a:avLst/>
          </a:prstGeom>
          <a:solidFill>
            <a:srgbClr val="157CC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500" b="1" spc="-40">
                <a:solidFill>
                  <a:schemeClr val="bg1"/>
                </a:solidFill>
                <a:latin typeface="+mn-ea"/>
              </a:rPr>
              <a:t>2.</a:t>
            </a:r>
            <a:r>
              <a:rPr lang="ko-KR" altLang="en-US" sz="1500" b="1" spc="-40">
                <a:solidFill>
                  <a:schemeClr val="bg1"/>
                </a:solidFill>
                <a:latin typeface="+mn-ea"/>
              </a:rPr>
              <a:t>절차</a:t>
            </a:r>
            <a:r>
              <a:rPr lang="en-US" altLang="ko-KR" sz="1500" b="1" spc="-40">
                <a:solidFill>
                  <a:schemeClr val="bg1"/>
                </a:solidFill>
                <a:latin typeface="+mn-ea"/>
              </a:rPr>
              <a:t>/</a:t>
            </a:r>
            <a:r>
              <a:rPr lang="ko-KR" altLang="en-US" sz="1500" b="1" spc="-40">
                <a:solidFill>
                  <a:schemeClr val="bg1"/>
                </a:solidFill>
                <a:latin typeface="+mn-ea"/>
              </a:rPr>
              <a:t>부서 확인</a:t>
            </a:r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76166D3E-CD2A-46AD-B0D6-633036C7B855}"/>
              </a:ext>
            </a:extLst>
          </p:cNvPr>
          <p:cNvSpPr/>
          <p:nvPr/>
        </p:nvSpPr>
        <p:spPr>
          <a:xfrm>
            <a:off x="4018163" y="2957030"/>
            <a:ext cx="1657197" cy="406475"/>
          </a:xfrm>
          <a:prstGeom prst="roundRect">
            <a:avLst/>
          </a:prstGeom>
          <a:solidFill>
            <a:srgbClr val="003D9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latin typeface="+mn-ea"/>
              </a:rPr>
              <a:t>3.</a:t>
            </a:r>
            <a:r>
              <a:rPr lang="ko-KR" altLang="en-US" sz="1500" b="1">
                <a:latin typeface="+mn-ea"/>
              </a:rPr>
              <a:t>협업 요청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9F1F9FE-BEAD-4DC4-84A8-B812553A8B16}"/>
              </a:ext>
            </a:extLst>
          </p:cNvPr>
          <p:cNvSpPr txBox="1"/>
          <p:nvPr/>
        </p:nvSpPr>
        <p:spPr>
          <a:xfrm>
            <a:off x="5685410" y="1228672"/>
            <a:ext cx="4221088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업무 내용을 자연어로 입력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60">
                <a:latin typeface="+mn-ea"/>
              </a:rPr>
              <a:t>사업장과 업무 유형 선택 </a:t>
            </a:r>
            <a:r>
              <a:rPr lang="en-US" altLang="ko-KR" sz="1300" spc="-60">
                <a:latin typeface="+mn-ea"/>
              </a:rPr>
              <a:t>(</a:t>
            </a:r>
            <a:r>
              <a:rPr lang="ko-KR" altLang="en-US" sz="1300" spc="-60">
                <a:latin typeface="+mn-ea"/>
              </a:rPr>
              <a:t>모르는 경우</a:t>
            </a:r>
            <a:r>
              <a:rPr lang="en-US" altLang="ko-KR" sz="1300" spc="-60">
                <a:latin typeface="+mn-ea"/>
              </a:rPr>
              <a:t>, </a:t>
            </a:r>
            <a:r>
              <a:rPr lang="ko-KR" altLang="en-US" sz="1300" spc="-60">
                <a:latin typeface="+mn-ea"/>
              </a:rPr>
              <a:t>미선택 가능</a:t>
            </a:r>
            <a:r>
              <a:rPr lang="en-US" altLang="ko-KR" sz="1300" spc="-60">
                <a:latin typeface="+mn-ea"/>
              </a:rPr>
              <a:t>)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1513667-2318-4EE2-9E0A-47E1A6AC3126}"/>
              </a:ext>
            </a:extLst>
          </p:cNvPr>
          <p:cNvSpPr txBox="1"/>
          <p:nvPr/>
        </p:nvSpPr>
        <p:spPr>
          <a:xfrm>
            <a:off x="5685410" y="2034215"/>
            <a:ext cx="4101344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관련 규정</a:t>
            </a:r>
            <a:r>
              <a:rPr lang="en-US" altLang="ko-KR" sz="1300" spc="-40">
                <a:latin typeface="+mn-ea"/>
              </a:rPr>
              <a:t>, </a:t>
            </a:r>
            <a:r>
              <a:rPr lang="ko-KR" altLang="en-US" sz="1300" spc="-40">
                <a:latin typeface="+mn-ea"/>
              </a:rPr>
              <a:t>지침을 해석해</a:t>
            </a: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업무 프로세스 안내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주관</a:t>
            </a:r>
            <a:r>
              <a:rPr lang="en-US" altLang="ko-KR" sz="1300" spc="-40">
                <a:latin typeface="+mn-ea"/>
              </a:rPr>
              <a:t>(</a:t>
            </a:r>
            <a:r>
              <a:rPr lang="ko-KR" altLang="en-US" sz="1300" spc="-40">
                <a:latin typeface="+mn-ea"/>
              </a:rPr>
              <a:t>협업</a:t>
            </a:r>
            <a:r>
              <a:rPr lang="en-US" altLang="ko-KR" sz="1300" spc="-40">
                <a:latin typeface="+mn-ea"/>
              </a:rPr>
              <a:t>) </a:t>
            </a:r>
            <a:r>
              <a:rPr lang="ko-KR" altLang="en-US" sz="1300" spc="-40">
                <a:latin typeface="+mn-ea"/>
              </a:rPr>
              <a:t>부서 세부내용 확인 → 요청부서 선택</a:t>
            </a:r>
            <a:endParaRPr lang="en-US" altLang="ko-KR" sz="1300" spc="-40">
              <a:latin typeface="+mn-ea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63172E6-297C-454C-8084-7AAAB8AA8108}"/>
              </a:ext>
            </a:extLst>
          </p:cNvPr>
          <p:cNvSpPr txBox="1"/>
          <p:nvPr/>
        </p:nvSpPr>
        <p:spPr>
          <a:xfrm>
            <a:off x="5685410" y="2775547"/>
            <a:ext cx="410134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요청 내용을 바탕으로 협업 메일 초안 작성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사용자가 내용 수정</a:t>
            </a:r>
            <a:r>
              <a:rPr lang="en-US" altLang="ko-KR" sz="1300" spc="-40">
                <a:latin typeface="+mn-ea"/>
              </a:rPr>
              <a:t>(</a:t>
            </a:r>
            <a:r>
              <a:rPr lang="ko-KR" altLang="en-US" sz="1300" spc="-40">
                <a:latin typeface="+mn-ea"/>
              </a:rPr>
              <a:t>보완</a:t>
            </a:r>
            <a:r>
              <a:rPr lang="en-US" altLang="ko-KR" sz="1300" spc="-40">
                <a:latin typeface="+mn-ea"/>
              </a:rPr>
              <a:t>) </a:t>
            </a:r>
            <a:r>
              <a:rPr lang="ko-KR" altLang="en-US" sz="1300" spc="-40">
                <a:latin typeface="+mn-ea"/>
              </a:rPr>
              <a:t>후</a:t>
            </a:r>
            <a:r>
              <a:rPr lang="en-US" altLang="ko-KR" sz="1300" spc="-40">
                <a:latin typeface="+mn-ea"/>
              </a:rPr>
              <a:t>, </a:t>
            </a:r>
            <a:r>
              <a:rPr lang="ko-KR" altLang="en-US" sz="1300" spc="-40">
                <a:latin typeface="+mn-ea"/>
              </a:rPr>
              <a:t>메일 발송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담당 부서의 회신 완료까지 진행 현황 확인</a:t>
            </a:r>
            <a:endParaRPr lang="en-US" altLang="ko-KR" sz="1300" spc="-40">
              <a:latin typeface="+mn-ea"/>
            </a:endParaRPr>
          </a:p>
        </p:txBody>
      </p:sp>
      <p:pic>
        <p:nvPicPr>
          <p:cNvPr id="54" name="그래픽 53" descr="갈매기형 화살표 단색으로 채워진">
            <a:extLst>
              <a:ext uri="{FF2B5EF4-FFF2-40B4-BE49-F238E27FC236}">
                <a16:creationId xmlns:a16="http://schemas.microsoft.com/office/drawing/2014/main" id="{6D602B2A-3F13-479E-932C-9CE5E2D13BA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5400000">
            <a:off x="4665450" y="1587729"/>
            <a:ext cx="362623" cy="624548"/>
          </a:xfrm>
          <a:prstGeom prst="rect">
            <a:avLst/>
          </a:prstGeom>
        </p:spPr>
      </p:pic>
      <p:pic>
        <p:nvPicPr>
          <p:cNvPr id="55" name="그래픽 54" descr="갈매기형 화살표 단색으로 채워진">
            <a:extLst>
              <a:ext uri="{FF2B5EF4-FFF2-40B4-BE49-F238E27FC236}">
                <a16:creationId xmlns:a16="http://schemas.microsoft.com/office/drawing/2014/main" id="{A41834EC-F964-4C89-85D1-2ED9B6371E6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5400000">
            <a:off x="4665450" y="2415046"/>
            <a:ext cx="362623" cy="624548"/>
          </a:xfrm>
          <a:prstGeom prst="rect">
            <a:avLst/>
          </a:prstGeom>
        </p:spPr>
      </p:pic>
      <p:cxnSp>
        <p:nvCxnSpPr>
          <p:cNvPr id="56" name="직선 연결선 55">
            <a:extLst>
              <a:ext uri="{FF2B5EF4-FFF2-40B4-BE49-F238E27FC236}">
                <a16:creationId xmlns:a16="http://schemas.microsoft.com/office/drawing/2014/main" id="{1C771CE0-A909-4638-A86F-DBE3ABE4EA63}"/>
              </a:ext>
            </a:extLst>
          </p:cNvPr>
          <p:cNvCxnSpPr>
            <a:cxnSpLocks/>
          </p:cNvCxnSpPr>
          <p:nvPr/>
        </p:nvCxnSpPr>
        <p:spPr>
          <a:xfrm>
            <a:off x="717795" y="4725997"/>
            <a:ext cx="8454183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F34A31BE-698E-4EED-9F0B-142B22C271F2}"/>
              </a:ext>
            </a:extLst>
          </p:cNvPr>
          <p:cNvSpPr txBox="1"/>
          <p:nvPr/>
        </p:nvSpPr>
        <p:spPr>
          <a:xfrm>
            <a:off x="862949" y="4384992"/>
            <a:ext cx="216897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/>
              <a:t>① 테스트 질의 입력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7DFE27D1-3AA1-4DA8-BC7D-4845152C606C}"/>
              </a:ext>
            </a:extLst>
          </p:cNvPr>
          <p:cNvSpPr txBox="1"/>
          <p:nvPr/>
        </p:nvSpPr>
        <p:spPr>
          <a:xfrm>
            <a:off x="835564" y="4938267"/>
            <a:ext cx="2223741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300" spc="-60"/>
              <a:t>5</a:t>
            </a:r>
            <a:r>
              <a:rPr lang="ko-KR" altLang="en-US" sz="1300" spc="-60"/>
              <a:t>억 이상 설비 투자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60D05675-3CB6-49F0-A215-9E6D7D8882CE}"/>
              </a:ext>
            </a:extLst>
          </p:cNvPr>
          <p:cNvSpPr txBox="1"/>
          <p:nvPr/>
        </p:nvSpPr>
        <p:spPr>
          <a:xfrm>
            <a:off x="3635271" y="4938267"/>
            <a:ext cx="2709560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60"/>
              <a:t>주관부서</a:t>
            </a:r>
            <a:r>
              <a:rPr lang="en-US" altLang="ko-KR" sz="1300" spc="-60"/>
              <a:t>+</a:t>
            </a:r>
            <a:r>
              <a:rPr lang="ko-KR" altLang="en-US" sz="1300" spc="-60"/>
              <a:t>협업부서 </a:t>
            </a:r>
            <a:r>
              <a:rPr lang="en-US" altLang="ko-KR" sz="1300" spc="-60"/>
              <a:t>3</a:t>
            </a:r>
            <a:r>
              <a:rPr lang="ko-KR" altLang="en-US" sz="1300" spc="-60"/>
              <a:t>개 도출</a:t>
            </a:r>
            <a:endParaRPr lang="en-US" altLang="ko-KR" sz="1300" spc="-60"/>
          </a:p>
          <a:p>
            <a:pPr algn="ctr"/>
            <a:r>
              <a:rPr lang="ko-KR" altLang="en-US" sz="1300" spc="-60"/>
              <a:t>워크플로우 패널 동시 제시 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A0AEE09C-9804-4EC5-802E-F5E99F7DC864}"/>
              </a:ext>
            </a:extLst>
          </p:cNvPr>
          <p:cNvSpPr txBox="1"/>
          <p:nvPr/>
        </p:nvSpPr>
        <p:spPr>
          <a:xfrm>
            <a:off x="3635271" y="5430847"/>
            <a:ext cx="270956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40"/>
              <a:t>주관부서 근거 </a:t>
            </a:r>
            <a:r>
              <a:rPr lang="en-US" altLang="ko-KR" sz="1300" spc="-40"/>
              <a:t>3</a:t>
            </a:r>
            <a:r>
              <a:rPr lang="ko-KR" altLang="en-US" sz="1300" spc="-40"/>
              <a:t>건 및 협업부서 도출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CF621287-5AF0-467C-95AB-19A462CB5238}"/>
              </a:ext>
            </a:extLst>
          </p:cNvPr>
          <p:cNvSpPr txBox="1"/>
          <p:nvPr/>
        </p:nvSpPr>
        <p:spPr>
          <a:xfrm>
            <a:off x="4062908" y="4384992"/>
            <a:ext cx="1854286" cy="307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/>
              <a:t>② </a:t>
            </a:r>
            <a:r>
              <a:rPr lang="en-US" altLang="ko-KR" sz="1400" b="1"/>
              <a:t>AI </a:t>
            </a:r>
            <a:r>
              <a:rPr lang="ko-KR" altLang="en-US" sz="1400" b="1"/>
              <a:t>처리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33C61194-C9B0-437F-9FC2-BCD1B486A971}"/>
              </a:ext>
            </a:extLst>
          </p:cNvPr>
          <p:cNvSpPr txBox="1"/>
          <p:nvPr/>
        </p:nvSpPr>
        <p:spPr>
          <a:xfrm>
            <a:off x="6803192" y="4384992"/>
            <a:ext cx="2391888" cy="307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/>
              <a:t>③ 협업 요청 확인</a:t>
            </a:r>
          </a:p>
        </p:txBody>
      </p:sp>
      <p:sp>
        <p:nvSpPr>
          <p:cNvPr id="87" name="직사각형 86">
            <a:extLst>
              <a:ext uri="{FF2B5EF4-FFF2-40B4-BE49-F238E27FC236}">
                <a16:creationId xmlns:a16="http://schemas.microsoft.com/office/drawing/2014/main" id="{24807FFB-D7F2-4A8E-8656-4617AEFDA05F}"/>
              </a:ext>
            </a:extLst>
          </p:cNvPr>
          <p:cNvSpPr/>
          <p:nvPr/>
        </p:nvSpPr>
        <p:spPr>
          <a:xfrm>
            <a:off x="556286" y="3739872"/>
            <a:ext cx="9020791" cy="4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파일럿 테스트</a:t>
            </a:r>
            <a:r>
              <a:rPr kumimoji="0" lang="en-US" altLang="ko-KR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: </a:t>
            </a:r>
            <a:r>
              <a:rPr lang="ko-KR" altLang="en-US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투자</a:t>
            </a:r>
            <a:r>
              <a:rPr lang="en-US" altLang="ko-KR" sz="1400"/>
              <a:t>·</a:t>
            </a:r>
            <a:r>
              <a:rPr lang="ko-KR" altLang="en-US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회계 연계 대표 질의 대응 </a:t>
            </a:r>
            <a:r>
              <a:rPr lang="en-US" altLang="ko-KR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AI</a:t>
            </a:r>
            <a:r>
              <a:rPr lang="ko-KR" altLang="en-US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 동작 검증 및 분석</a:t>
            </a:r>
            <a:r>
              <a:rPr lang="en-US" altLang="ko-KR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, </a:t>
            </a:r>
            <a:r>
              <a:rPr lang="ko-KR" altLang="en-US" sz="1400"/>
              <a:t>협업 메일 초안 작성</a:t>
            </a:r>
            <a:r>
              <a:rPr lang="en-US" altLang="ko-KR" sz="1400"/>
              <a:t>·</a:t>
            </a:r>
            <a:r>
              <a:rPr lang="ko-KR" altLang="en-US" sz="1400"/>
              <a:t>검토 흐름 확인</a:t>
            </a:r>
            <a:endParaRPr kumimoji="0" lang="en-US" altLang="ko-KR" sz="140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88" name="그룹 87">
            <a:extLst>
              <a:ext uri="{FF2B5EF4-FFF2-40B4-BE49-F238E27FC236}">
                <a16:creationId xmlns:a16="http://schemas.microsoft.com/office/drawing/2014/main" id="{658B2224-EF71-4CE7-ACE4-6325C2AB62E9}"/>
              </a:ext>
            </a:extLst>
          </p:cNvPr>
          <p:cNvGrpSpPr/>
          <p:nvPr/>
        </p:nvGrpSpPr>
        <p:grpSpPr>
          <a:xfrm>
            <a:off x="310399" y="3853099"/>
            <a:ext cx="194324" cy="180020"/>
            <a:chOff x="416496" y="3577457"/>
            <a:chExt cx="194324" cy="180020"/>
          </a:xfrm>
        </p:grpSpPr>
        <p:sp>
          <p:nvSpPr>
            <p:cNvPr id="89" name="모서리가 둥근 직사각형 320">
              <a:extLst>
                <a:ext uri="{FF2B5EF4-FFF2-40B4-BE49-F238E27FC236}">
                  <a16:creationId xmlns:a16="http://schemas.microsoft.com/office/drawing/2014/main" id="{F1230FAB-EAE2-49BF-94C7-F4C677DCB12F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90" name="그림 89" descr="7.png">
              <a:extLst>
                <a:ext uri="{FF2B5EF4-FFF2-40B4-BE49-F238E27FC236}">
                  <a16:creationId xmlns:a16="http://schemas.microsoft.com/office/drawing/2014/main" id="{6A204FBD-E43F-45F1-9812-47291227CED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D3B899FC-1121-411F-94D7-FA8AC50385C8}"/>
              </a:ext>
            </a:extLst>
          </p:cNvPr>
          <p:cNvSpPr/>
          <p:nvPr/>
        </p:nvSpPr>
        <p:spPr>
          <a:xfrm>
            <a:off x="556286" y="702152"/>
            <a:ext cx="5271758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『</a:t>
            </a:r>
            <a:r>
              <a:rPr lang="ko-KR" altLang="en-US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업무 지침 네비게이터</a:t>
            </a:r>
            <a:r>
              <a:rPr lang="en-US" altLang="ko-KR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』 </a:t>
            </a:r>
            <a:r>
              <a:rPr lang="ko-KR" altLang="en-US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주요 기능 구현 결과</a:t>
            </a:r>
            <a:endParaRPr kumimoji="0" lang="en-US" altLang="ko-KR" sz="1400" b="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46" name="그룹 45">
            <a:extLst>
              <a:ext uri="{FF2B5EF4-FFF2-40B4-BE49-F238E27FC236}">
                <a16:creationId xmlns:a16="http://schemas.microsoft.com/office/drawing/2014/main" id="{5D296A01-0467-4471-BFB7-716F6FEAD138}"/>
              </a:ext>
            </a:extLst>
          </p:cNvPr>
          <p:cNvGrpSpPr/>
          <p:nvPr/>
        </p:nvGrpSpPr>
        <p:grpSpPr>
          <a:xfrm>
            <a:off x="310399" y="812141"/>
            <a:ext cx="194324" cy="180020"/>
            <a:chOff x="416496" y="3577457"/>
            <a:chExt cx="194324" cy="180020"/>
          </a:xfrm>
        </p:grpSpPr>
        <p:sp>
          <p:nvSpPr>
            <p:cNvPr id="47" name="모서리가 둥근 직사각형 320">
              <a:extLst>
                <a:ext uri="{FF2B5EF4-FFF2-40B4-BE49-F238E27FC236}">
                  <a16:creationId xmlns:a16="http://schemas.microsoft.com/office/drawing/2014/main" id="{D5C715E3-3D6B-443B-959D-43AB6A203618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48" name="그림 47" descr="7.png">
              <a:extLst>
                <a:ext uri="{FF2B5EF4-FFF2-40B4-BE49-F238E27FC236}">
                  <a16:creationId xmlns:a16="http://schemas.microsoft.com/office/drawing/2014/main" id="{95E15549-020C-463B-9471-36C41955CCB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32" name="TextBox 31">
            <a:extLst>
              <a:ext uri="{FF2B5EF4-FFF2-40B4-BE49-F238E27FC236}">
                <a16:creationId xmlns:a16="http://schemas.microsoft.com/office/drawing/2014/main" id="{B75B54E4-3DB9-4357-89F4-5D95D4E300D3}"/>
              </a:ext>
            </a:extLst>
          </p:cNvPr>
          <p:cNvSpPr txBox="1"/>
          <p:nvPr/>
        </p:nvSpPr>
        <p:spPr>
          <a:xfrm>
            <a:off x="835564" y="5430847"/>
            <a:ext cx="2223741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60"/>
              <a:t>고정자산 감가상각 처리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5CADF0F-B5DE-493B-9922-4CC6E10A3F57}"/>
              </a:ext>
            </a:extLst>
          </p:cNvPr>
          <p:cNvSpPr txBox="1"/>
          <p:nvPr/>
        </p:nvSpPr>
        <p:spPr>
          <a:xfrm>
            <a:off x="6941126" y="5042177"/>
            <a:ext cx="2253953" cy="5309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300"/>
              </a:spcBef>
            </a:pPr>
            <a:r>
              <a:rPr lang="ko-KR" altLang="en-US" sz="1300"/>
              <a:t>메일 초안 검토 및</a:t>
            </a:r>
            <a:endParaRPr lang="en-US" altLang="ko-KR" sz="1300"/>
          </a:p>
          <a:p>
            <a:pPr algn="ctr">
              <a:spcBef>
                <a:spcPts val="300"/>
              </a:spcBef>
            </a:pPr>
            <a:r>
              <a:rPr lang="ko-KR" altLang="en-US" sz="1300"/>
              <a:t>수정 기능 정상 동작 점검 </a:t>
            </a:r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91768DFA-DE01-4FC5-924E-1BF0F95E4258}"/>
              </a:ext>
            </a:extLst>
          </p:cNvPr>
          <p:cNvSpPr>
            <a:spLocks noGrp="1"/>
          </p:cNvSpPr>
          <p:nvPr/>
        </p:nvSpPr>
        <p:spPr>
          <a:xfrm>
            <a:off x="410813" y="5931012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796FA834-84F7-42EF-A7D9-0ACE0A3491BA}"/>
              </a:ext>
            </a:extLst>
          </p:cNvPr>
          <p:cNvSpPr>
            <a:spLocks noGrp="1"/>
          </p:cNvSpPr>
          <p:nvPr/>
        </p:nvSpPr>
        <p:spPr>
          <a:xfrm>
            <a:off x="3532725" y="5931012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12E0B78B-1636-40A6-93C5-055AB120C6E9}"/>
              </a:ext>
            </a:extLst>
          </p:cNvPr>
          <p:cNvSpPr>
            <a:spLocks noGrp="1"/>
          </p:cNvSpPr>
          <p:nvPr/>
        </p:nvSpPr>
        <p:spPr>
          <a:xfrm>
            <a:off x="6648327" y="5931012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3B0CA3A-152D-4015-BBF7-BD90D455AEAC}"/>
              </a:ext>
            </a:extLst>
          </p:cNvPr>
          <p:cNvSpPr txBox="1"/>
          <p:nvPr/>
        </p:nvSpPr>
        <p:spPr>
          <a:xfrm>
            <a:off x="410813" y="5937415"/>
            <a:ext cx="1044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10/10</a:t>
            </a:r>
            <a:r>
              <a:rPr lang="ko-KR" altLang="en-US" b="1">
                <a:latin typeface="+mn-ea"/>
              </a:rPr>
              <a:t>건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CFEDA02-0213-41AC-B4B0-4E942FE28EDC}"/>
              </a:ext>
            </a:extLst>
          </p:cNvPr>
          <p:cNvSpPr txBox="1"/>
          <p:nvPr/>
        </p:nvSpPr>
        <p:spPr>
          <a:xfrm>
            <a:off x="1336882" y="5975887"/>
            <a:ext cx="213683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60"/>
              <a:t>업무 분류 정확도 확보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08E6DD0-C667-46B6-B5D2-A493891973EB}"/>
              </a:ext>
            </a:extLst>
          </p:cNvPr>
          <p:cNvSpPr txBox="1"/>
          <p:nvPr/>
        </p:nvSpPr>
        <p:spPr>
          <a:xfrm>
            <a:off x="3532725" y="5937415"/>
            <a:ext cx="11033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3/10</a:t>
            </a:r>
            <a:r>
              <a:rPr lang="ko-KR" altLang="en-US" b="1">
                <a:latin typeface="+mn-ea"/>
              </a:rPr>
              <a:t>건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D616FD4-E477-4107-9693-14F0216A0FD6}"/>
              </a:ext>
            </a:extLst>
          </p:cNvPr>
          <p:cNvSpPr txBox="1"/>
          <p:nvPr/>
        </p:nvSpPr>
        <p:spPr>
          <a:xfrm>
            <a:off x="4388344" y="5975887"/>
            <a:ext cx="197058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60">
                <a:solidFill>
                  <a:schemeClr val="tx1">
                    <a:lumMod val="95000"/>
                    <a:lumOff val="5000"/>
                  </a:schemeClr>
                </a:solidFill>
              </a:rPr>
              <a:t>범위 외 질문 답변 제한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70307BE-6598-47A1-83FA-D9EE14EEC7A5}"/>
              </a:ext>
            </a:extLst>
          </p:cNvPr>
          <p:cNvSpPr txBox="1"/>
          <p:nvPr/>
        </p:nvSpPr>
        <p:spPr>
          <a:xfrm>
            <a:off x="6648327" y="5937415"/>
            <a:ext cx="7277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6</a:t>
            </a:r>
            <a:r>
              <a:rPr lang="ko-KR" altLang="en-US" b="1">
                <a:latin typeface="+mn-ea"/>
              </a:rPr>
              <a:t>초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A5407AD-CFBC-43CC-BCBD-A292FFBDCFD8}"/>
              </a:ext>
            </a:extLst>
          </p:cNvPr>
          <p:cNvSpPr txBox="1"/>
          <p:nvPr/>
        </p:nvSpPr>
        <p:spPr>
          <a:xfrm>
            <a:off x="7231990" y="5975887"/>
            <a:ext cx="2358818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60"/>
              <a:t>업무 입력 </a:t>
            </a:r>
            <a:r>
              <a:rPr lang="en-US" altLang="ko-KR" sz="1300" spc="-60"/>
              <a:t>~ </a:t>
            </a:r>
            <a:r>
              <a:rPr lang="ko-KR" altLang="en-US" sz="1300" spc="-60"/>
              <a:t>이메일 초안 작성 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C34FC04-8356-4F3E-9921-3AEE8CC855B1}"/>
              </a:ext>
            </a:extLst>
          </p:cNvPr>
          <p:cNvSpPr txBox="1"/>
          <p:nvPr/>
        </p:nvSpPr>
        <p:spPr>
          <a:xfrm>
            <a:off x="7231990" y="6297716"/>
            <a:ext cx="208531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60">
                <a:solidFill>
                  <a:srgbClr val="0F64C0"/>
                </a:solidFill>
                <a:sym typeface="Wingdings" panose="05000000000000000000" pitchFamily="2" charset="2"/>
              </a:rPr>
              <a:t> 기존</a:t>
            </a:r>
            <a:r>
              <a:rPr lang="ko-KR" altLang="en-US" sz="1200" b="1" spc="-60">
                <a:solidFill>
                  <a:srgbClr val="0F64C0"/>
                </a:solidFill>
              </a:rPr>
              <a:t>대비 처리시간 단축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866ACBC-4164-4D24-94BA-CF7A8D749112}"/>
              </a:ext>
            </a:extLst>
          </p:cNvPr>
          <p:cNvSpPr txBox="1"/>
          <p:nvPr/>
        </p:nvSpPr>
        <p:spPr>
          <a:xfrm>
            <a:off x="4388344" y="6297716"/>
            <a:ext cx="197058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60">
                <a:solidFill>
                  <a:srgbClr val="0F64C0"/>
                </a:solidFill>
                <a:sym typeface="Wingdings" panose="05000000000000000000" pitchFamily="2" charset="2"/>
              </a:rPr>
              <a:t> 부정확한 답변 생성  </a:t>
            </a:r>
            <a:r>
              <a:rPr lang="en-US" altLang="ko-KR" sz="1200" b="1" spc="-60">
                <a:solidFill>
                  <a:srgbClr val="0F64C0"/>
                </a:solidFill>
                <a:sym typeface="Wingdings" panose="05000000000000000000" pitchFamily="2" charset="2"/>
              </a:rPr>
              <a:t>0</a:t>
            </a:r>
            <a:r>
              <a:rPr lang="ko-KR" altLang="en-US" sz="1200" b="1" spc="-60">
                <a:solidFill>
                  <a:srgbClr val="0F64C0"/>
                </a:solidFill>
                <a:sym typeface="Wingdings" panose="05000000000000000000" pitchFamily="2" charset="2"/>
              </a:rPr>
              <a:t>건</a:t>
            </a:r>
            <a:endParaRPr lang="ko-KR" altLang="en-US" sz="1200" b="1" spc="-60">
              <a:solidFill>
                <a:srgbClr val="0F64C0"/>
              </a:solidFill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1B1D1D1-F6F2-44BE-8FB7-60AF49C853F4}"/>
              </a:ext>
            </a:extLst>
          </p:cNvPr>
          <p:cNvSpPr txBox="1"/>
          <p:nvPr/>
        </p:nvSpPr>
        <p:spPr>
          <a:xfrm>
            <a:off x="1262387" y="6297716"/>
            <a:ext cx="235210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sym typeface="Wingdings" panose="05000000000000000000" pitchFamily="2" charset="2"/>
              </a:rPr>
              <a:t> </a:t>
            </a:r>
            <a:r>
              <a:rPr lang="en-US" altLang="ko-KR" sz="1200" b="1" spc="-80">
                <a:solidFill>
                  <a:srgbClr val="0F64C0"/>
                </a:solidFill>
                <a:sym typeface="Wingdings" panose="05000000000000000000" pitchFamily="2" charset="2"/>
              </a:rPr>
              <a:t>100</a:t>
            </a:r>
            <a:r>
              <a:rPr lang="en-US" altLang="ko-KR" sz="1200" b="1" spc="-80">
                <a:solidFill>
                  <a:srgbClr val="0F64C0"/>
                </a:solidFill>
              </a:rPr>
              <a:t>%  (</a:t>
            </a:r>
            <a:r>
              <a:rPr lang="ko-KR" altLang="en-US" sz="1200" b="1" spc="-80">
                <a:solidFill>
                  <a:srgbClr val="0F64C0"/>
                </a:solidFill>
              </a:rPr>
              <a:t>투자</a:t>
            </a:r>
            <a:r>
              <a:rPr lang="en-US" altLang="ko-KR" sz="1200" b="1">
                <a:solidFill>
                  <a:srgbClr val="00B0F0"/>
                </a:solidFill>
                <a:latin typeface="+mn-ea"/>
              </a:rPr>
              <a:t>·</a:t>
            </a:r>
            <a:r>
              <a:rPr lang="ko-KR" altLang="en-US" sz="1200" b="1" spc="-80">
                <a:solidFill>
                  <a:srgbClr val="0F64C0"/>
                </a:solidFill>
              </a:rPr>
              <a:t>회계범위 질문 限</a:t>
            </a:r>
            <a:r>
              <a:rPr lang="en-US" altLang="ko-KR" sz="1200" b="1" spc="-80">
                <a:solidFill>
                  <a:srgbClr val="0F64C0"/>
                </a:solidFill>
              </a:rPr>
              <a:t>) </a:t>
            </a:r>
            <a:endParaRPr lang="ko-KR" altLang="en-US" sz="1200" b="1" spc="-80">
              <a:solidFill>
                <a:srgbClr val="0F64C0"/>
              </a:solidFill>
            </a:endParaRPr>
          </a:p>
        </p:txBody>
      </p:sp>
      <p:pic>
        <p:nvPicPr>
          <p:cNvPr id="65" name="Image 4" descr="/tmp/claude-0/-home-claude/946d89a8-cd71-5282-af60-49c1ab8579af/scratchpad/work/assets/cpu_blue.png">
            <a:extLst>
              <a:ext uri="{FF2B5EF4-FFF2-40B4-BE49-F238E27FC236}">
                <a16:creationId xmlns:a16="http://schemas.microsoft.com/office/drawing/2014/main" id="{885DEA6F-B991-4C40-8C05-D6FD0F18A53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19482" y="4753390"/>
            <a:ext cx="299258" cy="299258"/>
          </a:xfrm>
          <a:prstGeom prst="rect">
            <a:avLst/>
          </a:prstGeom>
        </p:spPr>
      </p:pic>
      <p:pic>
        <p:nvPicPr>
          <p:cNvPr id="66" name="Image 3" descr="/tmp/claude-0/-home-claude/946d89a8-cd71-5282-af60-49c1ab8579af/scratchpad/work/assets/users_blue.png">
            <a:extLst>
              <a:ext uri="{FF2B5EF4-FFF2-40B4-BE49-F238E27FC236}">
                <a16:creationId xmlns:a16="http://schemas.microsoft.com/office/drawing/2014/main" id="{1EA4566F-5A70-4095-8FBB-BCF2BAE1242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2139" y="4753390"/>
            <a:ext cx="299258" cy="299258"/>
          </a:xfrm>
          <a:prstGeom prst="rect">
            <a:avLst/>
          </a:prstGeom>
        </p:spPr>
      </p:pic>
      <p:pic>
        <p:nvPicPr>
          <p:cNvPr id="8" name="그래픽 7" descr="전자 메일 단색으로 채워진">
            <a:extLst>
              <a:ext uri="{FF2B5EF4-FFF2-40B4-BE49-F238E27FC236}">
                <a16:creationId xmlns:a16="http://schemas.microsoft.com/office/drawing/2014/main" id="{448C896C-0F04-42CA-9C1A-CD4ACF47AA49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831756" y="4747176"/>
            <a:ext cx="291356" cy="291356"/>
          </a:xfrm>
          <a:prstGeom prst="rect">
            <a:avLst/>
          </a:prstGeom>
        </p:spPr>
      </p:pic>
      <p:pic>
        <p:nvPicPr>
          <p:cNvPr id="5" name="그림 4">
            <a:hlinkClick r:id="rId9" action="ppaction://hlinkfile"/>
            <a:extLst>
              <a:ext uri="{FF2B5EF4-FFF2-40B4-BE49-F238E27FC236}">
                <a16:creationId xmlns:a16="http://schemas.microsoft.com/office/drawing/2014/main" id="{AEE86CA0-2D91-494D-AA7D-58705289DE60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07561" y="1123557"/>
            <a:ext cx="3301994" cy="25482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60155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2000" b="1" spc="-10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6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. AI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활용을 위한 첫걸음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,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그리고 다음 과제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AF15DD7A-DA56-4E27-B8B9-99D16B1EAAD7}"/>
              </a:ext>
            </a:extLst>
          </p:cNvPr>
          <p:cNvSpPr/>
          <p:nvPr/>
        </p:nvSpPr>
        <p:spPr>
          <a:xfrm>
            <a:off x="556286" y="3970534"/>
            <a:ext cx="9034370" cy="4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향후 계획</a:t>
            </a:r>
            <a:r>
              <a:rPr lang="en-US" altLang="ko-KR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: </a:t>
            </a:r>
            <a:r>
              <a:rPr lang="ko-KR" altLang="en-US" sz="1400"/>
              <a:t>데이터 보완과 현업 검증을 거쳐 적용 범위를 단계적으로 확대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29476FCD-9DE7-46DD-B543-6C57D2954689}"/>
              </a:ext>
            </a:extLst>
          </p:cNvPr>
          <p:cNvGrpSpPr/>
          <p:nvPr/>
        </p:nvGrpSpPr>
        <p:grpSpPr>
          <a:xfrm>
            <a:off x="310399" y="4083761"/>
            <a:ext cx="194324" cy="180020"/>
            <a:chOff x="416496" y="3577457"/>
            <a:chExt cx="194324" cy="180020"/>
          </a:xfrm>
        </p:grpSpPr>
        <p:sp>
          <p:nvSpPr>
            <p:cNvPr id="49" name="모서리가 둥근 직사각형 320">
              <a:extLst>
                <a:ext uri="{FF2B5EF4-FFF2-40B4-BE49-F238E27FC236}">
                  <a16:creationId xmlns:a16="http://schemas.microsoft.com/office/drawing/2014/main" id="{E9BE25AB-1104-4DD5-AC3E-6DDBF8D648F9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51" name="그림 50" descr="7.png">
              <a:extLst>
                <a:ext uri="{FF2B5EF4-FFF2-40B4-BE49-F238E27FC236}">
                  <a16:creationId xmlns:a16="http://schemas.microsoft.com/office/drawing/2014/main" id="{555C5E72-6381-4E1B-BA5E-ACD3D13B771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CA3B9E35-C842-441D-B20A-3172A92BE66B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j-ea"/>
                <a:ea typeface="+mj-ea"/>
              </a:rPr>
              <a:t>(6/6)</a:t>
            </a:r>
            <a:endParaRPr lang="ko-KR" altLang="en-US" sz="14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A6396DB5-C4C0-4342-B110-E6F18BC28618}"/>
              </a:ext>
            </a:extLst>
          </p:cNvPr>
          <p:cNvSpPr/>
          <p:nvPr/>
        </p:nvSpPr>
        <p:spPr>
          <a:xfrm>
            <a:off x="380299" y="6062335"/>
            <a:ext cx="9289581" cy="505290"/>
          </a:xfrm>
          <a:prstGeom prst="rect">
            <a:avLst/>
          </a:prstGeom>
          <a:pattFill prst="pct25">
            <a:fgClr>
              <a:schemeClr val="accent1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500" b="1">
                <a:solidFill>
                  <a:schemeClr val="tx1"/>
                </a:solidFill>
              </a:rPr>
              <a:t>             </a:t>
            </a:r>
            <a:r>
              <a:rPr lang="ko-KR" altLang="en-US" sz="1500" b="1" spc="-40">
                <a:solidFill>
                  <a:schemeClr val="tx1"/>
                </a:solidFill>
              </a:rPr>
              <a:t>실제 업무 검증을 바탕으로 </a:t>
            </a:r>
            <a:r>
              <a:rPr lang="ko-KR" altLang="en-US" sz="1500" b="1">
                <a:solidFill>
                  <a:schemeClr val="tx1"/>
                </a:solidFill>
              </a:rPr>
              <a:t>서비스의 완성도를 높이고</a:t>
            </a:r>
            <a:r>
              <a:rPr lang="en-US" altLang="ko-KR" sz="1500" b="1">
                <a:solidFill>
                  <a:schemeClr val="tx1"/>
                </a:solidFill>
              </a:rPr>
              <a:t>, </a:t>
            </a:r>
            <a:r>
              <a:rPr lang="ko-KR" altLang="en-US" sz="1500" b="1">
                <a:solidFill>
                  <a:schemeClr val="tx1"/>
                </a:solidFill>
              </a:rPr>
              <a:t>효과가 확인된 업무부터 적용 범위를 확대</a:t>
            </a:r>
            <a:endParaRPr lang="ko-KR" altLang="en-US" sz="1500" b="1" spc="-40">
              <a:solidFill>
                <a:schemeClr val="tx1"/>
              </a:solidFill>
              <a:latin typeface="+mn-ea"/>
            </a:endParaRPr>
          </a:p>
        </p:txBody>
      </p:sp>
      <p:grpSp>
        <p:nvGrpSpPr>
          <p:cNvPr id="60" name="그룹 59">
            <a:extLst>
              <a:ext uri="{FF2B5EF4-FFF2-40B4-BE49-F238E27FC236}">
                <a16:creationId xmlns:a16="http://schemas.microsoft.com/office/drawing/2014/main" id="{F739FA52-0BC8-41ED-96A4-C21CDA0939AE}"/>
              </a:ext>
            </a:extLst>
          </p:cNvPr>
          <p:cNvGrpSpPr/>
          <p:nvPr/>
        </p:nvGrpSpPr>
        <p:grpSpPr>
          <a:xfrm>
            <a:off x="388532" y="6099254"/>
            <a:ext cx="511817" cy="431452"/>
            <a:chOff x="-895525" y="3274733"/>
            <a:chExt cx="619300" cy="474597"/>
          </a:xfrm>
        </p:grpSpPr>
        <p:sp>
          <p:nvSpPr>
            <p:cNvPr id="61" name="타원 60">
              <a:extLst>
                <a:ext uri="{FF2B5EF4-FFF2-40B4-BE49-F238E27FC236}">
                  <a16:creationId xmlns:a16="http://schemas.microsoft.com/office/drawing/2014/main" id="{FE250C78-B1EC-4C84-B61C-88D384CA99F2}"/>
                </a:ext>
              </a:extLst>
            </p:cNvPr>
            <p:cNvSpPr/>
            <p:nvPr/>
          </p:nvSpPr>
          <p:spPr>
            <a:xfrm>
              <a:off x="-781050" y="3274733"/>
              <a:ext cx="504825" cy="47459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3" name="화살표: 오른쪽 62">
              <a:extLst>
                <a:ext uri="{FF2B5EF4-FFF2-40B4-BE49-F238E27FC236}">
                  <a16:creationId xmlns:a16="http://schemas.microsoft.com/office/drawing/2014/main" id="{665DD529-1989-4A76-A5A4-B68BE9A4FCF2}"/>
                </a:ext>
              </a:extLst>
            </p:cNvPr>
            <p:cNvSpPr/>
            <p:nvPr/>
          </p:nvSpPr>
          <p:spPr>
            <a:xfrm>
              <a:off x="-895525" y="3297066"/>
              <a:ext cx="616600" cy="429929"/>
            </a:xfrm>
            <a:prstGeom prst="rightArrow">
              <a:avLst/>
            </a:prstGeom>
            <a:pattFill prst="pct25">
              <a:fgClr>
                <a:schemeClr val="accent1">
                  <a:lumMod val="40000"/>
                  <a:lumOff val="60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cxnSp>
        <p:nvCxnSpPr>
          <p:cNvPr id="36" name="직선 연결선 35">
            <a:extLst>
              <a:ext uri="{FF2B5EF4-FFF2-40B4-BE49-F238E27FC236}">
                <a16:creationId xmlns:a16="http://schemas.microsoft.com/office/drawing/2014/main" id="{2A27BA35-F808-4CD6-941D-604A42AE0488}"/>
              </a:ext>
            </a:extLst>
          </p:cNvPr>
          <p:cNvCxnSpPr>
            <a:cxnSpLocks/>
          </p:cNvCxnSpPr>
          <p:nvPr/>
        </p:nvCxnSpPr>
        <p:spPr>
          <a:xfrm>
            <a:off x="352511" y="4833356"/>
            <a:ext cx="9299601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5" name="그룹 44">
            <a:extLst>
              <a:ext uri="{FF2B5EF4-FFF2-40B4-BE49-F238E27FC236}">
                <a16:creationId xmlns:a16="http://schemas.microsoft.com/office/drawing/2014/main" id="{BD16EDC6-7CE1-4175-9471-C5D89E61B5CB}"/>
              </a:ext>
            </a:extLst>
          </p:cNvPr>
          <p:cNvGrpSpPr/>
          <p:nvPr/>
        </p:nvGrpSpPr>
        <p:grpSpPr>
          <a:xfrm>
            <a:off x="362747" y="4478495"/>
            <a:ext cx="2783225" cy="307777"/>
            <a:chOff x="536919" y="4223182"/>
            <a:chExt cx="2783225" cy="307777"/>
          </a:xfrm>
        </p:grpSpPr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E4D2E093-91DA-45AF-A8B9-B128F972257E}"/>
                </a:ext>
              </a:extLst>
            </p:cNvPr>
            <p:cNvSpPr txBox="1"/>
            <p:nvPr/>
          </p:nvSpPr>
          <p:spPr>
            <a:xfrm>
              <a:off x="536919" y="4223182"/>
              <a:ext cx="90587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단기 </a:t>
              </a:r>
              <a:r>
                <a:rPr lang="ko-KR" altLang="en-US" sz="1400" b="1">
                  <a:solidFill>
                    <a:schemeClr val="bg1">
                      <a:lumMod val="75000"/>
                    </a:schemeClr>
                  </a:solidFill>
                </a:rPr>
                <a:t>ㅣ</a:t>
              </a: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EB108567-8770-4855-A685-5EF08269B08A}"/>
                </a:ext>
              </a:extLst>
            </p:cNvPr>
            <p:cNvSpPr txBox="1"/>
            <p:nvPr/>
          </p:nvSpPr>
          <p:spPr>
            <a:xfrm>
              <a:off x="1168292" y="4223182"/>
              <a:ext cx="215185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품질 보완</a:t>
              </a:r>
            </a:p>
          </p:txBody>
        </p:sp>
      </p:grpSp>
      <p:grpSp>
        <p:nvGrpSpPr>
          <p:cNvPr id="73" name="그룹 72">
            <a:extLst>
              <a:ext uri="{FF2B5EF4-FFF2-40B4-BE49-F238E27FC236}">
                <a16:creationId xmlns:a16="http://schemas.microsoft.com/office/drawing/2014/main" id="{C63B8C5B-3788-47CD-B9CA-F34E39003916}"/>
              </a:ext>
            </a:extLst>
          </p:cNvPr>
          <p:cNvGrpSpPr/>
          <p:nvPr/>
        </p:nvGrpSpPr>
        <p:grpSpPr>
          <a:xfrm>
            <a:off x="3312776" y="4478495"/>
            <a:ext cx="2783225" cy="307777"/>
            <a:chOff x="536919" y="4223182"/>
            <a:chExt cx="2783225" cy="307777"/>
          </a:xfrm>
        </p:grpSpPr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8BE8EAA6-2743-4783-8EE2-08BE5D460A97}"/>
                </a:ext>
              </a:extLst>
            </p:cNvPr>
            <p:cNvSpPr txBox="1"/>
            <p:nvPr/>
          </p:nvSpPr>
          <p:spPr>
            <a:xfrm>
              <a:off x="536919" y="4223182"/>
              <a:ext cx="90587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중기 </a:t>
              </a:r>
              <a:r>
                <a:rPr lang="ko-KR" altLang="en-US" sz="1400" b="1">
                  <a:solidFill>
                    <a:schemeClr val="bg1">
                      <a:lumMod val="75000"/>
                    </a:schemeClr>
                  </a:solidFill>
                </a:rPr>
                <a:t>ㅣ</a:t>
              </a:r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80F45BD0-6251-45BC-866F-75BE32884DED}"/>
                </a:ext>
              </a:extLst>
            </p:cNvPr>
            <p:cNvSpPr txBox="1"/>
            <p:nvPr/>
          </p:nvSpPr>
          <p:spPr>
            <a:xfrm>
              <a:off x="1168292" y="4223182"/>
              <a:ext cx="215185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현업 검증</a:t>
              </a:r>
            </a:p>
          </p:txBody>
        </p:sp>
      </p:grpSp>
      <p:grpSp>
        <p:nvGrpSpPr>
          <p:cNvPr id="76" name="그룹 75">
            <a:extLst>
              <a:ext uri="{FF2B5EF4-FFF2-40B4-BE49-F238E27FC236}">
                <a16:creationId xmlns:a16="http://schemas.microsoft.com/office/drawing/2014/main" id="{95471A17-20BA-4D50-AF45-AF865A36983A}"/>
              </a:ext>
            </a:extLst>
          </p:cNvPr>
          <p:cNvGrpSpPr/>
          <p:nvPr/>
        </p:nvGrpSpPr>
        <p:grpSpPr>
          <a:xfrm>
            <a:off x="6868887" y="4478495"/>
            <a:ext cx="2783225" cy="307777"/>
            <a:chOff x="536919" y="4223182"/>
            <a:chExt cx="2783225" cy="307777"/>
          </a:xfrm>
        </p:grpSpPr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2C8B14B0-E30E-4CF7-A7A7-E5B75802E26A}"/>
                </a:ext>
              </a:extLst>
            </p:cNvPr>
            <p:cNvSpPr txBox="1"/>
            <p:nvPr/>
          </p:nvSpPr>
          <p:spPr>
            <a:xfrm>
              <a:off x="536919" y="4223182"/>
              <a:ext cx="90587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향후 </a:t>
              </a:r>
              <a:r>
                <a:rPr lang="ko-KR" altLang="en-US" sz="1400" b="1">
                  <a:solidFill>
                    <a:schemeClr val="bg1">
                      <a:lumMod val="75000"/>
                    </a:schemeClr>
                  </a:solidFill>
                </a:rPr>
                <a:t>ㅣ</a:t>
              </a:r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7A750E79-6577-482D-9CF9-C671BF8159FB}"/>
                </a:ext>
              </a:extLst>
            </p:cNvPr>
            <p:cNvSpPr txBox="1"/>
            <p:nvPr/>
          </p:nvSpPr>
          <p:spPr>
            <a:xfrm>
              <a:off x="1168292" y="4223182"/>
              <a:ext cx="215185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단계적 확대</a:t>
              </a:r>
            </a:p>
          </p:txBody>
        </p:sp>
      </p:grpSp>
      <p:sp>
        <p:nvSpPr>
          <p:cNvPr id="86" name="TextBox 85">
            <a:extLst>
              <a:ext uri="{FF2B5EF4-FFF2-40B4-BE49-F238E27FC236}">
                <a16:creationId xmlns:a16="http://schemas.microsoft.com/office/drawing/2014/main" id="{C95049D1-FC54-4668-A3DA-3E5819ABBF8A}"/>
              </a:ext>
            </a:extLst>
          </p:cNvPr>
          <p:cNvSpPr txBox="1"/>
          <p:nvPr/>
        </p:nvSpPr>
        <p:spPr>
          <a:xfrm>
            <a:off x="360341" y="4982366"/>
            <a:ext cx="295980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대표 </a:t>
            </a:r>
            <a:r>
              <a:rPr lang="en-US" altLang="ko-KR" sz="1300" spc="-40">
                <a:latin typeface="+mn-ea"/>
              </a:rPr>
              <a:t>3~5</a:t>
            </a:r>
            <a:r>
              <a:rPr lang="ko-KR" altLang="en-US" sz="1300" spc="-40">
                <a:latin typeface="+mn-ea"/>
              </a:rPr>
              <a:t>개 부서의 업무 데이터 정비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7E794966-039E-4F50-8E07-D120EC9CC40D}"/>
              </a:ext>
            </a:extLst>
          </p:cNvPr>
          <p:cNvSpPr txBox="1"/>
          <p:nvPr/>
        </p:nvSpPr>
        <p:spPr>
          <a:xfrm>
            <a:off x="360341" y="5486518"/>
            <a:ext cx="2959800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50">
                <a:latin typeface="+mn-ea"/>
              </a:rPr>
              <a:t>핵심 기능 검증</a:t>
            </a:r>
            <a:r>
              <a:rPr lang="en-US" altLang="ko-KR" sz="1300" spc="-50">
                <a:latin typeface="+mn-ea"/>
              </a:rPr>
              <a:t>, </a:t>
            </a:r>
            <a:r>
              <a:rPr lang="ko-KR" altLang="en-US" sz="1300" spc="-50">
                <a:latin typeface="+mn-ea"/>
              </a:rPr>
              <a:t>서버 확인 절차 등 </a:t>
            </a:r>
            <a:endParaRPr lang="en-US" altLang="ko-KR" sz="1300" spc="-50">
              <a:latin typeface="+mn-ea"/>
            </a:endParaRPr>
          </a:p>
          <a:p>
            <a:r>
              <a:rPr lang="ko-KR" altLang="en-US" sz="1300" spc="-50">
                <a:latin typeface="+mn-ea"/>
              </a:rPr>
              <a:t>안전장치 보완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773E6AF5-A624-43C8-947D-5EE5E92C333B}"/>
              </a:ext>
            </a:extLst>
          </p:cNvPr>
          <p:cNvSpPr txBox="1"/>
          <p:nvPr/>
        </p:nvSpPr>
        <p:spPr>
          <a:xfrm>
            <a:off x="3332140" y="4982366"/>
            <a:ext cx="3631368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60"/>
              <a:t>과제 제안자와 실제 사용자 대상 시범 운영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3B9F7B80-E34E-4956-8D94-CD2B38F66EBB}"/>
              </a:ext>
            </a:extLst>
          </p:cNvPr>
          <p:cNvSpPr txBox="1"/>
          <p:nvPr/>
        </p:nvSpPr>
        <p:spPr>
          <a:xfrm>
            <a:off x="3332140" y="5486518"/>
            <a:ext cx="3177515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사용자 의견 반영해 안내 방식 보완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81FDD0D6-52C0-488E-A014-75F411499CFF}"/>
              </a:ext>
            </a:extLst>
          </p:cNvPr>
          <p:cNvSpPr txBox="1"/>
          <p:nvPr/>
        </p:nvSpPr>
        <p:spPr>
          <a:xfrm>
            <a:off x="6868887" y="4982366"/>
            <a:ext cx="2670365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검증된 업무 중심 적용 범위 확대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74780FFA-EC75-4D49-B7B4-9D6ABB2B0B10}"/>
              </a:ext>
            </a:extLst>
          </p:cNvPr>
          <p:cNvSpPr txBox="1"/>
          <p:nvPr/>
        </p:nvSpPr>
        <p:spPr>
          <a:xfrm>
            <a:off x="6868887" y="5486518"/>
            <a:ext cx="3177515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사규 앱</a:t>
            </a:r>
            <a:r>
              <a:rPr lang="en-US" altLang="ko-KR" sz="1300" spc="-40"/>
              <a:t>(</a:t>
            </a:r>
            <a:r>
              <a:rPr lang="ko-KR" altLang="en-US" sz="1300" spc="-40"/>
              <a:t>사내 시스템</a:t>
            </a:r>
            <a:r>
              <a:rPr lang="en-US" altLang="ko-KR" sz="1300" spc="-40"/>
              <a:t>)</a:t>
            </a:r>
            <a:r>
              <a:rPr lang="ko-KR" altLang="en-US" sz="1300" spc="-40"/>
              <a:t>과 연계 가능성 검토</a:t>
            </a:r>
          </a:p>
        </p:txBody>
      </p:sp>
      <p:sp>
        <p:nvSpPr>
          <p:cNvPr id="35" name="사각형: 둥근 모서리 34">
            <a:extLst>
              <a:ext uri="{FF2B5EF4-FFF2-40B4-BE49-F238E27FC236}">
                <a16:creationId xmlns:a16="http://schemas.microsoft.com/office/drawing/2014/main" id="{F5FA1B93-D2F1-4D7A-AFE3-44FD432A5A39}"/>
              </a:ext>
            </a:extLst>
          </p:cNvPr>
          <p:cNvSpPr>
            <a:spLocks noGrp="1"/>
          </p:cNvSpPr>
          <p:nvPr/>
        </p:nvSpPr>
        <p:spPr>
          <a:xfrm>
            <a:off x="304955" y="1356790"/>
            <a:ext cx="4747501" cy="2207293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442707B5-39B3-4D11-B2ED-771F0EC39FFD}"/>
              </a:ext>
            </a:extLst>
          </p:cNvPr>
          <p:cNvSpPr>
            <a:spLocks noGrp="1"/>
          </p:cNvSpPr>
          <p:nvPr/>
        </p:nvSpPr>
        <p:spPr>
          <a:xfrm>
            <a:off x="5087195" y="1356790"/>
            <a:ext cx="4637654" cy="2207293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7EEB1E2-43FC-4FA8-A763-76998867EBE7}"/>
              </a:ext>
            </a:extLst>
          </p:cNvPr>
          <p:cNvSpPr txBox="1"/>
          <p:nvPr/>
        </p:nvSpPr>
        <p:spPr>
          <a:xfrm>
            <a:off x="311600" y="1878502"/>
            <a:ext cx="4915027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Python </a:t>
            </a:r>
            <a:r>
              <a:rPr lang="ko-KR" altLang="en-US" sz="1300" spc="-40">
                <a:latin typeface="+mn-ea"/>
              </a:rPr>
              <a:t>기초</a:t>
            </a:r>
            <a:r>
              <a:rPr lang="en-US" altLang="ko-KR" sz="1300" spc="-40">
                <a:latin typeface="+mn-ea"/>
              </a:rPr>
              <a:t>, VS</a:t>
            </a:r>
            <a:r>
              <a:rPr lang="ko-KR" altLang="en-US" sz="1300" spc="-40">
                <a:latin typeface="+mn-ea"/>
              </a:rPr>
              <a:t> </a:t>
            </a:r>
            <a:r>
              <a:rPr lang="en-US" altLang="ko-KR" sz="1300" spc="-40">
                <a:latin typeface="+mn-ea"/>
              </a:rPr>
              <a:t>Code,</a:t>
            </a:r>
            <a:r>
              <a:rPr lang="ko-KR" altLang="en-US" sz="1300" spc="-40">
                <a:latin typeface="+mn-ea"/>
              </a:rPr>
              <a:t> </a:t>
            </a:r>
            <a:r>
              <a:rPr lang="en-US" altLang="ko-KR" sz="1300" spc="-40">
                <a:latin typeface="+mn-ea"/>
              </a:rPr>
              <a:t>GitHub, LangChain, RAG </a:t>
            </a:r>
            <a:r>
              <a:rPr lang="ko-KR" altLang="en-US" sz="1300" spc="-40">
                <a:latin typeface="+mn-ea"/>
              </a:rPr>
              <a:t>등</a:t>
            </a:r>
            <a:endParaRPr lang="en-US" altLang="ko-KR" sz="1300" spc="-40">
              <a:latin typeface="+mn-ea"/>
            </a:endParaRPr>
          </a:p>
          <a:p>
            <a:pPr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</a:pPr>
            <a:r>
              <a:rPr lang="en-US" altLang="ko-KR" sz="1300" spc="-40">
                <a:latin typeface="+mn-ea"/>
              </a:rPr>
              <a:t>  </a:t>
            </a:r>
            <a:r>
              <a:rPr lang="ko-KR" altLang="en-US" sz="1300" spc="-40">
                <a:latin typeface="+mn-ea"/>
              </a:rPr>
              <a:t>새로운 개념 학습</a:t>
            </a: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→ 실제 웹 서비스 구현에 활용</a:t>
            </a:r>
            <a:endParaRPr lang="en-US" altLang="ko-KR" sz="1300" spc="-4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 spc="-40">
                <a:latin typeface="+mn-ea"/>
              </a:rPr>
              <a:t> 반복 평가</a:t>
            </a:r>
            <a:r>
              <a:rPr lang="en-US" altLang="ko-KR" sz="1300" b="1">
                <a:latin typeface="+mn-ea"/>
              </a:rPr>
              <a:t>·</a:t>
            </a:r>
            <a:r>
              <a:rPr lang="ko-KR" altLang="en-US" sz="1300" spc="-40">
                <a:latin typeface="+mn-ea"/>
              </a:rPr>
              <a:t>모델 개선으로 </a:t>
            </a:r>
            <a:r>
              <a:rPr lang="ko-KR" altLang="en-US" sz="1300" spc="-60">
                <a:latin typeface="+mn-ea"/>
              </a:rPr>
              <a:t>주관부서 매칭 정확도 향상 </a:t>
            </a:r>
            <a:r>
              <a:rPr lang="en-US" altLang="ko-KR" sz="1300" spc="-60">
                <a:latin typeface="+mn-ea"/>
              </a:rPr>
              <a:t>63 </a:t>
            </a:r>
            <a:r>
              <a:rPr lang="ko-KR" altLang="en-US" sz="1300" spc="-60">
                <a:latin typeface="+mn-ea"/>
              </a:rPr>
              <a:t>→ </a:t>
            </a:r>
            <a:r>
              <a:rPr lang="en-US" altLang="ko-KR" sz="1300" spc="-60">
                <a:latin typeface="+mn-ea"/>
              </a:rPr>
              <a:t>95% </a:t>
            </a: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LangSmith</a:t>
            </a:r>
            <a:r>
              <a:rPr lang="ko-KR" altLang="en-US" sz="1300" spc="-40">
                <a:latin typeface="+mn-ea"/>
              </a:rPr>
              <a:t> 트레이싱</a:t>
            </a:r>
            <a:r>
              <a:rPr lang="en-US" altLang="ko-KR" sz="1300" spc="-40">
                <a:latin typeface="+mn-ea"/>
              </a:rPr>
              <a:t>·</a:t>
            </a:r>
            <a:r>
              <a:rPr lang="ko-KR" altLang="en-US" sz="1300" spc="-40">
                <a:latin typeface="+mn-ea"/>
              </a:rPr>
              <a:t>자동 채점 시스템 경험 </a:t>
            </a:r>
            <a:endParaRPr lang="en-US" altLang="ko-KR" sz="1300" spc="-40">
              <a:latin typeface="+mn-ea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FD8CBE9-531F-460A-A6C2-1F24271B5F97}"/>
              </a:ext>
            </a:extLst>
          </p:cNvPr>
          <p:cNvSpPr txBox="1"/>
          <p:nvPr/>
        </p:nvSpPr>
        <p:spPr>
          <a:xfrm>
            <a:off x="5088082" y="1878502"/>
            <a:ext cx="4890655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 spc="-40">
                <a:latin typeface="+mn-ea"/>
              </a:rPr>
              <a:t> 회사 지침</a:t>
            </a:r>
            <a:r>
              <a:rPr lang="en-US" altLang="ko-KR" sz="1300" spc="-40">
                <a:latin typeface="+mn-ea"/>
              </a:rPr>
              <a:t>, </a:t>
            </a:r>
            <a:r>
              <a:rPr lang="ko-KR" altLang="en-US" sz="1300" spc="-40">
                <a:latin typeface="+mn-ea"/>
              </a:rPr>
              <a:t>규정</a:t>
            </a:r>
            <a:r>
              <a:rPr lang="en-US" altLang="ko-KR" sz="1300" spc="-40">
                <a:latin typeface="+mn-ea"/>
              </a:rPr>
              <a:t>, </a:t>
            </a:r>
            <a:r>
              <a:rPr lang="ko-KR" altLang="en-US" sz="1300" spc="-40">
                <a:latin typeface="+mn-ea"/>
              </a:rPr>
              <a:t>프로세스 데이터 추가 확보</a:t>
            </a:r>
            <a:endParaRPr lang="en-US" altLang="ko-KR" sz="1300" spc="-4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실제 업무 데이터로 다양한 상황 검증</a:t>
            </a:r>
            <a:endParaRPr lang="en-US" altLang="ko-KR" sz="1300" spc="-4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검색 품질을 높이기 위한 기법 추가 적용 </a:t>
            </a:r>
            <a:r>
              <a:rPr lang="en-US" altLang="ko-KR" sz="1300" spc="-40">
                <a:latin typeface="+mn-ea"/>
              </a:rPr>
              <a:t>(Reranking, HyDE)</a:t>
            </a: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현업 사용자 의견을 반영한 서비스 향상</a:t>
            </a:r>
            <a:endParaRPr lang="en-US" altLang="ko-KR" sz="1300" spc="-40">
              <a:latin typeface="+mn-ea"/>
            </a:endParaRPr>
          </a:p>
        </p:txBody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46B02998-6623-45B2-8E8E-3E0A89B44C9D}"/>
              </a:ext>
            </a:extLst>
          </p:cNvPr>
          <p:cNvSpPr/>
          <p:nvPr/>
        </p:nvSpPr>
        <p:spPr>
          <a:xfrm>
            <a:off x="556286" y="702152"/>
            <a:ext cx="6093896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400" b="1">
                <a:latin typeface="+mn-ea"/>
              </a:rPr>
              <a:t>AI </a:t>
            </a:r>
            <a:r>
              <a:rPr lang="ko-KR" altLang="en-US" sz="1400" b="1">
                <a:latin typeface="+mn-ea"/>
              </a:rPr>
              <a:t>개념을 적용해 보며 얻은 경험을 바탕으로 가능성과 과제 확인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43" name="그룹 42">
            <a:extLst>
              <a:ext uri="{FF2B5EF4-FFF2-40B4-BE49-F238E27FC236}">
                <a16:creationId xmlns:a16="http://schemas.microsoft.com/office/drawing/2014/main" id="{557F1BE6-5F9C-4131-A550-461A0E6F04B7}"/>
              </a:ext>
            </a:extLst>
          </p:cNvPr>
          <p:cNvGrpSpPr/>
          <p:nvPr/>
        </p:nvGrpSpPr>
        <p:grpSpPr>
          <a:xfrm>
            <a:off x="310399" y="812141"/>
            <a:ext cx="194324" cy="180020"/>
            <a:chOff x="416496" y="3577457"/>
            <a:chExt cx="194324" cy="180020"/>
          </a:xfrm>
        </p:grpSpPr>
        <p:sp>
          <p:nvSpPr>
            <p:cNvPr id="44" name="모서리가 둥근 직사각형 320">
              <a:extLst>
                <a:ext uri="{FF2B5EF4-FFF2-40B4-BE49-F238E27FC236}">
                  <a16:creationId xmlns:a16="http://schemas.microsoft.com/office/drawing/2014/main" id="{47DF7EC9-150A-4771-90D3-56B6A491FA82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46" name="그림 45" descr="7.png">
              <a:extLst>
                <a:ext uri="{FF2B5EF4-FFF2-40B4-BE49-F238E27FC236}">
                  <a16:creationId xmlns:a16="http://schemas.microsoft.com/office/drawing/2014/main" id="{B88BF027-05B5-417D-A7A9-CF9B2957689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5873CF61-8A21-43BF-B0E4-A4D3B60D98AF}"/>
              </a:ext>
            </a:extLst>
          </p:cNvPr>
          <p:cNvSpPr/>
          <p:nvPr/>
        </p:nvSpPr>
        <p:spPr>
          <a:xfrm>
            <a:off x="5734795" y="1223492"/>
            <a:ext cx="3359671" cy="314383"/>
          </a:xfrm>
          <a:prstGeom prst="roundRect">
            <a:avLst/>
          </a:prstGeom>
          <a:solidFill>
            <a:srgbClr val="003D9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/>
              <a:t>앞으로 보완할 점</a:t>
            </a: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C2A42805-73FD-483D-B6BF-C7684EA5AA86}"/>
              </a:ext>
            </a:extLst>
          </p:cNvPr>
          <p:cNvSpPr/>
          <p:nvPr/>
        </p:nvSpPr>
        <p:spPr>
          <a:xfrm>
            <a:off x="952556" y="1223492"/>
            <a:ext cx="3359671" cy="314383"/>
          </a:xfrm>
          <a:prstGeom prst="roundRect">
            <a:avLst/>
          </a:prstGeom>
          <a:solidFill>
            <a:srgbClr val="003D9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/>
              <a:t>이번 교육과 프로젝트에서 얻은 것 </a:t>
            </a:r>
          </a:p>
        </p:txBody>
      </p:sp>
    </p:spTree>
    <p:extLst>
      <p:ext uri="{BB962C8B-B14F-4D97-AF65-F5344CB8AC3E}">
        <p14:creationId xmlns:p14="http://schemas.microsoft.com/office/powerpoint/2010/main" val="112613588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사각형: 둥근 모서리 90">
            <a:extLst>
              <a:ext uri="{FF2B5EF4-FFF2-40B4-BE49-F238E27FC236}">
                <a16:creationId xmlns:a16="http://schemas.microsoft.com/office/drawing/2014/main" id="{48188336-0194-41F9-8F5E-A01D05CA77ED}"/>
              </a:ext>
            </a:extLst>
          </p:cNvPr>
          <p:cNvSpPr>
            <a:spLocks noGrp="1"/>
          </p:cNvSpPr>
          <p:nvPr/>
        </p:nvSpPr>
        <p:spPr>
          <a:xfrm>
            <a:off x="3448587" y="2042591"/>
            <a:ext cx="2957789" cy="2077698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92" name="사각형: 둥근 모서리 91">
            <a:extLst>
              <a:ext uri="{FF2B5EF4-FFF2-40B4-BE49-F238E27FC236}">
                <a16:creationId xmlns:a16="http://schemas.microsoft.com/office/drawing/2014/main" id="{53B7273A-BDF9-437A-8C55-2D48EB8ED118}"/>
              </a:ext>
            </a:extLst>
          </p:cNvPr>
          <p:cNvSpPr>
            <a:spLocks noGrp="1"/>
          </p:cNvSpPr>
          <p:nvPr/>
        </p:nvSpPr>
        <p:spPr>
          <a:xfrm>
            <a:off x="6601065" y="2042591"/>
            <a:ext cx="2957789" cy="2077698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90" name="사각형: 둥근 모서리 89">
            <a:extLst>
              <a:ext uri="{FF2B5EF4-FFF2-40B4-BE49-F238E27FC236}">
                <a16:creationId xmlns:a16="http://schemas.microsoft.com/office/drawing/2014/main" id="{F432CC7F-46D1-4AF6-ADB6-0B1FC20372EE}"/>
              </a:ext>
            </a:extLst>
          </p:cNvPr>
          <p:cNvSpPr>
            <a:spLocks noGrp="1"/>
          </p:cNvSpPr>
          <p:nvPr/>
        </p:nvSpPr>
        <p:spPr>
          <a:xfrm>
            <a:off x="298630" y="2042591"/>
            <a:ext cx="2957789" cy="2077698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88" name="사각형: 둥근 모서리 87">
            <a:extLst>
              <a:ext uri="{FF2B5EF4-FFF2-40B4-BE49-F238E27FC236}">
                <a16:creationId xmlns:a16="http://schemas.microsoft.com/office/drawing/2014/main" id="{F4133112-5F7A-4066-BF47-F14ECA240030}"/>
              </a:ext>
            </a:extLst>
          </p:cNvPr>
          <p:cNvSpPr>
            <a:spLocks noGrp="1"/>
          </p:cNvSpPr>
          <p:nvPr/>
        </p:nvSpPr>
        <p:spPr>
          <a:xfrm>
            <a:off x="298630" y="4424983"/>
            <a:ext cx="2957789" cy="2079727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89" name="사각형: 둥근 모서리 88">
            <a:extLst>
              <a:ext uri="{FF2B5EF4-FFF2-40B4-BE49-F238E27FC236}">
                <a16:creationId xmlns:a16="http://schemas.microsoft.com/office/drawing/2014/main" id="{42CD2C78-F92D-43E1-9817-7DC040D68104}"/>
              </a:ext>
            </a:extLst>
          </p:cNvPr>
          <p:cNvSpPr>
            <a:spLocks noGrp="1"/>
          </p:cNvSpPr>
          <p:nvPr/>
        </p:nvSpPr>
        <p:spPr>
          <a:xfrm>
            <a:off x="3448587" y="4424983"/>
            <a:ext cx="2957789" cy="2079727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87" name="사각형: 둥근 모서리 86">
            <a:extLst>
              <a:ext uri="{FF2B5EF4-FFF2-40B4-BE49-F238E27FC236}">
                <a16:creationId xmlns:a16="http://schemas.microsoft.com/office/drawing/2014/main" id="{1618651D-F4E5-4D6F-B934-F71DF2559191}"/>
              </a:ext>
            </a:extLst>
          </p:cNvPr>
          <p:cNvSpPr>
            <a:spLocks noGrp="1"/>
          </p:cNvSpPr>
          <p:nvPr/>
        </p:nvSpPr>
        <p:spPr>
          <a:xfrm>
            <a:off x="6601065" y="4427012"/>
            <a:ext cx="2957789" cy="2077698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[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첨부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]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서비스를 움직이는 기술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FE7BCA31-1083-4868-AB2E-E33DC45B396A}"/>
              </a:ext>
            </a:extLst>
          </p:cNvPr>
          <p:cNvGrpSpPr/>
          <p:nvPr/>
        </p:nvGrpSpPr>
        <p:grpSpPr>
          <a:xfrm>
            <a:off x="301491" y="899849"/>
            <a:ext cx="2097024" cy="859536"/>
            <a:chOff x="436418" y="1076496"/>
            <a:chExt cx="2097024" cy="859536"/>
          </a:xfrm>
        </p:grpSpPr>
        <p:sp>
          <p:nvSpPr>
            <p:cNvPr id="59" name="Rounded Rectangle 43">
              <a:extLst>
                <a:ext uri="{FF2B5EF4-FFF2-40B4-BE49-F238E27FC236}">
                  <a16:creationId xmlns:a16="http://schemas.microsoft.com/office/drawing/2014/main" id="{996F7484-581E-4BBF-817C-50E10F835049}"/>
                </a:ext>
              </a:extLst>
            </p:cNvPr>
            <p:cNvSpPr/>
            <p:nvPr/>
          </p:nvSpPr>
          <p:spPr>
            <a:xfrm>
              <a:off x="436418" y="1076496"/>
              <a:ext cx="2097024" cy="838893"/>
            </a:xfrm>
            <a:prstGeom prst="roundRect">
              <a:avLst>
                <a:gd name="adj" fmla="val 10000"/>
              </a:avLst>
            </a:prstGeom>
            <a:solidFill>
              <a:srgbClr val="EAF2F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D72EF195-B856-451C-876C-B2B2396A227F}"/>
                </a:ext>
              </a:extLst>
            </p:cNvPr>
            <p:cNvSpPr txBox="1"/>
            <p:nvPr/>
          </p:nvSpPr>
          <p:spPr>
            <a:xfrm>
              <a:off x="601010" y="1222800"/>
              <a:ext cx="1767840" cy="27432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0">
                  <a:solidFill>
                    <a:srgbClr val="1A1F2B"/>
                  </a:solidFill>
                  <a:latin typeface="+mn-ea"/>
                </a:rPr>
                <a:t>🔍  </a:t>
              </a:r>
              <a:r>
                <a:rPr sz="1400" b="1">
                  <a:solidFill>
                    <a:srgbClr val="1A1F2B"/>
                  </a:solidFill>
                  <a:latin typeface="+mn-ea"/>
                </a:rPr>
                <a:t>질문 입력</a:t>
              </a:r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95EBF4BE-BB55-4594-A2FC-BDDB35435C90}"/>
                </a:ext>
              </a:extLst>
            </p:cNvPr>
            <p:cNvSpPr txBox="1"/>
            <p:nvPr/>
          </p:nvSpPr>
          <p:spPr>
            <a:xfrm>
              <a:off x="601010" y="1570272"/>
              <a:ext cx="1767840" cy="36576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ko-KR" altLang="en-US" sz="1200" b="0">
                  <a:solidFill>
                    <a:srgbClr val="6B7280"/>
                  </a:solidFill>
                  <a:latin typeface="+mn-ea"/>
                </a:rPr>
                <a:t>업무 상황 자연어 입력</a:t>
              </a:r>
              <a:endParaRPr sz="1200" b="0">
                <a:solidFill>
                  <a:srgbClr val="6B7280"/>
                </a:solidFill>
                <a:latin typeface="+mn-ea"/>
              </a:endParaRPr>
            </a:p>
          </p:txBody>
        </p:sp>
      </p:grpSp>
      <p:sp>
        <p:nvSpPr>
          <p:cNvPr id="65" name="TextBox 64">
            <a:extLst>
              <a:ext uri="{FF2B5EF4-FFF2-40B4-BE49-F238E27FC236}">
                <a16:creationId xmlns:a16="http://schemas.microsoft.com/office/drawing/2014/main" id="{EFA33DF7-0CE6-4061-A974-4EC09107C85E}"/>
              </a:ext>
            </a:extLst>
          </p:cNvPr>
          <p:cNvSpPr txBox="1"/>
          <p:nvPr/>
        </p:nvSpPr>
        <p:spPr>
          <a:xfrm>
            <a:off x="2439923" y="1194951"/>
            <a:ext cx="201168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B9C2D1"/>
                </a:solidFill>
                <a:latin typeface="+mn-ea"/>
              </a:rPr>
              <a:t>›</a:t>
            </a: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1F4AFCF0-0572-47D7-96C0-56A67E12F342}"/>
              </a:ext>
            </a:extLst>
          </p:cNvPr>
          <p:cNvGrpSpPr/>
          <p:nvPr/>
        </p:nvGrpSpPr>
        <p:grpSpPr>
          <a:xfrm>
            <a:off x="2693046" y="899849"/>
            <a:ext cx="2097024" cy="859536"/>
            <a:chOff x="2734610" y="1076496"/>
            <a:chExt cx="2097024" cy="859536"/>
          </a:xfrm>
        </p:grpSpPr>
        <p:sp>
          <p:nvSpPr>
            <p:cNvPr id="66" name="Rounded Rectangle 47">
              <a:extLst>
                <a:ext uri="{FF2B5EF4-FFF2-40B4-BE49-F238E27FC236}">
                  <a16:creationId xmlns:a16="http://schemas.microsoft.com/office/drawing/2014/main" id="{DFF7462E-22C3-465B-BD8C-A7149A940B61}"/>
                </a:ext>
              </a:extLst>
            </p:cNvPr>
            <p:cNvSpPr/>
            <p:nvPr/>
          </p:nvSpPr>
          <p:spPr>
            <a:xfrm>
              <a:off x="2734610" y="1076496"/>
              <a:ext cx="2097024" cy="838893"/>
            </a:xfrm>
            <a:prstGeom prst="roundRect">
              <a:avLst>
                <a:gd name="adj" fmla="val 10000"/>
              </a:avLst>
            </a:prstGeom>
            <a:solidFill>
              <a:srgbClr val="ECF4F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441A1475-CDB3-4063-BD45-5549C9CDBE81}"/>
                </a:ext>
              </a:extLst>
            </p:cNvPr>
            <p:cNvSpPr txBox="1"/>
            <p:nvPr/>
          </p:nvSpPr>
          <p:spPr>
            <a:xfrm>
              <a:off x="2899202" y="1222800"/>
              <a:ext cx="1767840" cy="27432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0">
                  <a:solidFill>
                    <a:srgbClr val="1A1F2B"/>
                  </a:solidFill>
                  <a:latin typeface="+mn-ea"/>
                </a:rPr>
                <a:t>📄  </a:t>
              </a:r>
              <a:r>
                <a:rPr sz="1400" b="1">
                  <a:solidFill>
                    <a:srgbClr val="1A1F2B"/>
                  </a:solidFill>
                  <a:latin typeface="+mn-ea"/>
                </a:rPr>
                <a:t>문서 검색</a:t>
              </a:r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BF636FE9-9972-4B85-98BB-BE28D8FF830B}"/>
                </a:ext>
              </a:extLst>
            </p:cNvPr>
            <p:cNvSpPr txBox="1"/>
            <p:nvPr/>
          </p:nvSpPr>
          <p:spPr>
            <a:xfrm>
              <a:off x="2899202" y="1570272"/>
              <a:ext cx="1767840" cy="36576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0">
                  <a:solidFill>
                    <a:srgbClr val="6B7280"/>
                  </a:solidFill>
                  <a:latin typeface="+mn-ea"/>
                </a:rPr>
                <a:t>관련 규정 · 지침 탐색</a:t>
              </a:r>
            </a:p>
          </p:txBody>
        </p:sp>
      </p:grpSp>
      <p:sp>
        <p:nvSpPr>
          <p:cNvPr id="69" name="TextBox 68">
            <a:extLst>
              <a:ext uri="{FF2B5EF4-FFF2-40B4-BE49-F238E27FC236}">
                <a16:creationId xmlns:a16="http://schemas.microsoft.com/office/drawing/2014/main" id="{4D1CBAAD-7333-48B0-A6A6-E03764EB92B1}"/>
              </a:ext>
            </a:extLst>
          </p:cNvPr>
          <p:cNvSpPr txBox="1"/>
          <p:nvPr/>
        </p:nvSpPr>
        <p:spPr>
          <a:xfrm>
            <a:off x="4831634" y="1194951"/>
            <a:ext cx="201168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B9C2D1"/>
                </a:solidFill>
                <a:latin typeface="+mn-ea"/>
              </a:rPr>
              <a:t>›</a:t>
            </a:r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5DD803AB-E323-41F4-9A08-8C300E0C81CD}"/>
              </a:ext>
            </a:extLst>
          </p:cNvPr>
          <p:cNvGrpSpPr/>
          <p:nvPr/>
        </p:nvGrpSpPr>
        <p:grpSpPr>
          <a:xfrm>
            <a:off x="5063975" y="899849"/>
            <a:ext cx="2097024" cy="859536"/>
            <a:chOff x="5032802" y="1076496"/>
            <a:chExt cx="2097024" cy="859536"/>
          </a:xfrm>
        </p:grpSpPr>
        <p:sp>
          <p:nvSpPr>
            <p:cNvPr id="71" name="Rounded Rectangle 51">
              <a:extLst>
                <a:ext uri="{FF2B5EF4-FFF2-40B4-BE49-F238E27FC236}">
                  <a16:creationId xmlns:a16="http://schemas.microsoft.com/office/drawing/2014/main" id="{C71BF696-5EC6-4D25-820B-373DAD1344CC}"/>
                </a:ext>
              </a:extLst>
            </p:cNvPr>
            <p:cNvSpPr/>
            <p:nvPr/>
          </p:nvSpPr>
          <p:spPr>
            <a:xfrm>
              <a:off x="5032802" y="1076496"/>
              <a:ext cx="2097024" cy="838893"/>
            </a:xfrm>
            <a:prstGeom prst="roundRect">
              <a:avLst>
                <a:gd name="adj" fmla="val 10000"/>
              </a:avLst>
            </a:prstGeom>
            <a:solidFill>
              <a:srgbClr val="EEEFF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8B591218-5193-408A-B896-E1E3E89F7C27}"/>
                </a:ext>
              </a:extLst>
            </p:cNvPr>
            <p:cNvSpPr txBox="1"/>
            <p:nvPr/>
          </p:nvSpPr>
          <p:spPr>
            <a:xfrm>
              <a:off x="5197394" y="1222800"/>
              <a:ext cx="1767840" cy="27432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0">
                  <a:solidFill>
                    <a:srgbClr val="1A1F2B"/>
                  </a:solidFill>
                  <a:latin typeface="+mn-ea"/>
                </a:rPr>
                <a:t>💬  </a:t>
              </a:r>
              <a:r>
                <a:rPr sz="1400" b="1">
                  <a:solidFill>
                    <a:srgbClr val="1A1F2B"/>
                  </a:solidFill>
                  <a:latin typeface="+mn-ea"/>
                </a:rPr>
                <a:t>답변 정리</a:t>
              </a:r>
            </a:p>
          </p:txBody>
        </p:sp>
        <p:sp>
          <p:nvSpPr>
            <p:cNvPr id="79" name="TextBox 78">
              <a:extLst>
                <a:ext uri="{FF2B5EF4-FFF2-40B4-BE49-F238E27FC236}">
                  <a16:creationId xmlns:a16="http://schemas.microsoft.com/office/drawing/2014/main" id="{7A8374F3-2CEF-4178-BE4D-3AC77DE3D521}"/>
                </a:ext>
              </a:extLst>
            </p:cNvPr>
            <p:cNvSpPr txBox="1"/>
            <p:nvPr/>
          </p:nvSpPr>
          <p:spPr>
            <a:xfrm>
              <a:off x="5197394" y="1570272"/>
              <a:ext cx="1767840" cy="36576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0">
                  <a:solidFill>
                    <a:srgbClr val="6B7280"/>
                  </a:solidFill>
                  <a:latin typeface="+mn-ea"/>
                </a:rPr>
                <a:t>절차와 담당부서 안내</a:t>
              </a:r>
            </a:p>
          </p:txBody>
        </p:sp>
      </p:grpSp>
      <p:sp>
        <p:nvSpPr>
          <p:cNvPr id="80" name="TextBox 79">
            <a:extLst>
              <a:ext uri="{FF2B5EF4-FFF2-40B4-BE49-F238E27FC236}">
                <a16:creationId xmlns:a16="http://schemas.microsoft.com/office/drawing/2014/main" id="{E1BDA301-2686-4BA5-84A5-734CD9533801}"/>
              </a:ext>
            </a:extLst>
          </p:cNvPr>
          <p:cNvSpPr txBox="1"/>
          <p:nvPr/>
        </p:nvSpPr>
        <p:spPr>
          <a:xfrm>
            <a:off x="7192172" y="1194951"/>
            <a:ext cx="201168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B9C2D1"/>
                </a:solidFill>
                <a:latin typeface="+mn-ea"/>
              </a:rPr>
              <a:t>›</a:t>
            </a:r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BF5C8F40-E42C-4223-9F16-7D070BCB4568}"/>
              </a:ext>
            </a:extLst>
          </p:cNvPr>
          <p:cNvGrpSpPr/>
          <p:nvPr/>
        </p:nvGrpSpPr>
        <p:grpSpPr>
          <a:xfrm>
            <a:off x="7451075" y="899849"/>
            <a:ext cx="2097024" cy="859536"/>
            <a:chOff x="7330994" y="1076496"/>
            <a:chExt cx="2097024" cy="859536"/>
          </a:xfrm>
        </p:grpSpPr>
        <p:sp>
          <p:nvSpPr>
            <p:cNvPr id="81" name="Rounded Rectangle 55">
              <a:extLst>
                <a:ext uri="{FF2B5EF4-FFF2-40B4-BE49-F238E27FC236}">
                  <a16:creationId xmlns:a16="http://schemas.microsoft.com/office/drawing/2014/main" id="{73C7B102-EDCA-4808-8BFF-8EE3C8E62523}"/>
                </a:ext>
              </a:extLst>
            </p:cNvPr>
            <p:cNvSpPr/>
            <p:nvPr/>
          </p:nvSpPr>
          <p:spPr>
            <a:xfrm>
              <a:off x="7330994" y="1076496"/>
              <a:ext cx="2097024" cy="838893"/>
            </a:xfrm>
            <a:prstGeom prst="roundRect">
              <a:avLst>
                <a:gd name="adj" fmla="val 10000"/>
              </a:avLst>
            </a:prstGeom>
            <a:solidFill>
              <a:srgbClr val="EFF1F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82" name="TextBox 81">
              <a:extLst>
                <a:ext uri="{FF2B5EF4-FFF2-40B4-BE49-F238E27FC236}">
                  <a16:creationId xmlns:a16="http://schemas.microsoft.com/office/drawing/2014/main" id="{C75A4594-9A26-41FA-A3DD-9E4F0FEC9167}"/>
                </a:ext>
              </a:extLst>
            </p:cNvPr>
            <p:cNvSpPr txBox="1"/>
            <p:nvPr/>
          </p:nvSpPr>
          <p:spPr>
            <a:xfrm>
              <a:off x="7495586" y="1222800"/>
              <a:ext cx="1767840" cy="27432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0">
                  <a:solidFill>
                    <a:srgbClr val="1A1F2B"/>
                  </a:solidFill>
                  <a:latin typeface="+mn-ea"/>
                </a:rPr>
                <a:t>📧  </a:t>
              </a:r>
              <a:r>
                <a:rPr sz="1400" b="1">
                  <a:solidFill>
                    <a:srgbClr val="1A1F2B"/>
                  </a:solidFill>
                  <a:latin typeface="+mn-ea"/>
                </a:rPr>
                <a:t>협업 요청</a:t>
              </a:r>
            </a:p>
          </p:txBody>
        </p:sp>
        <p:sp>
          <p:nvSpPr>
            <p:cNvPr id="83" name="TextBox 82">
              <a:extLst>
                <a:ext uri="{FF2B5EF4-FFF2-40B4-BE49-F238E27FC236}">
                  <a16:creationId xmlns:a16="http://schemas.microsoft.com/office/drawing/2014/main" id="{38892051-C222-480F-B292-B0CEB153B102}"/>
                </a:ext>
              </a:extLst>
            </p:cNvPr>
            <p:cNvSpPr txBox="1"/>
            <p:nvPr/>
          </p:nvSpPr>
          <p:spPr>
            <a:xfrm>
              <a:off x="7495586" y="1570272"/>
              <a:ext cx="1767840" cy="36576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0">
                  <a:solidFill>
                    <a:srgbClr val="6B7280"/>
                  </a:solidFill>
                  <a:latin typeface="+mn-ea"/>
                </a:rPr>
                <a:t>메일 초안 자동 작성</a:t>
              </a:r>
            </a:p>
          </p:txBody>
        </p:sp>
      </p:grpSp>
      <p:pic>
        <p:nvPicPr>
          <p:cNvPr id="28" name="그래픽 27" descr="사용자 단색으로 채워진">
            <a:extLst>
              <a:ext uri="{FF2B5EF4-FFF2-40B4-BE49-F238E27FC236}">
                <a16:creationId xmlns:a16="http://schemas.microsoft.com/office/drawing/2014/main" id="{7B3836CD-900E-4FF9-9FAF-0A95CD6F181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66083" y="2837068"/>
            <a:ext cx="597557" cy="59755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BDC2B4E-7821-40EC-BE7F-F126EFDA9CAC}"/>
              </a:ext>
            </a:extLst>
          </p:cNvPr>
          <p:cNvSpPr txBox="1"/>
          <p:nvPr/>
        </p:nvSpPr>
        <p:spPr>
          <a:xfrm>
            <a:off x="1089640" y="2974264"/>
            <a:ext cx="2038023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500" b="1"/>
              <a:t>사용자 질문 입력</a:t>
            </a:r>
          </a:p>
        </p:txBody>
      </p:sp>
      <p:sp>
        <p:nvSpPr>
          <p:cNvPr id="32" name="이등변 삼각형 31">
            <a:extLst>
              <a:ext uri="{FF2B5EF4-FFF2-40B4-BE49-F238E27FC236}">
                <a16:creationId xmlns:a16="http://schemas.microsoft.com/office/drawing/2014/main" id="{49E8036D-CF03-4342-82F7-0B969952CBD2}"/>
              </a:ext>
            </a:extLst>
          </p:cNvPr>
          <p:cNvSpPr/>
          <p:nvPr/>
        </p:nvSpPr>
        <p:spPr>
          <a:xfrm rot="5400000">
            <a:off x="3264302" y="3023495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73058B3F-64B0-4739-B4A3-02231852EFAB}"/>
              </a:ext>
            </a:extLst>
          </p:cNvPr>
          <p:cNvGrpSpPr/>
          <p:nvPr/>
        </p:nvGrpSpPr>
        <p:grpSpPr>
          <a:xfrm>
            <a:off x="3586545" y="2881369"/>
            <a:ext cx="464698" cy="508954"/>
            <a:chOff x="3660053" y="2741160"/>
            <a:chExt cx="464698" cy="508954"/>
          </a:xfrm>
        </p:grpSpPr>
        <p:sp>
          <p:nvSpPr>
            <p:cNvPr id="33" name="Rounded Rectangle 6">
              <a:extLst>
                <a:ext uri="{FF2B5EF4-FFF2-40B4-BE49-F238E27FC236}">
                  <a16:creationId xmlns:a16="http://schemas.microsoft.com/office/drawing/2014/main" id="{6D78DBAC-2E3E-449F-956F-865E1BD8BC19}"/>
                </a:ext>
              </a:extLst>
            </p:cNvPr>
            <p:cNvSpPr/>
            <p:nvPr/>
          </p:nvSpPr>
          <p:spPr>
            <a:xfrm>
              <a:off x="3660053" y="2773680"/>
              <a:ext cx="464698" cy="464698"/>
            </a:xfrm>
            <a:prstGeom prst="roundRect">
              <a:avLst>
                <a:gd name="adj" fmla="val 32000"/>
              </a:avLst>
            </a:prstGeom>
            <a:solidFill>
              <a:srgbClr val="EAF2F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A7FD9A55-8AEE-4A93-89A6-F020825C0547}"/>
                </a:ext>
              </a:extLst>
            </p:cNvPr>
            <p:cNvSpPr txBox="1"/>
            <p:nvPr/>
          </p:nvSpPr>
          <p:spPr>
            <a:xfrm>
              <a:off x="3660053" y="2741160"/>
              <a:ext cx="464698" cy="50895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60" b="0">
                  <a:solidFill>
                    <a:srgbClr val="1A1F2B"/>
                  </a:solidFill>
                </a:rPr>
                <a:t>🖥</a:t>
              </a:r>
            </a:p>
          </p:txBody>
        </p: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A533DBD0-9B02-4B4D-8821-9A873EB46F6B}"/>
              </a:ext>
            </a:extLst>
          </p:cNvPr>
          <p:cNvSpPr txBox="1"/>
          <p:nvPr/>
        </p:nvSpPr>
        <p:spPr>
          <a:xfrm>
            <a:off x="3639271" y="2200230"/>
            <a:ext cx="2497328" cy="332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lang="en-US" sz="1200" b="1">
                <a:solidFill>
                  <a:srgbClr val="2F6FED"/>
                </a:solidFill>
                <a:latin typeface="+mn-ea"/>
              </a:rPr>
              <a:t>Next.js 14 · React · TypeScript</a:t>
            </a:r>
            <a:endParaRPr sz="1200" b="1">
              <a:solidFill>
                <a:srgbClr val="2F6FED"/>
              </a:solidFill>
              <a:latin typeface="+mn-ea"/>
            </a:endParaRPr>
          </a:p>
        </p:txBody>
      </p:sp>
      <p:grpSp>
        <p:nvGrpSpPr>
          <p:cNvPr id="9" name="그룹 8">
            <a:extLst>
              <a:ext uri="{FF2B5EF4-FFF2-40B4-BE49-F238E27FC236}">
                <a16:creationId xmlns:a16="http://schemas.microsoft.com/office/drawing/2014/main" id="{D099DC11-FA1B-4D73-A508-74E6C8353D26}"/>
              </a:ext>
            </a:extLst>
          </p:cNvPr>
          <p:cNvGrpSpPr/>
          <p:nvPr/>
        </p:nvGrpSpPr>
        <p:grpSpPr>
          <a:xfrm>
            <a:off x="6749049" y="2881369"/>
            <a:ext cx="464698" cy="508954"/>
            <a:chOff x="6728267" y="2845337"/>
            <a:chExt cx="464698" cy="508954"/>
          </a:xfrm>
        </p:grpSpPr>
        <p:sp>
          <p:nvSpPr>
            <p:cNvPr id="38" name="Rounded Rectangle 18">
              <a:extLst>
                <a:ext uri="{FF2B5EF4-FFF2-40B4-BE49-F238E27FC236}">
                  <a16:creationId xmlns:a16="http://schemas.microsoft.com/office/drawing/2014/main" id="{0585A007-AE8D-485A-9E67-8EC82B66FC1B}"/>
                </a:ext>
              </a:extLst>
            </p:cNvPr>
            <p:cNvSpPr/>
            <p:nvPr/>
          </p:nvSpPr>
          <p:spPr>
            <a:xfrm>
              <a:off x="6728267" y="2867466"/>
              <a:ext cx="464698" cy="464698"/>
            </a:xfrm>
            <a:prstGeom prst="roundRect">
              <a:avLst>
                <a:gd name="adj" fmla="val 32000"/>
              </a:avLst>
            </a:prstGeom>
            <a:solidFill>
              <a:srgbClr val="EAF2F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C6271F58-8C72-4211-A91B-60E062CC763F}"/>
                </a:ext>
              </a:extLst>
            </p:cNvPr>
            <p:cNvSpPr txBox="1"/>
            <p:nvPr/>
          </p:nvSpPr>
          <p:spPr>
            <a:xfrm>
              <a:off x="6728267" y="2845337"/>
              <a:ext cx="464698" cy="50895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60" b="0">
                  <a:solidFill>
                    <a:srgbClr val="1A1F2B"/>
                  </a:solidFill>
                </a:rPr>
                <a:t>🔍</a:t>
              </a:r>
            </a:p>
          </p:txBody>
        </p:sp>
      </p:grpSp>
      <p:sp>
        <p:nvSpPr>
          <p:cNvPr id="41" name="TextBox 40">
            <a:extLst>
              <a:ext uri="{FF2B5EF4-FFF2-40B4-BE49-F238E27FC236}">
                <a16:creationId xmlns:a16="http://schemas.microsoft.com/office/drawing/2014/main" id="{0FAC1551-30F9-472F-BAFE-1496762D72BF}"/>
              </a:ext>
            </a:extLst>
          </p:cNvPr>
          <p:cNvSpPr txBox="1"/>
          <p:nvPr/>
        </p:nvSpPr>
        <p:spPr>
          <a:xfrm>
            <a:off x="7214856" y="2880745"/>
            <a:ext cx="2556061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300"/>
              </a:spcBef>
            </a:pPr>
            <a:r>
              <a:rPr lang="en-US" altLang="ko-KR" sz="1500" b="1">
                <a:latin typeface="+mn-ea"/>
              </a:rPr>
              <a:t>Embedding </a:t>
            </a:r>
            <a:r>
              <a:rPr lang="ko-KR" altLang="en-US" sz="1500" b="1">
                <a:latin typeface="+mn-ea"/>
              </a:rPr>
              <a:t>검색</a:t>
            </a:r>
            <a:endParaRPr lang="en-US" altLang="ko-KR" sz="1500" b="1">
              <a:latin typeface="+mn-ea"/>
            </a:endParaRPr>
          </a:p>
          <a:p>
            <a:pPr marL="93663" indent="-9366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400">
                <a:latin typeface="+mn-ea"/>
              </a:rPr>
              <a:t> </a:t>
            </a:r>
            <a:r>
              <a:rPr lang="ko-KR" altLang="en-US" sz="1400" spc="-40">
                <a:latin typeface="+mn-ea"/>
              </a:rPr>
              <a:t>부서별 메타데이터 필터링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71BA1C2-1259-4AD1-81CD-25C743F18DEE}"/>
              </a:ext>
            </a:extLst>
          </p:cNvPr>
          <p:cNvSpPr txBox="1"/>
          <p:nvPr/>
        </p:nvSpPr>
        <p:spPr>
          <a:xfrm>
            <a:off x="6760132" y="2200230"/>
            <a:ext cx="2865159" cy="44875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lang="en-US" sz="1200" b="1">
                <a:solidFill>
                  <a:srgbClr val="2F6FED"/>
                </a:solidFill>
                <a:latin typeface="+mn-ea"/>
              </a:rPr>
              <a:t>RAG </a:t>
            </a:r>
            <a:r>
              <a:rPr sz="1200" b="1">
                <a:solidFill>
                  <a:srgbClr val="2F6FED"/>
                </a:solidFill>
                <a:latin typeface="+mn-ea"/>
              </a:rPr>
              <a:t>· </a:t>
            </a:r>
            <a:r>
              <a:rPr lang="en-US" altLang="ko-KR" sz="1200" b="1">
                <a:solidFill>
                  <a:srgbClr val="2F6FED"/>
                </a:solidFill>
                <a:latin typeface="+mn-ea"/>
              </a:rPr>
              <a:t>OpenAI Embedding 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200" b="1">
                <a:solidFill>
                  <a:srgbClr val="2F6FED"/>
                </a:solidFill>
                <a:latin typeface="+mn-ea"/>
              </a:rPr>
              <a:t>MemoryVectorStore</a:t>
            </a:r>
          </a:p>
        </p:txBody>
      </p:sp>
      <p:sp>
        <p:nvSpPr>
          <p:cNvPr id="43" name="이등변 삼각형 42">
            <a:extLst>
              <a:ext uri="{FF2B5EF4-FFF2-40B4-BE49-F238E27FC236}">
                <a16:creationId xmlns:a16="http://schemas.microsoft.com/office/drawing/2014/main" id="{7B3738A7-306B-480C-9918-BD729986C622}"/>
              </a:ext>
            </a:extLst>
          </p:cNvPr>
          <p:cNvSpPr/>
          <p:nvPr/>
        </p:nvSpPr>
        <p:spPr>
          <a:xfrm rot="5400000">
            <a:off x="6430066" y="3023495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46" name="그룹 45">
            <a:extLst>
              <a:ext uri="{FF2B5EF4-FFF2-40B4-BE49-F238E27FC236}">
                <a16:creationId xmlns:a16="http://schemas.microsoft.com/office/drawing/2014/main" id="{152F1FD1-BD14-4198-822E-F6AF4FE84033}"/>
              </a:ext>
            </a:extLst>
          </p:cNvPr>
          <p:cNvGrpSpPr/>
          <p:nvPr/>
        </p:nvGrpSpPr>
        <p:grpSpPr>
          <a:xfrm>
            <a:off x="470649" y="5304978"/>
            <a:ext cx="464698" cy="508954"/>
            <a:chOff x="640080" y="3026664"/>
            <a:chExt cx="384048" cy="420623"/>
          </a:xfrm>
        </p:grpSpPr>
        <p:sp>
          <p:nvSpPr>
            <p:cNvPr id="47" name="Rounded Rectangle 24">
              <a:extLst>
                <a:ext uri="{FF2B5EF4-FFF2-40B4-BE49-F238E27FC236}">
                  <a16:creationId xmlns:a16="http://schemas.microsoft.com/office/drawing/2014/main" id="{4A006D53-57D9-437E-B3AC-E62968AB47EF}"/>
                </a:ext>
              </a:extLst>
            </p:cNvPr>
            <p:cNvSpPr/>
            <p:nvPr/>
          </p:nvSpPr>
          <p:spPr>
            <a:xfrm>
              <a:off x="640080" y="3044952"/>
              <a:ext cx="384048" cy="384048"/>
            </a:xfrm>
            <a:prstGeom prst="roundRect">
              <a:avLst>
                <a:gd name="adj" fmla="val 32000"/>
              </a:avLst>
            </a:prstGeom>
            <a:solidFill>
              <a:srgbClr val="EAF2F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5E0FA8FB-EB67-4067-985B-8C7A3282ED47}"/>
                </a:ext>
              </a:extLst>
            </p:cNvPr>
            <p:cNvSpPr txBox="1"/>
            <p:nvPr/>
          </p:nvSpPr>
          <p:spPr>
            <a:xfrm>
              <a:off x="640080" y="3026664"/>
              <a:ext cx="384048" cy="42062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60" b="0">
                  <a:solidFill>
                    <a:srgbClr val="1A1F2B"/>
                  </a:solidFill>
                </a:rPr>
                <a:t>💬</a:t>
              </a:r>
            </a:p>
          </p:txBody>
        </p:sp>
      </p:grpSp>
      <p:grpSp>
        <p:nvGrpSpPr>
          <p:cNvPr id="50" name="그룹 49">
            <a:extLst>
              <a:ext uri="{FF2B5EF4-FFF2-40B4-BE49-F238E27FC236}">
                <a16:creationId xmlns:a16="http://schemas.microsoft.com/office/drawing/2014/main" id="{4A575AC3-D89F-4D14-9D0B-109871421C25}"/>
              </a:ext>
            </a:extLst>
          </p:cNvPr>
          <p:cNvGrpSpPr/>
          <p:nvPr/>
        </p:nvGrpSpPr>
        <p:grpSpPr>
          <a:xfrm>
            <a:off x="3586545" y="5304978"/>
            <a:ext cx="464698" cy="508954"/>
            <a:chOff x="3704336" y="3026664"/>
            <a:chExt cx="384048" cy="420623"/>
          </a:xfrm>
        </p:grpSpPr>
        <p:sp>
          <p:nvSpPr>
            <p:cNvPr id="51" name="Rounded Rectangle 30">
              <a:extLst>
                <a:ext uri="{FF2B5EF4-FFF2-40B4-BE49-F238E27FC236}">
                  <a16:creationId xmlns:a16="http://schemas.microsoft.com/office/drawing/2014/main" id="{18017F63-1BE6-4FEC-8CDC-532E579B8046}"/>
                </a:ext>
              </a:extLst>
            </p:cNvPr>
            <p:cNvSpPr/>
            <p:nvPr/>
          </p:nvSpPr>
          <p:spPr>
            <a:xfrm>
              <a:off x="3704336" y="3044952"/>
              <a:ext cx="384048" cy="384048"/>
            </a:xfrm>
            <a:prstGeom prst="roundRect">
              <a:avLst>
                <a:gd name="adj" fmla="val 32000"/>
              </a:avLst>
            </a:prstGeom>
            <a:solidFill>
              <a:srgbClr val="EAF2F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9C0BC2A9-B3E9-44BA-9385-67D93D6ACEA1}"/>
                </a:ext>
              </a:extLst>
            </p:cNvPr>
            <p:cNvSpPr txBox="1"/>
            <p:nvPr/>
          </p:nvSpPr>
          <p:spPr>
            <a:xfrm>
              <a:off x="3704336" y="3026664"/>
              <a:ext cx="384048" cy="42062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60" b="0">
                  <a:solidFill>
                    <a:srgbClr val="1A1F2B"/>
                  </a:solidFill>
                </a:rPr>
                <a:t>📊</a:t>
              </a:r>
            </a:p>
          </p:txBody>
        </p:sp>
      </p:grpSp>
      <p:sp>
        <p:nvSpPr>
          <p:cNvPr id="57" name="TextBox 56">
            <a:extLst>
              <a:ext uri="{FF2B5EF4-FFF2-40B4-BE49-F238E27FC236}">
                <a16:creationId xmlns:a16="http://schemas.microsoft.com/office/drawing/2014/main" id="{B9926761-4CCD-4333-AD5D-6F9FB4D2DBFD}"/>
              </a:ext>
            </a:extLst>
          </p:cNvPr>
          <p:cNvSpPr txBox="1"/>
          <p:nvPr/>
        </p:nvSpPr>
        <p:spPr>
          <a:xfrm>
            <a:off x="3597628" y="4603966"/>
            <a:ext cx="2865159" cy="44875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lang="en-US" sz="1200" b="1">
                <a:solidFill>
                  <a:srgbClr val="2F6FED"/>
                </a:solidFill>
                <a:latin typeface="+mn-ea"/>
              </a:rPr>
              <a:t>LangGraph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lang="en-US" sz="1200" b="1">
                <a:solidFill>
                  <a:srgbClr val="2F6FED"/>
                </a:solidFill>
                <a:latin typeface="+mn-ea"/>
              </a:rPr>
              <a:t>RAGAS </a:t>
            </a:r>
            <a:r>
              <a:rPr lang="en-US" altLang="ko-KR" sz="1200" b="1">
                <a:solidFill>
                  <a:srgbClr val="2F6FED"/>
                </a:solidFill>
                <a:latin typeface="+mn-ea"/>
              </a:rPr>
              <a:t>· LangSmith</a:t>
            </a:r>
            <a:endParaRPr sz="1200" b="1">
              <a:solidFill>
                <a:srgbClr val="2F6FED"/>
              </a:solidFill>
              <a:latin typeface="+mn-ea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E5537596-86A1-4738-9154-A93129F18A30}"/>
              </a:ext>
            </a:extLst>
          </p:cNvPr>
          <p:cNvSpPr txBox="1"/>
          <p:nvPr/>
        </p:nvSpPr>
        <p:spPr>
          <a:xfrm>
            <a:off x="4083525" y="5139893"/>
            <a:ext cx="2301334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500" b="1">
                <a:latin typeface="+mn-ea"/>
              </a:rPr>
              <a:t>재검토 판정</a:t>
            </a:r>
            <a:endParaRPr lang="en-US" altLang="ko-KR" sz="1500" b="1">
              <a:latin typeface="+mn-ea"/>
            </a:endParaRPr>
          </a:p>
          <a:p>
            <a:pPr marL="93663" indent="-93663">
              <a:buFont typeface="Wingdings" panose="05000000000000000000" pitchFamily="2" charset="2"/>
              <a:buChar char="§"/>
            </a:pPr>
            <a:r>
              <a:rPr lang="en-US" altLang="ko-KR" sz="1400" b="1">
                <a:latin typeface="+mn-ea"/>
              </a:rPr>
              <a:t> </a:t>
            </a:r>
            <a:r>
              <a:rPr lang="en-US" altLang="ko-KR" sz="1400">
                <a:latin typeface="+mn-ea"/>
              </a:rPr>
              <a:t>LangGraph</a:t>
            </a:r>
            <a:endParaRPr lang="ko-KR" altLang="en-US" sz="1400">
              <a:latin typeface="+mn-ea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C578BC64-1104-49E9-A8C0-973F2F279CE8}"/>
              </a:ext>
            </a:extLst>
          </p:cNvPr>
          <p:cNvSpPr txBox="1"/>
          <p:nvPr/>
        </p:nvSpPr>
        <p:spPr>
          <a:xfrm>
            <a:off x="4083525" y="5705816"/>
            <a:ext cx="2225656" cy="7540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500" b="1"/>
              <a:t>자동 채점 </a:t>
            </a:r>
            <a:endParaRPr lang="en-US" altLang="ko-KR" sz="1500" b="1"/>
          </a:p>
          <a:p>
            <a:pPr marL="93663" indent="-93663">
              <a:buFont typeface="Wingdings" panose="05000000000000000000" pitchFamily="2" charset="2"/>
              <a:buChar char="§"/>
            </a:pPr>
            <a:r>
              <a:rPr lang="en-US" altLang="ko-KR" sz="1400">
                <a:latin typeface="+mn-ea"/>
              </a:rPr>
              <a:t> RAGAS · LangSmith </a:t>
            </a:r>
          </a:p>
          <a:p>
            <a:r>
              <a:rPr lang="ko-KR" altLang="en-US" sz="1400">
                <a:latin typeface="+mn-ea"/>
              </a:rPr>
              <a:t>  테스트셋 평가</a:t>
            </a:r>
            <a:r>
              <a:rPr lang="en-US" altLang="ko-KR" sz="140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endParaRPr lang="ko-KR" altLang="en-US" sz="1400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4EE7B714-FB56-4BDE-9F1A-6E683CD88542}"/>
              </a:ext>
            </a:extLst>
          </p:cNvPr>
          <p:cNvSpPr txBox="1"/>
          <p:nvPr/>
        </p:nvSpPr>
        <p:spPr>
          <a:xfrm>
            <a:off x="470815" y="4603966"/>
            <a:ext cx="2865159" cy="44875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lang="en-US" sz="1200" b="1">
                <a:solidFill>
                  <a:srgbClr val="2F6FED"/>
                </a:solidFill>
                <a:latin typeface="+mn-ea"/>
              </a:rPr>
              <a:t>LangChain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lang="en-US" sz="1200" b="1">
                <a:solidFill>
                  <a:srgbClr val="2F6FED"/>
                </a:solidFill>
                <a:latin typeface="+mn-ea"/>
              </a:rPr>
              <a:t>OpenAI </a:t>
            </a:r>
            <a:r>
              <a:rPr lang="en-US" altLang="ko-KR" sz="1200" b="1">
                <a:solidFill>
                  <a:srgbClr val="2F6FED"/>
                </a:solidFill>
                <a:latin typeface="+mn-ea"/>
              </a:rPr>
              <a:t>· GPT-5.6-Luna</a:t>
            </a:r>
            <a:endParaRPr sz="1200" b="1">
              <a:solidFill>
                <a:srgbClr val="2F6FED"/>
              </a:solidFill>
              <a:latin typeface="+mn-ea"/>
            </a:endParaRPr>
          </a:p>
        </p:txBody>
      </p:sp>
      <p:grpSp>
        <p:nvGrpSpPr>
          <p:cNvPr id="74" name="그룹 73">
            <a:extLst>
              <a:ext uri="{FF2B5EF4-FFF2-40B4-BE49-F238E27FC236}">
                <a16:creationId xmlns:a16="http://schemas.microsoft.com/office/drawing/2014/main" id="{B8583573-7B0A-4021-BC60-A6290B016B94}"/>
              </a:ext>
            </a:extLst>
          </p:cNvPr>
          <p:cNvGrpSpPr/>
          <p:nvPr/>
        </p:nvGrpSpPr>
        <p:grpSpPr>
          <a:xfrm>
            <a:off x="6749049" y="5304978"/>
            <a:ext cx="464698" cy="508954"/>
            <a:chOff x="6768592" y="3026664"/>
            <a:chExt cx="384048" cy="420623"/>
          </a:xfrm>
        </p:grpSpPr>
        <p:sp>
          <p:nvSpPr>
            <p:cNvPr id="75" name="Rounded Rectangle 36">
              <a:extLst>
                <a:ext uri="{FF2B5EF4-FFF2-40B4-BE49-F238E27FC236}">
                  <a16:creationId xmlns:a16="http://schemas.microsoft.com/office/drawing/2014/main" id="{398FB2E0-9EA0-4D69-A220-5DF0D0682540}"/>
                </a:ext>
              </a:extLst>
            </p:cNvPr>
            <p:cNvSpPr/>
            <p:nvPr/>
          </p:nvSpPr>
          <p:spPr>
            <a:xfrm>
              <a:off x="6768592" y="3044952"/>
              <a:ext cx="384048" cy="384048"/>
            </a:xfrm>
            <a:prstGeom prst="roundRect">
              <a:avLst>
                <a:gd name="adj" fmla="val 32000"/>
              </a:avLst>
            </a:prstGeom>
            <a:solidFill>
              <a:srgbClr val="EAF2F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521CA3AF-B42D-4B1A-9724-7749C0165CD2}"/>
                </a:ext>
              </a:extLst>
            </p:cNvPr>
            <p:cNvSpPr txBox="1"/>
            <p:nvPr/>
          </p:nvSpPr>
          <p:spPr>
            <a:xfrm>
              <a:off x="6768592" y="3026664"/>
              <a:ext cx="384048" cy="42062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60" b="0">
                  <a:solidFill>
                    <a:srgbClr val="1A1F2B"/>
                  </a:solidFill>
                </a:rPr>
                <a:t>📧</a:t>
              </a:r>
            </a:p>
          </p:txBody>
        </p:sp>
      </p:grpSp>
      <p:sp>
        <p:nvSpPr>
          <p:cNvPr id="77" name="TextBox 76">
            <a:extLst>
              <a:ext uri="{FF2B5EF4-FFF2-40B4-BE49-F238E27FC236}">
                <a16:creationId xmlns:a16="http://schemas.microsoft.com/office/drawing/2014/main" id="{70A85C43-F232-45CA-9884-769B7B1D7D46}"/>
              </a:ext>
            </a:extLst>
          </p:cNvPr>
          <p:cNvSpPr txBox="1"/>
          <p:nvPr/>
        </p:nvSpPr>
        <p:spPr>
          <a:xfrm>
            <a:off x="6771204" y="4559125"/>
            <a:ext cx="2865159" cy="44875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ko-KR" sz="1200" b="1">
                <a:solidFill>
                  <a:srgbClr val="2F6FED"/>
                </a:solidFill>
                <a:latin typeface="+mn-ea"/>
              </a:rPr>
              <a:t>Nodemailer (Gmail SMTP)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2AD29F69-7889-4007-B0FF-F195C85A5293}"/>
              </a:ext>
            </a:extLst>
          </p:cNvPr>
          <p:cNvSpPr txBox="1"/>
          <p:nvPr/>
        </p:nvSpPr>
        <p:spPr>
          <a:xfrm>
            <a:off x="7214856" y="5227557"/>
            <a:ext cx="2141482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300"/>
              </a:spcBef>
            </a:pPr>
            <a:r>
              <a:rPr lang="ko-KR" altLang="en-US" sz="1500" b="1">
                <a:latin typeface="+mn-ea"/>
              </a:rPr>
              <a:t>협업 요청</a:t>
            </a:r>
            <a:endParaRPr lang="en-US" altLang="ko-KR" sz="1500" b="1">
              <a:latin typeface="+mn-ea"/>
            </a:endParaRPr>
          </a:p>
          <a:p>
            <a:pPr marL="176213" indent="-1762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ko-KR" altLang="en-US" sz="1400" spc="-40">
                <a:latin typeface="+mn-ea"/>
              </a:rPr>
              <a:t>중복</a:t>
            </a:r>
            <a:r>
              <a:rPr lang="en-US" altLang="ko-KR" sz="1400" spc="-40">
                <a:latin typeface="+mn-ea"/>
              </a:rPr>
              <a:t>, </a:t>
            </a:r>
            <a:r>
              <a:rPr lang="ko-KR" altLang="en-US" sz="1400" spc="-40">
                <a:latin typeface="+mn-ea"/>
              </a:rPr>
              <a:t>미등록 발송 방지</a:t>
            </a:r>
          </a:p>
        </p:txBody>
      </p:sp>
      <p:sp>
        <p:nvSpPr>
          <p:cNvPr id="78" name="이등변 삼각형 77">
            <a:extLst>
              <a:ext uri="{FF2B5EF4-FFF2-40B4-BE49-F238E27FC236}">
                <a16:creationId xmlns:a16="http://schemas.microsoft.com/office/drawing/2014/main" id="{C14491D8-7583-4FE3-A757-1190AE70C948}"/>
              </a:ext>
            </a:extLst>
          </p:cNvPr>
          <p:cNvSpPr/>
          <p:nvPr/>
        </p:nvSpPr>
        <p:spPr>
          <a:xfrm rot="5400000">
            <a:off x="3264302" y="5357987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4" name="이등변 삼각형 83">
            <a:extLst>
              <a:ext uri="{FF2B5EF4-FFF2-40B4-BE49-F238E27FC236}">
                <a16:creationId xmlns:a16="http://schemas.microsoft.com/office/drawing/2014/main" id="{E7E9A3EA-33DA-4DC3-A654-9E7445FEB849}"/>
              </a:ext>
            </a:extLst>
          </p:cNvPr>
          <p:cNvSpPr/>
          <p:nvPr/>
        </p:nvSpPr>
        <p:spPr>
          <a:xfrm rot="5400000">
            <a:off x="6430066" y="5357987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95" name="그룹 94">
            <a:extLst>
              <a:ext uri="{FF2B5EF4-FFF2-40B4-BE49-F238E27FC236}">
                <a16:creationId xmlns:a16="http://schemas.microsoft.com/office/drawing/2014/main" id="{577D9965-528F-40EB-ABDF-17CDCADC3E9A}"/>
              </a:ext>
            </a:extLst>
          </p:cNvPr>
          <p:cNvGrpSpPr/>
          <p:nvPr/>
        </p:nvGrpSpPr>
        <p:grpSpPr>
          <a:xfrm>
            <a:off x="232193" y="1917024"/>
            <a:ext cx="302999" cy="292608"/>
            <a:chOff x="5104899" y="1637275"/>
            <a:chExt cx="302999" cy="292608"/>
          </a:xfrm>
        </p:grpSpPr>
        <p:sp>
          <p:nvSpPr>
            <p:cNvPr id="96" name="Shape 30">
              <a:extLst>
                <a:ext uri="{FF2B5EF4-FFF2-40B4-BE49-F238E27FC236}">
                  <a16:creationId xmlns:a16="http://schemas.microsoft.com/office/drawing/2014/main" id="{8B2B2B3A-DFBA-4616-8BF4-ED78A2BBE7E5}"/>
                </a:ext>
              </a:extLst>
            </p:cNvPr>
            <p:cNvSpPr/>
            <p:nvPr/>
          </p:nvSpPr>
          <p:spPr>
            <a:xfrm>
              <a:off x="5115290" y="1637275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97" name="Text 31">
              <a:extLst>
                <a:ext uri="{FF2B5EF4-FFF2-40B4-BE49-F238E27FC236}">
                  <a16:creationId xmlns:a16="http://schemas.microsoft.com/office/drawing/2014/main" id="{C9D612DA-B3EE-4A61-814A-B16A2C0A8BEC}"/>
                </a:ext>
              </a:extLst>
            </p:cNvPr>
            <p:cNvSpPr txBox="1"/>
            <p:nvPr/>
          </p:nvSpPr>
          <p:spPr>
            <a:xfrm>
              <a:off x="5104899" y="1637275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1</a:t>
              </a:r>
              <a:endParaRPr lang="en-US" sz="1100" dirty="0"/>
            </a:p>
          </p:txBody>
        </p:sp>
      </p:grpSp>
      <p:grpSp>
        <p:nvGrpSpPr>
          <p:cNvPr id="98" name="그룹 97">
            <a:extLst>
              <a:ext uri="{FF2B5EF4-FFF2-40B4-BE49-F238E27FC236}">
                <a16:creationId xmlns:a16="http://schemas.microsoft.com/office/drawing/2014/main" id="{940FF4C2-C6A6-4C4F-87D3-53ABD770BADB}"/>
              </a:ext>
            </a:extLst>
          </p:cNvPr>
          <p:cNvGrpSpPr/>
          <p:nvPr/>
        </p:nvGrpSpPr>
        <p:grpSpPr>
          <a:xfrm>
            <a:off x="3414442" y="1917024"/>
            <a:ext cx="302999" cy="292608"/>
            <a:chOff x="5104899" y="1637275"/>
            <a:chExt cx="302999" cy="292608"/>
          </a:xfrm>
        </p:grpSpPr>
        <p:sp>
          <p:nvSpPr>
            <p:cNvPr id="99" name="Shape 30">
              <a:extLst>
                <a:ext uri="{FF2B5EF4-FFF2-40B4-BE49-F238E27FC236}">
                  <a16:creationId xmlns:a16="http://schemas.microsoft.com/office/drawing/2014/main" id="{D0EFD2E6-2D5E-40DB-B18C-1991BAAA0098}"/>
                </a:ext>
              </a:extLst>
            </p:cNvPr>
            <p:cNvSpPr/>
            <p:nvPr/>
          </p:nvSpPr>
          <p:spPr>
            <a:xfrm>
              <a:off x="5115290" y="1637275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100" name="Text 31">
              <a:extLst>
                <a:ext uri="{FF2B5EF4-FFF2-40B4-BE49-F238E27FC236}">
                  <a16:creationId xmlns:a16="http://schemas.microsoft.com/office/drawing/2014/main" id="{92F30C12-D3F3-4A00-BB80-EA44C3A1A912}"/>
                </a:ext>
              </a:extLst>
            </p:cNvPr>
            <p:cNvSpPr txBox="1"/>
            <p:nvPr/>
          </p:nvSpPr>
          <p:spPr>
            <a:xfrm>
              <a:off x="5104899" y="1637275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2</a:t>
              </a:r>
              <a:endParaRPr lang="en-US" sz="1100" dirty="0"/>
            </a:p>
          </p:txBody>
        </p:sp>
      </p:grpSp>
      <p:grpSp>
        <p:nvGrpSpPr>
          <p:cNvPr id="101" name="그룹 100">
            <a:extLst>
              <a:ext uri="{FF2B5EF4-FFF2-40B4-BE49-F238E27FC236}">
                <a16:creationId xmlns:a16="http://schemas.microsoft.com/office/drawing/2014/main" id="{7195E955-8E8E-40AA-B105-C5453FBE5538}"/>
              </a:ext>
            </a:extLst>
          </p:cNvPr>
          <p:cNvGrpSpPr/>
          <p:nvPr/>
        </p:nvGrpSpPr>
        <p:grpSpPr>
          <a:xfrm>
            <a:off x="6597549" y="1917024"/>
            <a:ext cx="302999" cy="292608"/>
            <a:chOff x="5104899" y="1637275"/>
            <a:chExt cx="302999" cy="292608"/>
          </a:xfrm>
        </p:grpSpPr>
        <p:sp>
          <p:nvSpPr>
            <p:cNvPr id="102" name="Shape 30">
              <a:extLst>
                <a:ext uri="{FF2B5EF4-FFF2-40B4-BE49-F238E27FC236}">
                  <a16:creationId xmlns:a16="http://schemas.microsoft.com/office/drawing/2014/main" id="{23C05CBF-C1E0-4F32-8772-3AB9FB944086}"/>
                </a:ext>
              </a:extLst>
            </p:cNvPr>
            <p:cNvSpPr/>
            <p:nvPr/>
          </p:nvSpPr>
          <p:spPr>
            <a:xfrm>
              <a:off x="5115290" y="1637275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103" name="Text 31">
              <a:extLst>
                <a:ext uri="{FF2B5EF4-FFF2-40B4-BE49-F238E27FC236}">
                  <a16:creationId xmlns:a16="http://schemas.microsoft.com/office/drawing/2014/main" id="{086CC501-8ABF-4CE4-8C2F-57BE49861B9D}"/>
                </a:ext>
              </a:extLst>
            </p:cNvPr>
            <p:cNvSpPr txBox="1"/>
            <p:nvPr/>
          </p:nvSpPr>
          <p:spPr>
            <a:xfrm>
              <a:off x="5104899" y="1637275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3</a:t>
              </a:r>
              <a:endParaRPr lang="en-US" sz="1100" dirty="0"/>
            </a:p>
          </p:txBody>
        </p:sp>
      </p:grpSp>
      <p:grpSp>
        <p:nvGrpSpPr>
          <p:cNvPr id="104" name="그룹 103">
            <a:extLst>
              <a:ext uri="{FF2B5EF4-FFF2-40B4-BE49-F238E27FC236}">
                <a16:creationId xmlns:a16="http://schemas.microsoft.com/office/drawing/2014/main" id="{1D21CC5F-4C5B-4AE9-B3F0-0B7270C14D43}"/>
              </a:ext>
            </a:extLst>
          </p:cNvPr>
          <p:cNvGrpSpPr/>
          <p:nvPr/>
        </p:nvGrpSpPr>
        <p:grpSpPr>
          <a:xfrm>
            <a:off x="232193" y="4261910"/>
            <a:ext cx="302999" cy="292608"/>
            <a:chOff x="5104899" y="1637275"/>
            <a:chExt cx="302999" cy="292608"/>
          </a:xfrm>
        </p:grpSpPr>
        <p:sp>
          <p:nvSpPr>
            <p:cNvPr id="105" name="Shape 30">
              <a:extLst>
                <a:ext uri="{FF2B5EF4-FFF2-40B4-BE49-F238E27FC236}">
                  <a16:creationId xmlns:a16="http://schemas.microsoft.com/office/drawing/2014/main" id="{1168DE8F-D4BD-49C4-9AE4-9A8435FF49B0}"/>
                </a:ext>
              </a:extLst>
            </p:cNvPr>
            <p:cNvSpPr/>
            <p:nvPr/>
          </p:nvSpPr>
          <p:spPr>
            <a:xfrm>
              <a:off x="5115290" y="1637275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106" name="Text 31">
              <a:extLst>
                <a:ext uri="{FF2B5EF4-FFF2-40B4-BE49-F238E27FC236}">
                  <a16:creationId xmlns:a16="http://schemas.microsoft.com/office/drawing/2014/main" id="{4FAB4E9D-491F-4D8E-BC85-4032D3D8B35F}"/>
                </a:ext>
              </a:extLst>
            </p:cNvPr>
            <p:cNvSpPr txBox="1"/>
            <p:nvPr/>
          </p:nvSpPr>
          <p:spPr>
            <a:xfrm>
              <a:off x="5104899" y="1637275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4</a:t>
              </a:r>
              <a:endParaRPr lang="en-US" sz="1100" dirty="0"/>
            </a:p>
          </p:txBody>
        </p:sp>
      </p:grpSp>
      <p:grpSp>
        <p:nvGrpSpPr>
          <p:cNvPr id="107" name="그룹 106">
            <a:extLst>
              <a:ext uri="{FF2B5EF4-FFF2-40B4-BE49-F238E27FC236}">
                <a16:creationId xmlns:a16="http://schemas.microsoft.com/office/drawing/2014/main" id="{9DC409BF-A5B5-4665-A6C4-B9A583D9DC13}"/>
              </a:ext>
            </a:extLst>
          </p:cNvPr>
          <p:cNvGrpSpPr/>
          <p:nvPr/>
        </p:nvGrpSpPr>
        <p:grpSpPr>
          <a:xfrm>
            <a:off x="3414442" y="4261910"/>
            <a:ext cx="302999" cy="292608"/>
            <a:chOff x="5104899" y="1637275"/>
            <a:chExt cx="302999" cy="292608"/>
          </a:xfrm>
        </p:grpSpPr>
        <p:sp>
          <p:nvSpPr>
            <p:cNvPr id="108" name="Shape 30">
              <a:extLst>
                <a:ext uri="{FF2B5EF4-FFF2-40B4-BE49-F238E27FC236}">
                  <a16:creationId xmlns:a16="http://schemas.microsoft.com/office/drawing/2014/main" id="{34C04643-2414-4225-9C94-4F705E517459}"/>
                </a:ext>
              </a:extLst>
            </p:cNvPr>
            <p:cNvSpPr/>
            <p:nvPr/>
          </p:nvSpPr>
          <p:spPr>
            <a:xfrm>
              <a:off x="5115290" y="1637275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109" name="Text 31">
              <a:extLst>
                <a:ext uri="{FF2B5EF4-FFF2-40B4-BE49-F238E27FC236}">
                  <a16:creationId xmlns:a16="http://schemas.microsoft.com/office/drawing/2014/main" id="{69FA204D-8D89-4844-8272-C77A0627D99F}"/>
                </a:ext>
              </a:extLst>
            </p:cNvPr>
            <p:cNvSpPr txBox="1"/>
            <p:nvPr/>
          </p:nvSpPr>
          <p:spPr>
            <a:xfrm>
              <a:off x="5104899" y="1637275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5</a:t>
              </a:r>
              <a:endParaRPr lang="en-US" sz="1100" dirty="0"/>
            </a:p>
          </p:txBody>
        </p:sp>
      </p:grpSp>
      <p:grpSp>
        <p:nvGrpSpPr>
          <p:cNvPr id="110" name="그룹 109">
            <a:extLst>
              <a:ext uri="{FF2B5EF4-FFF2-40B4-BE49-F238E27FC236}">
                <a16:creationId xmlns:a16="http://schemas.microsoft.com/office/drawing/2014/main" id="{91F0B405-F830-42CA-BC6D-C63A639BF8AA}"/>
              </a:ext>
            </a:extLst>
          </p:cNvPr>
          <p:cNvGrpSpPr/>
          <p:nvPr/>
        </p:nvGrpSpPr>
        <p:grpSpPr>
          <a:xfrm>
            <a:off x="6597549" y="4261910"/>
            <a:ext cx="302999" cy="292608"/>
            <a:chOff x="5104899" y="1637275"/>
            <a:chExt cx="302999" cy="292608"/>
          </a:xfrm>
        </p:grpSpPr>
        <p:sp>
          <p:nvSpPr>
            <p:cNvPr id="111" name="Shape 30">
              <a:extLst>
                <a:ext uri="{FF2B5EF4-FFF2-40B4-BE49-F238E27FC236}">
                  <a16:creationId xmlns:a16="http://schemas.microsoft.com/office/drawing/2014/main" id="{91C303F0-3753-4963-A858-AC15B434AF5A}"/>
                </a:ext>
              </a:extLst>
            </p:cNvPr>
            <p:cNvSpPr/>
            <p:nvPr/>
          </p:nvSpPr>
          <p:spPr>
            <a:xfrm>
              <a:off x="5115290" y="1637275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112" name="Text 31">
              <a:extLst>
                <a:ext uri="{FF2B5EF4-FFF2-40B4-BE49-F238E27FC236}">
                  <a16:creationId xmlns:a16="http://schemas.microsoft.com/office/drawing/2014/main" id="{97F17D6A-D313-42C1-925A-4E4A489C4D8D}"/>
                </a:ext>
              </a:extLst>
            </p:cNvPr>
            <p:cNvSpPr txBox="1"/>
            <p:nvPr/>
          </p:nvSpPr>
          <p:spPr>
            <a:xfrm>
              <a:off x="5104899" y="1637275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6</a:t>
              </a:r>
              <a:endParaRPr lang="en-US" sz="1100" dirty="0"/>
            </a:p>
          </p:txBody>
        </p:sp>
      </p:grpSp>
      <p:sp>
        <p:nvSpPr>
          <p:cNvPr id="113" name="TextBox 112">
            <a:extLst>
              <a:ext uri="{FF2B5EF4-FFF2-40B4-BE49-F238E27FC236}">
                <a16:creationId xmlns:a16="http://schemas.microsoft.com/office/drawing/2014/main" id="{9CE0A0F1-CA9D-4AB3-A0A8-8D5412E08F92}"/>
              </a:ext>
            </a:extLst>
          </p:cNvPr>
          <p:cNvSpPr txBox="1"/>
          <p:nvPr/>
        </p:nvSpPr>
        <p:spPr>
          <a:xfrm>
            <a:off x="989636" y="5227557"/>
            <a:ext cx="2424806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300"/>
              </a:spcBef>
            </a:pPr>
            <a:r>
              <a:rPr lang="ko-KR" altLang="en-US" sz="1500" b="1">
                <a:latin typeface="+mn-ea"/>
              </a:rPr>
              <a:t>응답 생성</a:t>
            </a:r>
            <a:endParaRPr lang="en-US" altLang="ko-KR" sz="1500" b="1">
              <a:latin typeface="+mn-ea"/>
            </a:endParaRPr>
          </a:p>
          <a:p>
            <a:pPr marL="176213" indent="-1762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ko-KR" altLang="en-US" sz="1400" spc="-40">
                <a:latin typeface="+mn-ea"/>
              </a:rPr>
              <a:t>근거 문서 인용 포함 판단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0377F850-F23F-4F0F-9DB3-19DE32D713A8}"/>
              </a:ext>
            </a:extLst>
          </p:cNvPr>
          <p:cNvSpPr txBox="1"/>
          <p:nvPr/>
        </p:nvSpPr>
        <p:spPr>
          <a:xfrm>
            <a:off x="4041488" y="2880745"/>
            <a:ext cx="2556061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300"/>
              </a:spcBef>
            </a:pPr>
            <a:r>
              <a:rPr lang="ko-KR" altLang="en-US" sz="1500" b="1">
                <a:latin typeface="+mn-ea"/>
              </a:rPr>
              <a:t>요청 처리 서버</a:t>
            </a:r>
            <a:endParaRPr lang="en-US" altLang="ko-KR" sz="1500" b="1">
              <a:latin typeface="+mn-ea"/>
            </a:endParaRPr>
          </a:p>
          <a:p>
            <a:pPr marL="93663" indent="-9366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400">
                <a:latin typeface="+mn-ea"/>
              </a:rPr>
              <a:t> </a:t>
            </a:r>
            <a:r>
              <a:rPr lang="ko-KR" altLang="en-US" sz="1400" spc="-60">
                <a:latin typeface="+mn-ea"/>
              </a:rPr>
              <a:t>화면</a:t>
            </a:r>
            <a:r>
              <a:rPr lang="en-US" altLang="ko-KR" sz="1400" b="1">
                <a:latin typeface="+mn-ea"/>
              </a:rPr>
              <a:t>·</a:t>
            </a:r>
            <a:r>
              <a:rPr lang="ko-KR" altLang="en-US" sz="1400" spc="-60">
                <a:latin typeface="+mn-ea"/>
              </a:rPr>
              <a:t>서버 하나로 통합 구성</a:t>
            </a:r>
          </a:p>
        </p:txBody>
      </p:sp>
    </p:spTree>
    <p:extLst>
      <p:ext uri="{BB962C8B-B14F-4D97-AF65-F5344CB8AC3E}">
        <p14:creationId xmlns:p14="http://schemas.microsoft.com/office/powerpoint/2010/main" val="192216185"/>
      </p:ext>
    </p:extLst>
  </p:cSld>
  <p:clrMapOvr>
    <a:masterClrMapping/>
  </p:clrMapOvr>
</p:sld>
</file>

<file path=ppt/theme/theme1.xml><?xml version="1.0" encoding="utf-8"?>
<a:theme xmlns:a="http://schemas.openxmlformats.org/drawingml/2006/main" name="Default Theme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efault Theme" id="{1C406C30-685F-4132-9A26-55964B5B5B01}" vid="{E518DA7B-1320-4EFF-98A5-E9BC59A80662}"/>
    </a:ext>
  </a:extLst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1683</TotalTime>
  <Words>1329</Words>
  <Application>Microsoft Office PowerPoint</Application>
  <DocSecurity>0</DocSecurity>
  <PresentationFormat>A4 용지(210x297mm)</PresentationFormat>
  <Paragraphs>247</Paragraphs>
  <Slides>8</Slides>
  <Notes>4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8</vt:i4>
      </vt:variant>
    </vt:vector>
  </HeadingPairs>
  <TitlesOfParts>
    <vt:vector size="15" baseType="lpstr">
      <vt:lpstr>Calibri</vt:lpstr>
      <vt:lpstr>Wingdings</vt:lpstr>
      <vt:lpstr>HY견고딕</vt:lpstr>
      <vt:lpstr>맑은 고딕</vt:lpstr>
      <vt:lpstr>Calibri Light</vt:lpstr>
      <vt:lpstr>Arial</vt:lpstr>
      <vt:lpstr>Default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Administrator</cp:lastModifiedBy>
  <cp:revision>312</cp:revision>
  <dcterms:created xsi:type="dcterms:W3CDTF">2026-09-04T08:20:33Z</dcterms:created>
  <dcterms:modified xsi:type="dcterms:W3CDTF">2026-09-15T05:31:38Z</dcterms:modified>
</cp:coreProperties>
</file>