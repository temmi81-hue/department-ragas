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10"/>
  </p:notesMasterIdLst>
  <p:sldIdLst>
    <p:sldId id="256" r:id="rId2"/>
    <p:sldId id="284" r:id="rId3"/>
    <p:sldId id="285" r:id="rId4"/>
    <p:sldId id="279" r:id="rId5"/>
    <p:sldId id="287" r:id="rId6"/>
    <p:sldId id="280" r:id="rId7"/>
    <p:sldId id="283" r:id="rId8"/>
    <p:sldId id="288" r:id="rId9"/>
  </p:sldIdLst>
  <p:sldSz cx="9906000" cy="6858000" type="A4"/>
  <p:notesSz cx="6858000" cy="9144000"/>
  <p:embeddedFontLs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Calibri Light" panose="020F0302020204030204" pitchFamily="34" charset="0"/>
      <p:regular r:id="rId15"/>
      <p:italic r:id="rId16"/>
    </p:embeddedFont>
    <p:embeddedFont>
      <p:font typeface="HY견고딕" panose="02030600000101010101" pitchFamily="18" charset="-127"/>
      <p:regular r:id="rId17"/>
    </p:embeddedFont>
    <p:embeddedFont>
      <p:font typeface="맑은 고딕" panose="020B0503020000020004" pitchFamily="50" charset="-127"/>
      <p:regular r:id="rId18"/>
      <p:bold r:id="rId1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79FE0"/>
    <a:srgbClr val="F5F6F7"/>
    <a:srgbClr val="F5F6F8"/>
    <a:srgbClr val="DFE2E7"/>
    <a:srgbClr val="DDE0E5"/>
    <a:srgbClr val="F4F5F9"/>
    <a:srgbClr val="E1E6F0"/>
    <a:srgbClr val="EDF1FA"/>
    <a:srgbClr val="F4F6F8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1298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22.svg"/><Relationship Id="rId7" Type="http://schemas.openxmlformats.org/officeDocument/2006/relationships/image" Target="../media/image3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4.png"/><Relationship Id="rId4" Type="http://schemas.openxmlformats.org/officeDocument/2006/relationships/image" Target="../media/image4.png"/><Relationship Id="rId9" Type="http://schemas.openxmlformats.org/officeDocument/2006/relationships/hyperlink" Target="department-workflow-demo-ai-match.mp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  키워드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b="1"/>
              <a:t>유형 분석              절차</a:t>
            </a:r>
            <a:r>
              <a:rPr lang="en-US" altLang="ko-KR" sz="1400" b="1"/>
              <a:t>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30495" y="6092035"/>
            <a:ext cx="9409457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  <a:latin typeface="+mn-ea"/>
              </a:rPr>
              <a:t>        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B273691-F70E-4DA3-8FC4-27B912BBBBB3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1FF74794-DBB2-42EC-9656-063B13795A7D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화살표: 오른쪽 53">
              <a:extLst>
                <a:ext uri="{FF2B5EF4-FFF2-40B4-BE49-F238E27FC236}">
                  <a16:creationId xmlns:a16="http://schemas.microsoft.com/office/drawing/2014/main" id="{8CA3DC86-BB4D-45F2-B178-FE7EBBAA57FA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597174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325500" y="6101535"/>
            <a:ext cx="9354428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RAGAS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평가까지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개발 과정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사규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정책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문서 </a:t>
            </a:r>
            <a:r>
              <a:rPr lang="en-US" altLang="ko-KR" sz="1300">
                <a:latin typeface="+mn-ea"/>
              </a:rPr>
              <a:t>3,450</a:t>
            </a:r>
            <a:r>
              <a:rPr lang="ko-KR" altLang="en-US" sz="1300">
                <a:latin typeface="+mn-ea"/>
              </a:rPr>
              <a:t>여개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조직 </a:t>
            </a:r>
            <a:r>
              <a:rPr lang="en-US" altLang="ko-KR" sz="1300">
                <a:latin typeface="+mn-ea"/>
              </a:rPr>
              <a:t>126</a:t>
            </a:r>
            <a:r>
              <a:rPr lang="ko-KR" altLang="en-US" sz="1300">
                <a:latin typeface="+mn-ea"/>
              </a:rPr>
              <a:t>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대표부서 선정</a:t>
            </a:r>
            <a:r>
              <a:rPr lang="en-US" altLang="ko-KR" sz="1300">
                <a:latin typeface="+mn-ea"/>
              </a:rPr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35</a:t>
            </a:r>
            <a:r>
              <a:rPr lang="ko-KR" altLang="en-US" sz="1300">
                <a:latin typeface="+mn-ea"/>
              </a:rPr>
              <a:t>개</a:t>
            </a:r>
            <a:r>
              <a:rPr lang="en-US" altLang="ko-KR" sz="1300">
                <a:latin typeface="+mn-ea"/>
              </a:rPr>
              <a:t>)</a:t>
            </a:r>
            <a:endParaRPr lang="ko-KR" altLang="en-US" sz="1300">
              <a:latin typeface="+mn-ea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</a:t>
            </a:r>
            <a:r>
              <a:rPr lang="en-US" altLang="ko-KR" sz="1200" b="1">
                <a:solidFill>
                  <a:srgbClr val="0000FF"/>
                </a:solidFill>
                <a:latin typeface="+mn-ea"/>
              </a:rPr>
              <a:t>·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</a:t>
            </a:r>
            <a:r>
              <a:rPr lang="ko-KR" altLang="en-US" sz="1300" b="1">
                <a:solidFill>
                  <a:srgbClr val="0000FF"/>
                </a:solidFill>
              </a:rPr>
              <a:t>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규칙 기반 부서</a:t>
            </a:r>
            <a:r>
              <a:rPr lang="en-US" altLang="ko-KR" sz="1300"/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 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골든셋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31787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시도를 통한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2633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C020AD-6E54-46E0-97B0-59A01BE40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361" y="1459854"/>
            <a:ext cx="4445565" cy="2254216"/>
          </a:xfrm>
          <a:prstGeom prst="rect">
            <a:avLst/>
          </a:prstGeom>
        </p:spPr>
      </p:pic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2633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52514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61367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55741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52514" y="4986728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423332" y="5025200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골든셋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61367" y="4986728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78886" y="5025200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55741" y="4986728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426442" y="5025200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426442" y="5341747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520450" y="5341747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423332" y="5341747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58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 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351453" y="4003465"/>
            <a:ext cx="9267683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골든셋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 기준을 적용하고</a:t>
            </a:r>
            <a:r>
              <a:rPr lang="en-US" altLang="ko-KR" sz="1400" b="1">
                <a:latin typeface="+mn-ea"/>
              </a:rPr>
              <a:t>, LangSmith</a:t>
            </a:r>
            <a:r>
              <a:rPr lang="ko-KR" altLang="en-US" sz="1400" b="1">
                <a:latin typeface="+mn-ea"/>
              </a:rPr>
              <a:t>로 전체 실행 과정과 채점 결과를 자동 관리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r>
              <a:rPr lang="en-US" altLang="ko-KR" sz="1500" b="1" spc="-30">
                <a:latin typeface="+mn-ea"/>
              </a:rPr>
              <a:t>*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69442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67467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618758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 정량적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80">
                <a:latin typeface="+mn-ea"/>
              </a:rPr>
              <a:t>3</a:t>
            </a:r>
            <a:r>
              <a:rPr lang="ko-KR" altLang="en-US" sz="1300" spc="-80">
                <a:latin typeface="+mn-ea"/>
              </a:rPr>
              <a:t>라운드에 걸쳐 골든셋 정답률 단계적 개선 </a:t>
            </a:r>
            <a:r>
              <a:rPr lang="en-US" altLang="ko-KR" sz="1300" spc="-80">
                <a:latin typeface="+mn-ea"/>
              </a:rPr>
              <a:t>(37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58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68%)</a:t>
            </a:r>
            <a:endParaRPr lang="ko-KR" altLang="en-US" sz="1300" spc="-8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57206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67245" y="2281009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67245" y="2779240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67245" y="3382448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33441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32082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solidFill>
              <a:srgbClr val="E1E6F0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38602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0" y="5717419"/>
            <a:ext cx="7875945" cy="309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r>
              <a:rPr lang="ko-KR" altLang="en-US" sz="1400" b="1" i="0">
                <a:solidFill>
                  <a:srgbClr val="0000FF"/>
                </a:solidFill>
                <a:effectLst/>
                <a:latin typeface="+mn-ea"/>
              </a:rPr>
              <a:t>→ 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GPT-5.6 Luna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최종 채택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 </a:t>
            </a:r>
            <a:endParaRPr lang="ko-KR" altLang="en-US" sz="1400" b="1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52514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61367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55741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52514" y="6095089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430259" y="6133561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61367" y="6095089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75422" y="6133561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55741" y="6095089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33369" y="6133561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33369" y="6450108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516986" y="6450108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430259" y="6450108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0" y="4616693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F1399A8-F879-4FEC-9DFB-1D11467EC11B}"/>
              </a:ext>
            </a:extLst>
          </p:cNvPr>
          <p:cNvSpPr txBox="1"/>
          <p:nvPr/>
        </p:nvSpPr>
        <p:spPr>
          <a:xfrm>
            <a:off x="2566555" y="3674689"/>
            <a:ext cx="22865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>
                <a:latin typeface="+mn-ea"/>
              </a:rPr>
              <a:t>* </a:t>
            </a:r>
            <a:r>
              <a:rPr lang="ko-KR" altLang="en-US" sz="1100">
                <a:latin typeface="+mn-ea"/>
              </a:rPr>
              <a:t>골든셋 </a:t>
            </a:r>
            <a:r>
              <a:rPr lang="en-US" altLang="ko-KR" sz="1100">
                <a:latin typeface="+mn-ea"/>
              </a:rPr>
              <a:t>19</a:t>
            </a:r>
            <a:r>
              <a:rPr lang="ko-KR" altLang="en-US" sz="1100">
                <a:latin typeface="+mn-ea"/>
              </a:rPr>
              <a:t>건 기준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879A11C-BFE7-4663-8070-C7683062E7FC}"/>
              </a:ext>
            </a:extLst>
          </p:cNvPr>
          <p:cNvGrpSpPr/>
          <p:nvPr/>
        </p:nvGrpSpPr>
        <p:grpSpPr>
          <a:xfrm>
            <a:off x="1065233" y="2172115"/>
            <a:ext cx="3820041" cy="551408"/>
            <a:chOff x="-3319430" y="2677076"/>
            <a:chExt cx="3820041" cy="551408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7034B27B-D7F7-49BF-8CF1-7AA52843A412}"/>
                </a:ext>
              </a:extLst>
            </p:cNvPr>
            <p:cNvSpPr/>
            <p:nvPr/>
          </p:nvSpPr>
          <p:spPr>
            <a:xfrm>
              <a:off x="-3319430" y="2677076"/>
              <a:ext cx="3820041" cy="551408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3" name="그림 72">
              <a:extLst>
                <a:ext uri="{FF2B5EF4-FFF2-40B4-BE49-F238E27FC236}">
                  <a16:creationId xmlns:a16="http://schemas.microsoft.com/office/drawing/2014/main" id="{B2414B01-EA20-4F93-BFED-40DAB6411FC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3254283" y="2706981"/>
              <a:ext cx="3711262" cy="487624"/>
            </a:xfrm>
            <a:prstGeom prst="rect">
              <a:avLst/>
            </a:prstGeom>
            <a:noFill/>
            <a:ln w="19050">
              <a:noFill/>
            </a:ln>
          </p:spPr>
        </p:pic>
      </p:grp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B3369A65-3330-4382-810B-16F512116A9D}"/>
              </a:ext>
            </a:extLst>
          </p:cNvPr>
          <p:cNvSpPr/>
          <p:nvPr/>
        </p:nvSpPr>
        <p:spPr>
          <a:xfrm>
            <a:off x="3278007" y="1601231"/>
            <a:ext cx="1597664" cy="16974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03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018162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018162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018163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685410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685410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685410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/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2" y="5975887"/>
            <a:ext cx="213683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 확보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6.0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73554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초안 작성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73554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>
                <a:solidFill>
                  <a:srgbClr val="00B0F0"/>
                </a:solidFill>
                <a:latin typeface="+mn-ea"/>
              </a:rPr>
              <a:t>·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  <p:pic>
        <p:nvPicPr>
          <p:cNvPr id="5" name="그림 4">
            <a:hlinkClick r:id="rId9" action="ppaction://hlinkfile"/>
            <a:extLst>
              <a:ext uri="{FF2B5EF4-FFF2-40B4-BE49-F238E27FC236}">
                <a16:creationId xmlns:a16="http://schemas.microsoft.com/office/drawing/2014/main" id="{AEE86CA0-2D91-494D-AA7D-58705289DE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561" y="1123557"/>
            <a:ext cx="3401618" cy="25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품질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50">
                <a:latin typeface="+mn-ea"/>
              </a:rPr>
              <a:t>핵심 기능 검증</a:t>
            </a:r>
            <a:r>
              <a:rPr lang="en-US" altLang="ko-KR" sz="1300" spc="-50">
                <a:latin typeface="+mn-ea"/>
              </a:rPr>
              <a:t>, </a:t>
            </a:r>
            <a:r>
              <a:rPr lang="ko-KR" altLang="en-US" sz="1300" spc="-50">
                <a:latin typeface="+mn-ea"/>
              </a:rPr>
              <a:t>서버 확인 절차 등 </a:t>
            </a:r>
            <a:endParaRPr lang="en-US" altLang="ko-KR" sz="1300" spc="-50">
              <a:latin typeface="+mn-ea"/>
            </a:endParaRPr>
          </a:p>
          <a:p>
            <a:r>
              <a:rPr lang="ko-KR" altLang="en-US" sz="1300" spc="-50">
                <a:latin typeface="+mn-ea"/>
              </a:rPr>
              <a:t>안전장치 보완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04955" y="1356790"/>
            <a:ext cx="4747501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87195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11600" y="1878502"/>
            <a:ext cx="4915027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Python </a:t>
            </a:r>
            <a:r>
              <a:rPr lang="ko-KR" altLang="en-US" sz="1400" spc="-40">
                <a:latin typeface="+mn-ea"/>
              </a:rPr>
              <a:t>기초</a:t>
            </a:r>
            <a:r>
              <a:rPr lang="en-US" altLang="ko-KR" sz="1400" spc="-40">
                <a:latin typeface="+mn-ea"/>
              </a:rPr>
              <a:t>, VS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Code,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GitHub, LangChain, RAG </a:t>
            </a:r>
            <a:r>
              <a:rPr lang="ko-KR" altLang="en-US" sz="1400" spc="-40">
                <a:latin typeface="+mn-ea"/>
              </a:rPr>
              <a:t>등</a:t>
            </a:r>
            <a:endParaRPr lang="en-US" altLang="ko-KR" sz="14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 spc="-40">
                <a:latin typeface="+mn-ea"/>
              </a:rPr>
              <a:t>  </a:t>
            </a:r>
            <a:r>
              <a:rPr lang="ko-KR" altLang="en-US" sz="1400" spc="-40">
                <a:latin typeface="+mn-ea"/>
              </a:rPr>
              <a:t>새로운 개념 학습</a:t>
            </a: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→ 실제 웹 서비스 구현에 활용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반복 평가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모델 개선으로 주관부서 매칭 정확도 </a:t>
            </a:r>
            <a:r>
              <a:rPr lang="en-US" altLang="ko-KR" sz="1400" spc="-40">
                <a:latin typeface="+mn-ea"/>
              </a:rPr>
              <a:t>63 </a:t>
            </a:r>
            <a:r>
              <a:rPr lang="ko-KR" altLang="en-US" sz="1400" spc="-40">
                <a:latin typeface="+mn-ea"/>
              </a:rPr>
              <a:t>→ </a:t>
            </a:r>
            <a:r>
              <a:rPr lang="en-US" altLang="ko-KR" sz="1400" spc="-40">
                <a:latin typeface="+mn-ea"/>
              </a:rPr>
              <a:t>95% 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LangSmith</a:t>
            </a:r>
            <a:r>
              <a:rPr lang="ko-KR" altLang="en-US" sz="1400" spc="-40">
                <a:latin typeface="+mn-ea"/>
              </a:rPr>
              <a:t> 트레이싱</a:t>
            </a:r>
            <a:r>
              <a:rPr lang="en-US" altLang="ko-KR" sz="1400" spc="-40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자동 채점 시스템 경험 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88082" y="1878502"/>
            <a:ext cx="4890655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회사 지침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규정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프로세스 데이터 추가 확보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실제 업무 데이터로 다양한 상황 검증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임베딩 유사도만으로 애매한 경계 사례 보완 </a:t>
            </a:r>
            <a:r>
              <a:rPr lang="en-US" altLang="ko-KR" sz="1400" spc="-40">
                <a:latin typeface="+mn-ea"/>
              </a:rPr>
              <a:t>(Reranking)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현업 사용자 의견을 반영한 서비스 향상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734795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52556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126135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48188336-0194-41F9-8F5E-A01D05CA77ED}"/>
              </a:ext>
            </a:extLst>
          </p:cNvPr>
          <p:cNvSpPr>
            <a:spLocks noGrp="1"/>
          </p:cNvSpPr>
          <p:nvPr/>
        </p:nvSpPr>
        <p:spPr>
          <a:xfrm>
            <a:off x="3448587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53B7273A-BDF9-437A-8C55-2D48EB8ED118}"/>
              </a:ext>
            </a:extLst>
          </p:cNvPr>
          <p:cNvSpPr>
            <a:spLocks noGrp="1"/>
          </p:cNvSpPr>
          <p:nvPr/>
        </p:nvSpPr>
        <p:spPr>
          <a:xfrm>
            <a:off x="6601065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F432CC7F-46D1-4AF6-ADB6-0B1FC20372EE}"/>
              </a:ext>
            </a:extLst>
          </p:cNvPr>
          <p:cNvSpPr>
            <a:spLocks noGrp="1"/>
          </p:cNvSpPr>
          <p:nvPr/>
        </p:nvSpPr>
        <p:spPr>
          <a:xfrm>
            <a:off x="298630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F4133112-5F7A-4066-BF47-F14ECA240030}"/>
              </a:ext>
            </a:extLst>
          </p:cNvPr>
          <p:cNvSpPr>
            <a:spLocks noGrp="1"/>
          </p:cNvSpPr>
          <p:nvPr/>
        </p:nvSpPr>
        <p:spPr>
          <a:xfrm>
            <a:off x="298630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42CD2C78-F92D-43E1-9817-7DC040D68104}"/>
              </a:ext>
            </a:extLst>
          </p:cNvPr>
          <p:cNvSpPr>
            <a:spLocks noGrp="1"/>
          </p:cNvSpPr>
          <p:nvPr/>
        </p:nvSpPr>
        <p:spPr>
          <a:xfrm>
            <a:off x="3448587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1618651D-F4E5-4D6F-B934-F71DF2559191}"/>
              </a:ext>
            </a:extLst>
          </p:cNvPr>
          <p:cNvSpPr>
            <a:spLocks noGrp="1"/>
          </p:cNvSpPr>
          <p:nvPr/>
        </p:nvSpPr>
        <p:spPr>
          <a:xfrm>
            <a:off x="6601065" y="4427012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첨부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]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서비스를 움직이는 기술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E7BCA31-1083-4868-AB2E-E33DC45B396A}"/>
              </a:ext>
            </a:extLst>
          </p:cNvPr>
          <p:cNvGrpSpPr/>
          <p:nvPr/>
        </p:nvGrpSpPr>
        <p:grpSpPr>
          <a:xfrm>
            <a:off x="301491" y="899849"/>
            <a:ext cx="2097024" cy="859536"/>
            <a:chOff x="436418" y="1076496"/>
            <a:chExt cx="2097024" cy="859536"/>
          </a:xfrm>
        </p:grpSpPr>
        <p:sp>
          <p:nvSpPr>
            <p:cNvPr id="59" name="Rounded Rectangle 43">
              <a:extLst>
                <a:ext uri="{FF2B5EF4-FFF2-40B4-BE49-F238E27FC236}">
                  <a16:creationId xmlns:a16="http://schemas.microsoft.com/office/drawing/2014/main" id="{996F7484-581E-4BBF-817C-50E10F835049}"/>
                </a:ext>
              </a:extLst>
            </p:cNvPr>
            <p:cNvSpPr/>
            <p:nvPr/>
          </p:nvSpPr>
          <p:spPr>
            <a:xfrm>
              <a:off x="436418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72EF195-B856-451C-876C-B2B2396A227F}"/>
                </a:ext>
              </a:extLst>
            </p:cNvPr>
            <p:cNvSpPr txBox="1"/>
            <p:nvPr/>
          </p:nvSpPr>
          <p:spPr>
            <a:xfrm>
              <a:off x="601010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🔍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질문 입력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5EBF4BE-BB55-4594-A2FC-BDDB35435C90}"/>
                </a:ext>
              </a:extLst>
            </p:cNvPr>
            <p:cNvSpPr txBox="1"/>
            <p:nvPr/>
          </p:nvSpPr>
          <p:spPr>
            <a:xfrm>
              <a:off x="601010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ko-KR" altLang="en-US" sz="1200" b="0">
                  <a:solidFill>
                    <a:srgbClr val="6B7280"/>
                  </a:solidFill>
                  <a:latin typeface="+mn-ea"/>
                </a:rPr>
                <a:t>업무 상황 자연어 입력</a:t>
              </a:r>
              <a:endParaRPr sz="1200" b="0">
                <a:solidFill>
                  <a:srgbClr val="6B7280"/>
                </a:solidFill>
                <a:latin typeface="+mn-ea"/>
              </a:endParaRP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EFA33DF7-0CE6-4061-A974-4EC09107C85E}"/>
              </a:ext>
            </a:extLst>
          </p:cNvPr>
          <p:cNvSpPr txBox="1"/>
          <p:nvPr/>
        </p:nvSpPr>
        <p:spPr>
          <a:xfrm>
            <a:off x="2439923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1F4AFCF0-0572-47D7-96C0-56A67E12F342}"/>
              </a:ext>
            </a:extLst>
          </p:cNvPr>
          <p:cNvGrpSpPr/>
          <p:nvPr/>
        </p:nvGrpSpPr>
        <p:grpSpPr>
          <a:xfrm>
            <a:off x="2693046" y="899849"/>
            <a:ext cx="2097024" cy="859536"/>
            <a:chOff x="2734610" y="1076496"/>
            <a:chExt cx="2097024" cy="859536"/>
          </a:xfrm>
        </p:grpSpPr>
        <p:sp>
          <p:nvSpPr>
            <p:cNvPr id="66" name="Rounded Rectangle 47">
              <a:extLst>
                <a:ext uri="{FF2B5EF4-FFF2-40B4-BE49-F238E27FC236}">
                  <a16:creationId xmlns:a16="http://schemas.microsoft.com/office/drawing/2014/main" id="{DFF7462E-22C3-465B-BD8C-A7149A940B61}"/>
                </a:ext>
              </a:extLst>
            </p:cNvPr>
            <p:cNvSpPr/>
            <p:nvPr/>
          </p:nvSpPr>
          <p:spPr>
            <a:xfrm>
              <a:off x="2734610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CF4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1A1475-CDB3-4063-BD45-5549C9CDBE81}"/>
                </a:ext>
              </a:extLst>
            </p:cNvPr>
            <p:cNvSpPr txBox="1"/>
            <p:nvPr/>
          </p:nvSpPr>
          <p:spPr>
            <a:xfrm>
              <a:off x="2899202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📄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문서 검색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F636FE9-9972-4B85-98BB-BE28D8FF830B}"/>
                </a:ext>
              </a:extLst>
            </p:cNvPr>
            <p:cNvSpPr txBox="1"/>
            <p:nvPr/>
          </p:nvSpPr>
          <p:spPr>
            <a:xfrm>
              <a:off x="2899202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관련 규정 · 지침 탐색</a:t>
              </a: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4D1CBAAD-7333-48B0-A6A6-E03764EB92B1}"/>
              </a:ext>
            </a:extLst>
          </p:cNvPr>
          <p:cNvSpPr txBox="1"/>
          <p:nvPr/>
        </p:nvSpPr>
        <p:spPr>
          <a:xfrm>
            <a:off x="4831634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DD803AB-E323-41F4-9A08-8C300E0C81CD}"/>
              </a:ext>
            </a:extLst>
          </p:cNvPr>
          <p:cNvGrpSpPr/>
          <p:nvPr/>
        </p:nvGrpSpPr>
        <p:grpSpPr>
          <a:xfrm>
            <a:off x="5063975" y="899849"/>
            <a:ext cx="2097024" cy="859536"/>
            <a:chOff x="5032802" y="1076496"/>
            <a:chExt cx="2097024" cy="859536"/>
          </a:xfrm>
        </p:grpSpPr>
        <p:sp>
          <p:nvSpPr>
            <p:cNvPr id="71" name="Rounded Rectangle 51">
              <a:extLst>
                <a:ext uri="{FF2B5EF4-FFF2-40B4-BE49-F238E27FC236}">
                  <a16:creationId xmlns:a16="http://schemas.microsoft.com/office/drawing/2014/main" id="{C71BF696-5EC6-4D25-820B-373DAD1344CC}"/>
                </a:ext>
              </a:extLst>
            </p:cNvPr>
            <p:cNvSpPr/>
            <p:nvPr/>
          </p:nvSpPr>
          <p:spPr>
            <a:xfrm>
              <a:off x="5032802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EEF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B591218-5193-408A-B896-E1E3E89F7C27}"/>
                </a:ext>
              </a:extLst>
            </p:cNvPr>
            <p:cNvSpPr txBox="1"/>
            <p:nvPr/>
          </p:nvSpPr>
          <p:spPr>
            <a:xfrm>
              <a:off x="5197394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💬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답변 정리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7A8374F3-2CEF-4178-BE4D-3AC77DE3D521}"/>
                </a:ext>
              </a:extLst>
            </p:cNvPr>
            <p:cNvSpPr txBox="1"/>
            <p:nvPr/>
          </p:nvSpPr>
          <p:spPr>
            <a:xfrm>
              <a:off x="5197394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절차와 담당부서 안내</a:t>
              </a:r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E1BDA301-2686-4BA5-84A5-734CD9533801}"/>
              </a:ext>
            </a:extLst>
          </p:cNvPr>
          <p:cNvSpPr txBox="1"/>
          <p:nvPr/>
        </p:nvSpPr>
        <p:spPr>
          <a:xfrm>
            <a:off x="7192172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BF5C8F40-E42C-4223-9F16-7D070BCB4568}"/>
              </a:ext>
            </a:extLst>
          </p:cNvPr>
          <p:cNvGrpSpPr/>
          <p:nvPr/>
        </p:nvGrpSpPr>
        <p:grpSpPr>
          <a:xfrm>
            <a:off x="7451075" y="899849"/>
            <a:ext cx="2097024" cy="859536"/>
            <a:chOff x="7330994" y="1076496"/>
            <a:chExt cx="2097024" cy="859536"/>
          </a:xfrm>
        </p:grpSpPr>
        <p:sp>
          <p:nvSpPr>
            <p:cNvPr id="81" name="Rounded Rectangle 55">
              <a:extLst>
                <a:ext uri="{FF2B5EF4-FFF2-40B4-BE49-F238E27FC236}">
                  <a16:creationId xmlns:a16="http://schemas.microsoft.com/office/drawing/2014/main" id="{73C7B102-EDCA-4808-8BFF-8EE3C8E62523}"/>
                </a:ext>
              </a:extLst>
            </p:cNvPr>
            <p:cNvSpPr/>
            <p:nvPr/>
          </p:nvSpPr>
          <p:spPr>
            <a:xfrm>
              <a:off x="7330994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FF1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C75A4594-9A26-41FA-A3DD-9E4F0FEC9167}"/>
                </a:ext>
              </a:extLst>
            </p:cNvPr>
            <p:cNvSpPr txBox="1"/>
            <p:nvPr/>
          </p:nvSpPr>
          <p:spPr>
            <a:xfrm>
              <a:off x="7495586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📧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협업 요청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38892051-C222-480F-B292-B0CEB153B102}"/>
                </a:ext>
              </a:extLst>
            </p:cNvPr>
            <p:cNvSpPr txBox="1"/>
            <p:nvPr/>
          </p:nvSpPr>
          <p:spPr>
            <a:xfrm>
              <a:off x="7495586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메일 초안 자동 작성</a:t>
              </a:r>
            </a:p>
          </p:txBody>
        </p:sp>
      </p:grpSp>
      <p:pic>
        <p:nvPicPr>
          <p:cNvPr id="28" name="그래픽 27" descr="사용자 단색으로 채워진">
            <a:extLst>
              <a:ext uri="{FF2B5EF4-FFF2-40B4-BE49-F238E27FC236}">
                <a16:creationId xmlns:a16="http://schemas.microsoft.com/office/drawing/2014/main" id="{7B3836CD-900E-4FF9-9FAF-0A95CD6F18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083" y="2837068"/>
            <a:ext cx="597557" cy="5975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DC2B4E-7821-40EC-BE7F-F126EFDA9CAC}"/>
              </a:ext>
            </a:extLst>
          </p:cNvPr>
          <p:cNvSpPr txBox="1"/>
          <p:nvPr/>
        </p:nvSpPr>
        <p:spPr>
          <a:xfrm>
            <a:off x="1089640" y="2974264"/>
            <a:ext cx="203802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사용자 질문 입력</a:t>
            </a:r>
          </a:p>
        </p:txBody>
      </p:sp>
      <p:sp>
        <p:nvSpPr>
          <p:cNvPr id="32" name="이등변 삼각형 31">
            <a:extLst>
              <a:ext uri="{FF2B5EF4-FFF2-40B4-BE49-F238E27FC236}">
                <a16:creationId xmlns:a16="http://schemas.microsoft.com/office/drawing/2014/main" id="{49E8036D-CF03-4342-82F7-0B969952CBD2}"/>
              </a:ext>
            </a:extLst>
          </p:cNvPr>
          <p:cNvSpPr/>
          <p:nvPr/>
        </p:nvSpPr>
        <p:spPr>
          <a:xfrm rot="5400000">
            <a:off x="3264302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3058B3F-64B0-4739-B4A3-02231852EFAB}"/>
              </a:ext>
            </a:extLst>
          </p:cNvPr>
          <p:cNvGrpSpPr/>
          <p:nvPr/>
        </p:nvGrpSpPr>
        <p:grpSpPr>
          <a:xfrm>
            <a:off x="3586545" y="2881369"/>
            <a:ext cx="464698" cy="508954"/>
            <a:chOff x="3660053" y="2741160"/>
            <a:chExt cx="464698" cy="508954"/>
          </a:xfrm>
        </p:grpSpPr>
        <p:sp>
          <p:nvSpPr>
            <p:cNvPr id="33" name="Rounded Rectangle 6">
              <a:extLst>
                <a:ext uri="{FF2B5EF4-FFF2-40B4-BE49-F238E27FC236}">
                  <a16:creationId xmlns:a16="http://schemas.microsoft.com/office/drawing/2014/main" id="{6D78DBAC-2E3E-449F-956F-865E1BD8BC19}"/>
                </a:ext>
              </a:extLst>
            </p:cNvPr>
            <p:cNvSpPr/>
            <p:nvPr/>
          </p:nvSpPr>
          <p:spPr>
            <a:xfrm>
              <a:off x="3660053" y="2773680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7FD9A55-8AEE-4A93-89A6-F020825C0547}"/>
                </a:ext>
              </a:extLst>
            </p:cNvPr>
            <p:cNvSpPr txBox="1"/>
            <p:nvPr/>
          </p:nvSpPr>
          <p:spPr>
            <a:xfrm>
              <a:off x="3660053" y="2741160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🖥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A533DBD0-9B02-4B4D-8821-9A873EB46F6B}"/>
              </a:ext>
            </a:extLst>
          </p:cNvPr>
          <p:cNvSpPr txBox="1"/>
          <p:nvPr/>
        </p:nvSpPr>
        <p:spPr>
          <a:xfrm>
            <a:off x="3639271" y="2200230"/>
            <a:ext cx="2497328" cy="332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Next.js 14 · React · TypeScript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099DC11-FA1B-4D73-A508-74E6C8353D26}"/>
              </a:ext>
            </a:extLst>
          </p:cNvPr>
          <p:cNvGrpSpPr/>
          <p:nvPr/>
        </p:nvGrpSpPr>
        <p:grpSpPr>
          <a:xfrm>
            <a:off x="6749049" y="2881369"/>
            <a:ext cx="464698" cy="508954"/>
            <a:chOff x="6728267" y="2845337"/>
            <a:chExt cx="464698" cy="508954"/>
          </a:xfrm>
        </p:grpSpPr>
        <p:sp>
          <p:nvSpPr>
            <p:cNvPr id="38" name="Rounded Rectangle 18">
              <a:extLst>
                <a:ext uri="{FF2B5EF4-FFF2-40B4-BE49-F238E27FC236}">
                  <a16:creationId xmlns:a16="http://schemas.microsoft.com/office/drawing/2014/main" id="{0585A007-AE8D-485A-9E67-8EC82B66FC1B}"/>
                </a:ext>
              </a:extLst>
            </p:cNvPr>
            <p:cNvSpPr/>
            <p:nvPr/>
          </p:nvSpPr>
          <p:spPr>
            <a:xfrm>
              <a:off x="6728267" y="2867466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6271F58-8C72-4211-A91B-60E062CC763F}"/>
                </a:ext>
              </a:extLst>
            </p:cNvPr>
            <p:cNvSpPr txBox="1"/>
            <p:nvPr/>
          </p:nvSpPr>
          <p:spPr>
            <a:xfrm>
              <a:off x="6728267" y="2845337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🔍</a:t>
              </a: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0FAC1551-30F9-472F-BAFE-1496762D72BF}"/>
              </a:ext>
            </a:extLst>
          </p:cNvPr>
          <p:cNvSpPr txBox="1"/>
          <p:nvPr/>
        </p:nvSpPr>
        <p:spPr>
          <a:xfrm>
            <a:off x="7214856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altLang="ko-KR" sz="1500" b="1">
                <a:latin typeface="+mn-ea"/>
              </a:rPr>
              <a:t>Embedding </a:t>
            </a:r>
            <a:r>
              <a:rPr lang="ko-KR" altLang="en-US" sz="1500" b="1">
                <a:latin typeface="+mn-ea"/>
              </a:rPr>
              <a:t>검색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부서별 메타데이터 필터링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1BA1C2-1259-4AD1-81CD-25C743F18DEE}"/>
              </a:ext>
            </a:extLst>
          </p:cNvPr>
          <p:cNvSpPr txBox="1"/>
          <p:nvPr/>
        </p:nvSpPr>
        <p:spPr>
          <a:xfrm>
            <a:off x="6760132" y="2200230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 </a:t>
            </a:r>
            <a:r>
              <a:rPr sz="1200" b="1">
                <a:solidFill>
                  <a:srgbClr val="2F6FED"/>
                </a:solidFill>
                <a:latin typeface="+mn-ea"/>
              </a:rPr>
              <a:t>·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OpenAI Embedding 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1">
                <a:solidFill>
                  <a:srgbClr val="2F6FED"/>
                </a:solidFill>
                <a:latin typeface="+mn-ea"/>
              </a:rPr>
              <a:t>MemoryVectorStore</a:t>
            </a:r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7B3738A7-306B-480C-9918-BD729986C622}"/>
              </a:ext>
            </a:extLst>
          </p:cNvPr>
          <p:cNvSpPr/>
          <p:nvPr/>
        </p:nvSpPr>
        <p:spPr>
          <a:xfrm rot="5400000">
            <a:off x="6430066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152F1FD1-BD14-4198-822E-F6AF4FE84033}"/>
              </a:ext>
            </a:extLst>
          </p:cNvPr>
          <p:cNvGrpSpPr/>
          <p:nvPr/>
        </p:nvGrpSpPr>
        <p:grpSpPr>
          <a:xfrm>
            <a:off x="470649" y="5304978"/>
            <a:ext cx="464698" cy="508954"/>
            <a:chOff x="640080" y="3026664"/>
            <a:chExt cx="384048" cy="420623"/>
          </a:xfrm>
        </p:grpSpPr>
        <p:sp>
          <p:nvSpPr>
            <p:cNvPr id="47" name="Rounded Rectangle 24">
              <a:extLst>
                <a:ext uri="{FF2B5EF4-FFF2-40B4-BE49-F238E27FC236}">
                  <a16:creationId xmlns:a16="http://schemas.microsoft.com/office/drawing/2014/main" id="{4A006D53-57D9-437E-B3AC-E62968AB47EF}"/>
                </a:ext>
              </a:extLst>
            </p:cNvPr>
            <p:cNvSpPr/>
            <p:nvPr/>
          </p:nvSpPr>
          <p:spPr>
            <a:xfrm>
              <a:off x="640080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E0FA8FB-EB67-4067-985B-8C7A3282ED47}"/>
                </a:ext>
              </a:extLst>
            </p:cNvPr>
            <p:cNvSpPr txBox="1"/>
            <p:nvPr/>
          </p:nvSpPr>
          <p:spPr>
            <a:xfrm>
              <a:off x="640080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💬</a:t>
              </a: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A575AC3-D89F-4D14-9D0B-109871421C25}"/>
              </a:ext>
            </a:extLst>
          </p:cNvPr>
          <p:cNvGrpSpPr/>
          <p:nvPr/>
        </p:nvGrpSpPr>
        <p:grpSpPr>
          <a:xfrm>
            <a:off x="3586545" y="5304978"/>
            <a:ext cx="464698" cy="508954"/>
            <a:chOff x="3704336" y="3026664"/>
            <a:chExt cx="384048" cy="420623"/>
          </a:xfrm>
        </p:grpSpPr>
        <p:sp>
          <p:nvSpPr>
            <p:cNvPr id="51" name="Rounded Rectangle 30">
              <a:extLst>
                <a:ext uri="{FF2B5EF4-FFF2-40B4-BE49-F238E27FC236}">
                  <a16:creationId xmlns:a16="http://schemas.microsoft.com/office/drawing/2014/main" id="{18017F63-1BE6-4FEC-8CDC-532E579B8046}"/>
                </a:ext>
              </a:extLst>
            </p:cNvPr>
            <p:cNvSpPr/>
            <p:nvPr/>
          </p:nvSpPr>
          <p:spPr>
            <a:xfrm>
              <a:off x="3704336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C0BC2A9-B3E9-44BA-9385-67D93D6ACEA1}"/>
                </a:ext>
              </a:extLst>
            </p:cNvPr>
            <p:cNvSpPr txBox="1"/>
            <p:nvPr/>
          </p:nvSpPr>
          <p:spPr>
            <a:xfrm>
              <a:off x="3704336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📊</a:t>
              </a:r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B9926761-4CCD-4333-AD5D-6F9FB4D2DBFD}"/>
              </a:ext>
            </a:extLst>
          </p:cNvPr>
          <p:cNvSpPr txBox="1"/>
          <p:nvPr/>
        </p:nvSpPr>
        <p:spPr>
          <a:xfrm>
            <a:off x="3597628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LangGraph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RAGAS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LangSmith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5537596-86A1-4738-9154-A93129F18A30}"/>
              </a:ext>
            </a:extLst>
          </p:cNvPr>
          <p:cNvSpPr txBox="1"/>
          <p:nvPr/>
        </p:nvSpPr>
        <p:spPr>
          <a:xfrm>
            <a:off x="4083525" y="5139893"/>
            <a:ext cx="23013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>
                <a:latin typeface="+mn-ea"/>
              </a:rPr>
              <a:t>재검토 판정</a:t>
            </a:r>
            <a:endParaRPr lang="en-US" altLang="ko-KR" sz="1500" b="1">
              <a:latin typeface="+mn-ea"/>
            </a:endParaRPr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 b="1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LangGraph</a:t>
            </a:r>
            <a:endParaRPr lang="ko-KR" altLang="en-US" sz="1400"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578BC64-1104-49E9-A8C0-973F2F279CE8}"/>
              </a:ext>
            </a:extLst>
          </p:cNvPr>
          <p:cNvSpPr txBox="1"/>
          <p:nvPr/>
        </p:nvSpPr>
        <p:spPr>
          <a:xfrm>
            <a:off x="4083525" y="5705816"/>
            <a:ext cx="2225656" cy="754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자동 채점 </a:t>
            </a:r>
            <a:endParaRPr lang="en-US" altLang="ko-KR" sz="1500" b="1"/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RAGAS · LangSmith </a:t>
            </a:r>
          </a:p>
          <a:p>
            <a:r>
              <a:rPr lang="ko-KR" altLang="en-US" sz="1400">
                <a:latin typeface="+mn-ea"/>
              </a:rPr>
              <a:t>  골든셋 평가</a:t>
            </a:r>
            <a:r>
              <a:rPr lang="en-US" altLang="ko-KR" sz="140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40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EE7B714-FB56-4BDE-9F1A-6E683CD88542}"/>
              </a:ext>
            </a:extLst>
          </p:cNvPr>
          <p:cNvSpPr txBox="1"/>
          <p:nvPr/>
        </p:nvSpPr>
        <p:spPr>
          <a:xfrm>
            <a:off x="470815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LangChain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OpenAI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GPT-5.6-Luna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B8583573-7B0A-4021-BC60-A6290B016B94}"/>
              </a:ext>
            </a:extLst>
          </p:cNvPr>
          <p:cNvGrpSpPr/>
          <p:nvPr/>
        </p:nvGrpSpPr>
        <p:grpSpPr>
          <a:xfrm>
            <a:off x="6749049" y="5304978"/>
            <a:ext cx="464698" cy="508954"/>
            <a:chOff x="6768592" y="3026664"/>
            <a:chExt cx="384048" cy="420623"/>
          </a:xfrm>
        </p:grpSpPr>
        <p:sp>
          <p:nvSpPr>
            <p:cNvPr id="75" name="Rounded Rectangle 36">
              <a:extLst>
                <a:ext uri="{FF2B5EF4-FFF2-40B4-BE49-F238E27FC236}">
                  <a16:creationId xmlns:a16="http://schemas.microsoft.com/office/drawing/2014/main" id="{398FB2E0-9EA0-4D69-A220-5DF0D0682540}"/>
                </a:ext>
              </a:extLst>
            </p:cNvPr>
            <p:cNvSpPr/>
            <p:nvPr/>
          </p:nvSpPr>
          <p:spPr>
            <a:xfrm>
              <a:off x="6768592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521CA3AF-B42D-4B1A-9724-7749C0165CD2}"/>
                </a:ext>
              </a:extLst>
            </p:cNvPr>
            <p:cNvSpPr txBox="1"/>
            <p:nvPr/>
          </p:nvSpPr>
          <p:spPr>
            <a:xfrm>
              <a:off x="6768592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📧</a:t>
              </a:r>
            </a:p>
          </p:txBody>
        </p: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70A85C43-F232-45CA-9884-769B7B1D7D46}"/>
              </a:ext>
            </a:extLst>
          </p:cNvPr>
          <p:cNvSpPr txBox="1"/>
          <p:nvPr/>
        </p:nvSpPr>
        <p:spPr>
          <a:xfrm>
            <a:off x="6771204" y="4559125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Nodemailer (Gmail SMTP)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AD29F69-7889-4007-B0FF-F195C85A5293}"/>
              </a:ext>
            </a:extLst>
          </p:cNvPr>
          <p:cNvSpPr txBox="1"/>
          <p:nvPr/>
        </p:nvSpPr>
        <p:spPr>
          <a:xfrm>
            <a:off x="7214856" y="5227557"/>
            <a:ext cx="214148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협업 요청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중복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미등록 발송 방지</a:t>
            </a:r>
          </a:p>
        </p:txBody>
      </p:sp>
      <p:sp>
        <p:nvSpPr>
          <p:cNvPr id="78" name="이등변 삼각형 77">
            <a:extLst>
              <a:ext uri="{FF2B5EF4-FFF2-40B4-BE49-F238E27FC236}">
                <a16:creationId xmlns:a16="http://schemas.microsoft.com/office/drawing/2014/main" id="{C14491D8-7583-4FE3-A757-1190AE70C948}"/>
              </a:ext>
            </a:extLst>
          </p:cNvPr>
          <p:cNvSpPr/>
          <p:nvPr/>
        </p:nvSpPr>
        <p:spPr>
          <a:xfrm rot="5400000">
            <a:off x="3264302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이등변 삼각형 83">
            <a:extLst>
              <a:ext uri="{FF2B5EF4-FFF2-40B4-BE49-F238E27FC236}">
                <a16:creationId xmlns:a16="http://schemas.microsoft.com/office/drawing/2014/main" id="{E7E9A3EA-33DA-4DC3-A654-9E7445FEB849}"/>
              </a:ext>
            </a:extLst>
          </p:cNvPr>
          <p:cNvSpPr/>
          <p:nvPr/>
        </p:nvSpPr>
        <p:spPr>
          <a:xfrm rot="5400000">
            <a:off x="6430066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577D9965-528F-40EB-ABDF-17CDCADC3E9A}"/>
              </a:ext>
            </a:extLst>
          </p:cNvPr>
          <p:cNvGrpSpPr/>
          <p:nvPr/>
        </p:nvGrpSpPr>
        <p:grpSpPr>
          <a:xfrm>
            <a:off x="232193" y="1917024"/>
            <a:ext cx="302999" cy="292608"/>
            <a:chOff x="5104899" y="1637275"/>
            <a:chExt cx="302999" cy="292608"/>
          </a:xfrm>
        </p:grpSpPr>
        <p:sp>
          <p:nvSpPr>
            <p:cNvPr id="96" name="Shape 30">
              <a:extLst>
                <a:ext uri="{FF2B5EF4-FFF2-40B4-BE49-F238E27FC236}">
                  <a16:creationId xmlns:a16="http://schemas.microsoft.com/office/drawing/2014/main" id="{8B2B2B3A-DFBA-4616-8BF4-ED78A2BBE7E5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7" name="Text 31">
              <a:extLst>
                <a:ext uri="{FF2B5EF4-FFF2-40B4-BE49-F238E27FC236}">
                  <a16:creationId xmlns:a16="http://schemas.microsoft.com/office/drawing/2014/main" id="{C9D612DA-B3EE-4A61-814A-B16A2C0A8BEC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0FF4C2-C6A6-4C4F-87D3-53ABD770BADB}"/>
              </a:ext>
            </a:extLst>
          </p:cNvPr>
          <p:cNvGrpSpPr/>
          <p:nvPr/>
        </p:nvGrpSpPr>
        <p:grpSpPr>
          <a:xfrm>
            <a:off x="3414442" y="1917024"/>
            <a:ext cx="302999" cy="292608"/>
            <a:chOff x="5104899" y="1637275"/>
            <a:chExt cx="302999" cy="292608"/>
          </a:xfrm>
        </p:grpSpPr>
        <p:sp>
          <p:nvSpPr>
            <p:cNvPr id="99" name="Shape 30">
              <a:extLst>
                <a:ext uri="{FF2B5EF4-FFF2-40B4-BE49-F238E27FC236}">
                  <a16:creationId xmlns:a16="http://schemas.microsoft.com/office/drawing/2014/main" id="{D0EFD2E6-2D5E-40DB-B18C-1991BAAA0098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31">
              <a:extLst>
                <a:ext uri="{FF2B5EF4-FFF2-40B4-BE49-F238E27FC236}">
                  <a16:creationId xmlns:a16="http://schemas.microsoft.com/office/drawing/2014/main" id="{92F30C12-D3F3-4A00-BB80-EA44C3A1A912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195E955-8E8E-40AA-B105-C5453FBE5538}"/>
              </a:ext>
            </a:extLst>
          </p:cNvPr>
          <p:cNvGrpSpPr/>
          <p:nvPr/>
        </p:nvGrpSpPr>
        <p:grpSpPr>
          <a:xfrm>
            <a:off x="6597549" y="1917024"/>
            <a:ext cx="302999" cy="292608"/>
            <a:chOff x="5104899" y="1637275"/>
            <a:chExt cx="302999" cy="292608"/>
          </a:xfrm>
        </p:grpSpPr>
        <p:sp>
          <p:nvSpPr>
            <p:cNvPr id="102" name="Shape 30">
              <a:extLst>
                <a:ext uri="{FF2B5EF4-FFF2-40B4-BE49-F238E27FC236}">
                  <a16:creationId xmlns:a16="http://schemas.microsoft.com/office/drawing/2014/main" id="{23C05CBF-C1E0-4F32-8772-3AB9FB944086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31">
              <a:extLst>
                <a:ext uri="{FF2B5EF4-FFF2-40B4-BE49-F238E27FC236}">
                  <a16:creationId xmlns:a16="http://schemas.microsoft.com/office/drawing/2014/main" id="{086CC501-8ABF-4CE4-8C2F-57BE49861B9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1D21CC5F-4C5B-4AE9-B3F0-0B7270C14D43}"/>
              </a:ext>
            </a:extLst>
          </p:cNvPr>
          <p:cNvGrpSpPr/>
          <p:nvPr/>
        </p:nvGrpSpPr>
        <p:grpSpPr>
          <a:xfrm>
            <a:off x="232193" y="4261910"/>
            <a:ext cx="302999" cy="292608"/>
            <a:chOff x="5104899" y="1637275"/>
            <a:chExt cx="302999" cy="292608"/>
          </a:xfrm>
        </p:grpSpPr>
        <p:sp>
          <p:nvSpPr>
            <p:cNvPr id="105" name="Shape 30">
              <a:extLst>
                <a:ext uri="{FF2B5EF4-FFF2-40B4-BE49-F238E27FC236}">
                  <a16:creationId xmlns:a16="http://schemas.microsoft.com/office/drawing/2014/main" id="{1168DE8F-D4BD-49C4-9AE4-9A8435FF49B0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6" name="Text 31">
              <a:extLst>
                <a:ext uri="{FF2B5EF4-FFF2-40B4-BE49-F238E27FC236}">
                  <a16:creationId xmlns:a16="http://schemas.microsoft.com/office/drawing/2014/main" id="{4FAB4E9D-491F-4D8E-BC85-4032D3D8B35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9DC409BF-A5B5-4665-A6C4-B9A583D9DC13}"/>
              </a:ext>
            </a:extLst>
          </p:cNvPr>
          <p:cNvGrpSpPr/>
          <p:nvPr/>
        </p:nvGrpSpPr>
        <p:grpSpPr>
          <a:xfrm>
            <a:off x="3414442" y="4261910"/>
            <a:ext cx="302999" cy="292608"/>
            <a:chOff x="5104899" y="1637275"/>
            <a:chExt cx="302999" cy="292608"/>
          </a:xfrm>
        </p:grpSpPr>
        <p:sp>
          <p:nvSpPr>
            <p:cNvPr id="108" name="Shape 30">
              <a:extLst>
                <a:ext uri="{FF2B5EF4-FFF2-40B4-BE49-F238E27FC236}">
                  <a16:creationId xmlns:a16="http://schemas.microsoft.com/office/drawing/2014/main" id="{34C04643-2414-4225-9C94-4F705E517459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9" name="Text 31">
              <a:extLst>
                <a:ext uri="{FF2B5EF4-FFF2-40B4-BE49-F238E27FC236}">
                  <a16:creationId xmlns:a16="http://schemas.microsoft.com/office/drawing/2014/main" id="{69FA204D-8D89-4844-8272-C77A0627D99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5</a:t>
              </a:r>
              <a:endParaRPr lang="en-US" sz="1100" dirty="0"/>
            </a:p>
          </p:txBody>
        </p: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91F0B405-F830-42CA-BC6D-C63A639BF8AA}"/>
              </a:ext>
            </a:extLst>
          </p:cNvPr>
          <p:cNvGrpSpPr/>
          <p:nvPr/>
        </p:nvGrpSpPr>
        <p:grpSpPr>
          <a:xfrm>
            <a:off x="6597549" y="4261910"/>
            <a:ext cx="302999" cy="292608"/>
            <a:chOff x="5104899" y="1637275"/>
            <a:chExt cx="302999" cy="292608"/>
          </a:xfrm>
        </p:grpSpPr>
        <p:sp>
          <p:nvSpPr>
            <p:cNvPr id="111" name="Shape 30">
              <a:extLst>
                <a:ext uri="{FF2B5EF4-FFF2-40B4-BE49-F238E27FC236}">
                  <a16:creationId xmlns:a16="http://schemas.microsoft.com/office/drawing/2014/main" id="{91C303F0-3753-4963-A858-AC15B434AF5A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12" name="Text 31">
              <a:extLst>
                <a:ext uri="{FF2B5EF4-FFF2-40B4-BE49-F238E27FC236}">
                  <a16:creationId xmlns:a16="http://schemas.microsoft.com/office/drawing/2014/main" id="{97F17D6A-D313-42C1-925A-4E4A489C4D8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6</a:t>
              </a:r>
              <a:endParaRPr lang="en-US" sz="1100" dirty="0"/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9CE0A0F1-CA9D-4AB3-A0A8-8D5412E08F92}"/>
              </a:ext>
            </a:extLst>
          </p:cNvPr>
          <p:cNvSpPr txBox="1"/>
          <p:nvPr/>
        </p:nvSpPr>
        <p:spPr>
          <a:xfrm>
            <a:off x="989636" y="5227557"/>
            <a:ext cx="2424806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응답 생성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근거 문서 인용 포함 판단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377F850-F23F-4F0F-9DB3-19DE32D713A8}"/>
              </a:ext>
            </a:extLst>
          </p:cNvPr>
          <p:cNvSpPr txBox="1"/>
          <p:nvPr/>
        </p:nvSpPr>
        <p:spPr>
          <a:xfrm>
            <a:off x="4041488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요청 처리 서버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60">
                <a:latin typeface="+mn-ea"/>
              </a:rPr>
              <a:t>화면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spc="-60">
                <a:latin typeface="+mn-ea"/>
              </a:rPr>
              <a:t>서버 하나로 통합 구성</a:t>
            </a:r>
          </a:p>
        </p:txBody>
      </p:sp>
    </p:spTree>
    <p:extLst>
      <p:ext uri="{BB962C8B-B14F-4D97-AF65-F5344CB8AC3E}">
        <p14:creationId xmlns:p14="http://schemas.microsoft.com/office/powerpoint/2010/main" val="192216185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1542</TotalTime>
  <Words>1317</Words>
  <Application>Microsoft Office PowerPoint</Application>
  <DocSecurity>0</DocSecurity>
  <PresentationFormat>A4 용지(210x297mm)</PresentationFormat>
  <Paragraphs>246</Paragraphs>
  <Slides>8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HY견고딕</vt:lpstr>
      <vt:lpstr>맑은 고딕</vt:lpstr>
      <vt:lpstr>Calibri Light</vt:lpstr>
      <vt:lpstr>Arial</vt:lpstr>
      <vt:lpstr>Calibri</vt:lpstr>
      <vt:lpstr>Wingdings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292</cp:revision>
  <dcterms:created xsi:type="dcterms:W3CDTF">2026-09-04T08:20:33Z</dcterms:created>
  <dcterms:modified xsi:type="dcterms:W3CDTF">2026-09-13T03:57:47Z</dcterms:modified>
</cp:coreProperties>
</file>