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7.svg" ContentType="image/svg+xml"/>
  <Override PartName="/ppt/media/image22.svg" ContentType="image/svg+xml"/>
  <Override PartName="/ppt/media/image27.svg" ContentType="image/svg+xml"/>
  <Override PartName="/ppt/media/image3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9"/>
  </p:notesMasterIdLst>
  <p:sldIdLst>
    <p:sldId id="256" r:id="rId2"/>
    <p:sldId id="263" r:id="rId3"/>
    <p:sldId id="278" r:id="rId4"/>
    <p:sldId id="279" r:id="rId5"/>
    <p:sldId id="282" r:id="rId6"/>
    <p:sldId id="280" r:id="rId7"/>
    <p:sldId id="283" r:id="rId8"/>
    <p:sldId id="284" r:id="rId23"/>
  </p:sldIdLst>
  <p:sldSz cx="9906000" cy="6858000" type="A4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HY견고딕" panose="0203060000010101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5F6F7"/>
    <a:srgbClr val="F5F6F8"/>
    <a:srgbClr val="DFE2E7"/>
    <a:srgbClr val="DDE0E5"/>
    <a:srgbClr val="F4F5F9"/>
    <a:srgbClr val="E1E6F0"/>
    <a:srgbClr val="779FE0"/>
    <a:srgbClr val="EDF1FA"/>
    <a:srgbClr val="F4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1.png"/><Relationship Id="rId11" Type="http://schemas.openxmlformats.org/officeDocument/2006/relationships/image" Target="../media/image12.sv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7.sv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hyperlink" Target="department-workflow-demo-last.mp4" TargetMode="External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38ADBFC-FAEC-4464-AA1E-F50F511E676F}"/>
              </a:ext>
            </a:extLst>
          </p:cNvPr>
          <p:cNvSpPr/>
          <p:nvPr/>
        </p:nvSpPr>
        <p:spPr>
          <a:xfrm>
            <a:off x="342417" y="6101535"/>
            <a:ext cx="9393865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  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4F9DB422-F98B-4920-91AE-6F7DE628FD4E}"/>
              </a:ext>
            </a:extLst>
          </p:cNvPr>
          <p:cNvGrpSpPr/>
          <p:nvPr/>
        </p:nvGrpSpPr>
        <p:grpSpPr>
          <a:xfrm>
            <a:off x="408628" y="6138454"/>
            <a:ext cx="511817" cy="431452"/>
            <a:chOff x="-895525" y="3274733"/>
            <a:chExt cx="619300" cy="474597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79C93BC8-168A-4863-8E3C-701D6CF79DB7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화살표: 오른쪽 48">
              <a:extLst>
                <a:ext uri="{FF2B5EF4-FFF2-40B4-BE49-F238E27FC236}">
                  <a16:creationId xmlns:a16="http://schemas.microsoft.com/office/drawing/2014/main" id="{519C7A7E-718A-4460-93A0-FD580254F660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6101535"/>
            <a:ext cx="9420639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35891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시도를 통한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21341" y="4986728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25200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30194" y="4986728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25200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24568" y="4986728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25200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41747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41747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41747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90005" y="1495099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221262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효과를 정량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40">
                <a:latin typeface="+mn-ea"/>
              </a:rPr>
              <a:t>3</a:t>
            </a:r>
            <a:r>
              <a:rPr lang="ko-KR" altLang="en-US" sz="1300" spc="-40">
                <a:latin typeface="+mn-ea"/>
              </a:rPr>
              <a:t>라운드에 걸쳐 정답률 단계적 개선 </a:t>
            </a:r>
            <a:r>
              <a:rPr lang="en-US" altLang="ko-KR" sz="1300" spc="-40">
                <a:latin typeface="+mn-ea"/>
              </a:rPr>
              <a:t>(37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58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68%)</a:t>
            </a:r>
            <a:endParaRPr lang="ko-KR" altLang="en-US" sz="13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33441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32082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38602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0" y="5717419"/>
            <a:ext cx="7875945" cy="309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r>
              <a:rPr lang="ko-KR" altLang="en-US" sz="1400" b="1" i="0">
                <a:solidFill>
                  <a:srgbClr val="0000FF"/>
                </a:solidFill>
                <a:effectLst/>
                <a:latin typeface="+mn-ea"/>
              </a:rPr>
              <a:t>→ 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GPT-5.6 Luna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최종 채택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 </a:t>
            </a:r>
            <a:endParaRPr lang="ko-KR" altLang="en-US" sz="14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21341" y="6095089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33561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30194" y="6095089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33561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24568" y="6095089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33561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50108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50108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50108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0" y="4616693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</p:spTree>
    <p:extLst>
      <p:ext uri="{BB962C8B-B14F-4D97-AF65-F5344CB8AC3E}">
        <p14:creationId xmlns:p14="http://schemas.microsoft.com/office/powerpoint/2010/main" val="238102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645785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Python </a:t>
            </a:r>
            <a:r>
              <a:rPr lang="ko-KR" altLang="en-US" sz="1400" spc="-40">
                <a:latin typeface="+mn-ea"/>
              </a:rPr>
              <a:t>기초</a:t>
            </a:r>
            <a:r>
              <a:rPr lang="en-US" altLang="ko-KR" sz="1400" spc="-40">
                <a:latin typeface="+mn-ea"/>
              </a:rPr>
              <a:t>, VS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Code,</a:t>
            </a:r>
            <a:r>
              <a:rPr lang="ko-KR" altLang="en-US" sz="1400" spc="-40">
                <a:latin typeface="+mn-ea"/>
              </a:rPr>
              <a:t> </a:t>
            </a:r>
            <a:r>
              <a:rPr lang="en-US" altLang="ko-KR" sz="1400" spc="-40">
                <a:latin typeface="+mn-ea"/>
              </a:rPr>
              <a:t>GitHub, LangChain, RAG </a:t>
            </a:r>
            <a:r>
              <a:rPr lang="ko-KR" altLang="en-US" sz="1400" spc="-40">
                <a:latin typeface="+mn-ea"/>
              </a:rPr>
              <a:t>등</a:t>
            </a:r>
            <a:endParaRPr lang="en-US" altLang="ko-KR" sz="1400" spc="-4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 spc="-40">
                <a:latin typeface="+mn-ea"/>
              </a:rPr>
              <a:t>  </a:t>
            </a:r>
            <a:r>
              <a:rPr lang="ko-KR" altLang="en-US" sz="1400" spc="-40">
                <a:latin typeface="+mn-ea"/>
              </a:rPr>
              <a:t>새로운 개념 학습</a:t>
            </a:r>
            <a:r>
              <a:rPr lang="en-US" altLang="ko-KR" sz="1400" spc="-4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→ 실제 웹 서비스 구현에 활용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 골든셋 평가로 주관부서 매칭 정확도 </a:t>
            </a:r>
            <a:r>
              <a:rPr lang="en-US" altLang="ko-KR" sz="1400" spc="-40">
                <a:latin typeface="+mn-ea"/>
              </a:rPr>
              <a:t>79</a:t>
            </a:r>
            <a:r>
              <a:rPr lang="ko-KR" altLang="en-US" sz="1400" spc="-40">
                <a:latin typeface="+mn-ea"/>
              </a:rPr>
              <a:t>→</a:t>
            </a:r>
            <a:r>
              <a:rPr lang="en-US" altLang="ko-KR" sz="1400" spc="-40">
                <a:latin typeface="+mn-ea"/>
              </a:rPr>
              <a:t>95% </a:t>
            </a:r>
            <a:r>
              <a:rPr lang="ko-KR" altLang="en-US" sz="1400" spc="-40">
                <a:latin typeface="+mn-ea"/>
              </a:rPr>
              <a:t>개선</a:t>
            </a:r>
            <a:endParaRPr lang="en-US" altLang="ko-KR" sz="14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 spc="-40">
                <a:latin typeface="+mn-ea"/>
              </a:rPr>
              <a:t> LangSmith</a:t>
            </a:r>
            <a:r>
              <a:rPr lang="ko-KR" altLang="en-US" sz="1400" spc="-40">
                <a:latin typeface="+mn-ea"/>
              </a:rPr>
              <a:t> 트레이싱</a:t>
            </a:r>
            <a:r>
              <a:rPr lang="en-US" altLang="ko-KR" sz="1400" spc="-40">
                <a:latin typeface="+mn-ea"/>
              </a:rPr>
              <a:t>·</a:t>
            </a:r>
            <a:r>
              <a:rPr lang="ko-KR" altLang="en-US" sz="1400" spc="-40">
                <a:latin typeface="+mn-ea"/>
              </a:rPr>
              <a:t>자동 채점 시스템 구축 </a:t>
            </a:r>
            <a:endParaRPr lang="en-US" altLang="ko-KR" sz="1400" spc="-4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5" y="1878502"/>
            <a:ext cx="521969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임베딩 유사도만으로 애매한 경계 사례 보완 </a:t>
            </a:r>
            <a:r>
              <a:rPr lang="en-US" altLang="ko-KR" sz="1400" spc="-40">
                <a:latin typeface="+mn-ea"/>
              </a:rPr>
              <a:t>(Reranking)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향상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12613588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F2B"/>
                </a:solidFill>
              </a:rPr>
              <a:t>무엇으로, 어떻게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</a:rPr>
              <a:t>실제로 사용한 기술 스택과 서비스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66760" y="32004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0" y="320040"/>
            <a:ext cx="10515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F6FED"/>
                </a:solidFill>
              </a:rPr>
              <a:t>부록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286308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07592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930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A1F2B"/>
                </a:solidFill>
              </a:rPr>
              <a:t>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25880"/>
            <a:ext cx="19944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F2B"/>
                </a:solidFill>
              </a:rPr>
              <a:t>웹 프레임워크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2497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onsolas"/>
              </a:rPr>
              <a:t>Next.js 14 · React ·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58568"/>
            <a:ext cx="24973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화면과 서버를 하나로 구현해 바로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1456" y="1143000"/>
            <a:ext cx="286308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4336" y="1307592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4336" y="128930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A1F2B"/>
                </a:solidFill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7256" y="1325880"/>
            <a:ext cx="19944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F2B"/>
                </a:solidFill>
              </a:rPr>
              <a:t>문서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4336" y="1764792"/>
            <a:ext cx="2497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onsolas"/>
              </a:rPr>
              <a:t>DocxLoader · 텍스트 청킹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4336" y="2258568"/>
            <a:ext cx="24973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사내 .docx 문서를 검색 가능한 단위로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5712" y="1143000"/>
            <a:ext cx="286308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68592" y="1307592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8592" y="128930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A1F2B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1512" y="1325880"/>
            <a:ext cx="19944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F2B"/>
                </a:solidFill>
              </a:rPr>
              <a:t>임베딩 ·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8592" y="1764792"/>
            <a:ext cx="2497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onsolas"/>
              </a:rPr>
              <a:t>OpenAI 임베딩 · MemoryVectorStore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8592" y="2258568"/>
            <a:ext cx="24973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문서를 의미로 변환해 관련 내용 검색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286308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044952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02666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A1F2B"/>
                </a:solidFill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063240"/>
            <a:ext cx="19944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F2B"/>
                </a:solidFill>
              </a:rPr>
              <a:t>응답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502152"/>
            <a:ext cx="2497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onsolas"/>
              </a:rPr>
              <a:t>LangChain ChatOpenAI · gpt-5.6-luna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995928"/>
            <a:ext cx="24973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검색 결과를 바탕으로 AI가 답변 작성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21456" y="2880360"/>
            <a:ext cx="286308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704336" y="3044952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4336" y="302666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A1F2B"/>
                </a:solidFill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7256" y="3063240"/>
            <a:ext cx="19944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F2B"/>
                </a:solidFill>
              </a:rPr>
              <a:t>평가 · 모니터링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4336" y="3502152"/>
            <a:ext cx="2497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onsolas"/>
              </a:rPr>
              <a:t>LangSmith · RAGAS 지표(F1 · 일치율)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4336" y="3995928"/>
            <a:ext cx="24973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답변 정확도를 자동으로 채점하고 기록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5712" y="2880360"/>
            <a:ext cx="286308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68592" y="3044952"/>
            <a:ext cx="384048" cy="384048"/>
          </a:xfrm>
          <a:prstGeom prst="roundRect">
            <a:avLst>
              <a:gd name="adj" fmla="val 32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8592" y="3026664"/>
            <a:ext cx="384048" cy="4206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A1F2B"/>
                </a:solidFill>
              </a:rPr>
              <a:t>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71512" y="3063240"/>
            <a:ext cx="199440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A1F2B"/>
                </a:solidFill>
              </a:rPr>
              <a:t>협업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8592" y="3502152"/>
            <a:ext cx="249732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F6FED"/>
                </a:solidFill>
                <a:latin typeface="Consolas"/>
              </a:rPr>
              <a:t>Nodemailer (Gmail SMTP)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8592" y="3995928"/>
            <a:ext cx="249732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</a:rPr>
              <a:t>협업 메일 초안을 자동으로 작성 · 발송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663440"/>
            <a:ext cx="8991600" cy="502920"/>
          </a:xfrm>
          <a:prstGeom prst="roundRect">
            <a:avLst>
              <a:gd name="adj" fmla="val 1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663440"/>
            <a:ext cx="899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</a:rPr>
              <a:t>질문 입력 → 문서 검색 → 답변 생성 → 협업 요청까지, 하나의 웹 서비스 안에서 자동으로 연결됩니다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40680"/>
            <a:ext cx="2097024" cy="9144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5586984"/>
            <a:ext cx="176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F2B"/>
                </a:solidFill>
              </a:rPr>
              <a:t>🔍  </a:t>
            </a:r>
            <a:r>
              <a:rPr sz="1300" b="1">
                <a:solidFill>
                  <a:srgbClr val="1A1F2B"/>
                </a:solidFill>
              </a:rPr>
              <a:t>질문 입력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5934456"/>
            <a:ext cx="176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</a:rPr>
              <a:t>하고 싶은 업무를 입력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54224" y="57150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55392" y="5440680"/>
            <a:ext cx="2097024" cy="914400"/>
          </a:xfrm>
          <a:prstGeom prst="roundRect">
            <a:avLst>
              <a:gd name="adj" fmla="val 10000"/>
            </a:avLst>
          </a:prstGeom>
          <a:solidFill>
            <a:srgbClr val="EC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19984" y="5586984"/>
            <a:ext cx="176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F2B"/>
                </a:solidFill>
              </a:rPr>
              <a:t>📄  </a:t>
            </a:r>
            <a:r>
              <a:rPr sz="1300" b="1">
                <a:solidFill>
                  <a:srgbClr val="1A1F2B"/>
                </a:solidFill>
              </a:rPr>
              <a:t>문서 검색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19984" y="5934456"/>
            <a:ext cx="176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</a:rPr>
              <a:t>관련 규정 · 지침 탐색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52416" y="57150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53584" y="5440680"/>
            <a:ext cx="2097024" cy="914400"/>
          </a:xfrm>
          <a:prstGeom prst="roundRect">
            <a:avLst>
              <a:gd name="adj" fmla="val 10000"/>
            </a:avLst>
          </a:prstGeom>
          <a:solidFill>
            <a:srgbClr val="EE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8176" y="5586984"/>
            <a:ext cx="176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F2B"/>
                </a:solidFill>
              </a:rPr>
              <a:t>💬  </a:t>
            </a:r>
            <a:r>
              <a:rPr sz="1300" b="1">
                <a:solidFill>
                  <a:srgbClr val="1A1F2B"/>
                </a:solidFill>
              </a:rPr>
              <a:t>답변 정리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8176" y="5934456"/>
            <a:ext cx="176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</a:rPr>
              <a:t>절차와 담당부서 안내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57150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</a:rPr>
              <a:t>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51776" y="5440680"/>
            <a:ext cx="2097024" cy="914400"/>
          </a:xfrm>
          <a:prstGeom prst="roundRect">
            <a:avLst>
              <a:gd name="adj" fmla="val 10000"/>
            </a:avLst>
          </a:prstGeom>
          <a:solidFill>
            <a:srgbClr val="EF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16368" y="5586984"/>
            <a:ext cx="1767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F2B"/>
                </a:solidFill>
              </a:rPr>
              <a:t>📧  </a:t>
            </a:r>
            <a:r>
              <a:rPr sz="1300" b="1">
                <a:solidFill>
                  <a:srgbClr val="1A1F2B"/>
                </a:solidFill>
              </a:rPr>
              <a:t>협업 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16368" y="5934456"/>
            <a:ext cx="1767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</a:rPr>
              <a:t>메일 초안 자동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1190</Words>
  <Application>Microsoft Office PowerPoint</Application>
  <DocSecurity>0</DocSecurity>
  <PresentationFormat>A4 용지(210x297mm)</PresentationFormat>
  <Paragraphs>199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264</cp:revision>
  <dcterms:created xsi:type="dcterms:W3CDTF">2026-09-04T08:20:33Z</dcterms:created>
  <dcterms:modified xsi:type="dcterms:W3CDTF">2026-09-12T13:02:34Z</dcterms:modified>
</cp:coreProperties>
</file>